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Roboto"/>
      <p:regular r:id="rId48"/>
      <p:bold r:id="rId49"/>
      <p:italic r:id="rId50"/>
      <p:boldItalic r:id="rId51"/>
    </p:embeddedFont>
    <p:embeddedFont>
      <p:font typeface="Book Antiqua"/>
      <p:regular r:id="rId52"/>
      <p:bold r:id="rId53"/>
      <p:italic r:id="rId54"/>
      <p:boldItalic r:id="rId55"/>
    </p:embeddedFont>
    <p:embeddedFont>
      <p:font typeface="Roboto Mon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B1C205-92B4-459F-ACDD-4BC05602446F}">
  <a:tblStyle styleId="{82B1C205-92B4-459F-ACDD-4BC05602446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9605C54-C34B-4AE6-A1A8-BDDAFBC4EE1B}"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regular.fntdata"/><Relationship Id="rId47" Type="http://schemas.openxmlformats.org/officeDocument/2006/relationships/slide" Target="slides/slide41.xml"/><Relationship Id="rId49"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BookAntiqua-bold.fntdata"/><Relationship Id="rId52" Type="http://schemas.openxmlformats.org/officeDocument/2006/relationships/font" Target="fonts/BookAntiqua-regular.fntdata"/><Relationship Id="rId11" Type="http://schemas.openxmlformats.org/officeDocument/2006/relationships/slide" Target="slides/slide5.xml"/><Relationship Id="rId55" Type="http://schemas.openxmlformats.org/officeDocument/2006/relationships/font" Target="fonts/BookAntiqua-boldItalic.fntdata"/><Relationship Id="rId10" Type="http://schemas.openxmlformats.org/officeDocument/2006/relationships/slide" Target="slides/slide4.xml"/><Relationship Id="rId54" Type="http://schemas.openxmlformats.org/officeDocument/2006/relationships/font" Target="fonts/BookAntiqua-italic.fntdata"/><Relationship Id="rId13" Type="http://schemas.openxmlformats.org/officeDocument/2006/relationships/slide" Target="slides/slide7.xml"/><Relationship Id="rId57" Type="http://schemas.openxmlformats.org/officeDocument/2006/relationships/font" Target="fonts/RobotoMono-bold.fntdata"/><Relationship Id="rId12" Type="http://schemas.openxmlformats.org/officeDocument/2006/relationships/slide" Target="slides/slide6.xml"/><Relationship Id="rId56" Type="http://schemas.openxmlformats.org/officeDocument/2006/relationships/font" Target="fonts/RobotoMono-regular.fntdata"/><Relationship Id="rId15" Type="http://schemas.openxmlformats.org/officeDocument/2006/relationships/slide" Target="slides/slide9.xml"/><Relationship Id="rId59" Type="http://schemas.openxmlformats.org/officeDocument/2006/relationships/font" Target="fonts/RobotoMono-boldItalic.fntdata"/><Relationship Id="rId14" Type="http://schemas.openxmlformats.org/officeDocument/2006/relationships/slide" Target="slides/slide8.xml"/><Relationship Id="rId58" Type="http://schemas.openxmlformats.org/officeDocument/2006/relationships/font" Target="fonts/RobotoMon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75fc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75fc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Buenas, hoy como presentación para el final decidi meterme en una nueva estructura de datos que me llamo la </a:t>
            </a:r>
            <a:r>
              <a:rPr lang="es-419"/>
              <a:t>atención</a:t>
            </a:r>
            <a:r>
              <a:rPr lang="es-419"/>
              <a:t> en una de esas raras veces donde podia asistir al taller de programacion competitiva.</a:t>
            </a:r>
            <a:endParaRPr/>
          </a:p>
          <a:p>
            <a:pPr indent="0" lvl="0" marL="0" rtl="0" algn="l">
              <a:spcBef>
                <a:spcPts val="0"/>
              </a:spcBef>
              <a:spcAft>
                <a:spcPts val="0"/>
              </a:spcAft>
              <a:buNone/>
            </a:pPr>
            <a:r>
              <a:rPr lang="es-419"/>
              <a:t>Tomé como base la explicación y parte del código que se fue armando en las clases</a:t>
            </a:r>
            <a:r>
              <a:rPr lang="es-419"/>
              <a:t>, también charlé con Matias que me tiró un par de tips sobre lo que podia investigar</a:t>
            </a:r>
            <a:r>
              <a:rPr lang="es-419"/>
              <a:t> para darle más sabor al tema. Empecé entonces a buscar más información, vi videos de todo tipo sobre el tema, traté de resolver algunos problemas y demas.</a:t>
            </a:r>
            <a:endParaRPr/>
          </a:p>
          <a:p>
            <a:pPr indent="0" lvl="0" marL="0" rtl="0" algn="l">
              <a:spcBef>
                <a:spcPts val="0"/>
              </a:spcBef>
              <a:spcAft>
                <a:spcPts val="0"/>
              </a:spcAft>
              <a:buNone/>
            </a:pPr>
            <a:r>
              <a:rPr lang="es-419"/>
              <a:t>El tema del que hablo y que quise presentar es Segment Tree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d4311c3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d4311c3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d4311c37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d4311c37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d4311c37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d4311c37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Si no usamos ninguna t</a:t>
            </a:r>
            <a:r>
              <a:rPr lang="es-419"/>
              <a:t>écnica, en rango estatico cada consulta es de orden n</a:t>
            </a:r>
            <a:endParaRPr/>
          </a:p>
          <a:p>
            <a:pPr indent="0" lvl="0" marL="0" rtl="0" algn="l">
              <a:spcBef>
                <a:spcPts val="0"/>
              </a:spcBef>
              <a:spcAft>
                <a:spcPts val="0"/>
              </a:spcAft>
              <a:buNone/>
            </a:pPr>
            <a:r>
              <a:rPr lang="es-419"/>
              <a:t>En dinamico, las actualizaciones puntuales son constantes pero la query sigue siendo de orden 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8b54565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8b54565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RSQ normal acumula en un segundo arreglo la suma desde el inicio hasta la posición</a:t>
            </a:r>
            <a:endParaRPr/>
          </a:p>
          <a:p>
            <a:pPr indent="0" lvl="0" marL="0" rtl="0" algn="l">
              <a:spcBef>
                <a:spcPts val="0"/>
              </a:spcBef>
              <a:spcAft>
                <a:spcPts val="0"/>
              </a:spcAft>
              <a:buNone/>
            </a:pPr>
            <a:r>
              <a:rPr lang="es-419"/>
              <a:t>Las consultas se responden con la diferencia de las posiciones R - (L-1)</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RSQ cuando primero se hacen las actualizaciones y despues las consultas, no solo se tiene el arreglo acumulador, también se usa un segundo arreglo donde se almacenan las modificaciones al rango, se suma en el primer elemento y se resta </a:t>
            </a:r>
            <a:r>
              <a:rPr lang="es-419"/>
              <a:t>después</a:t>
            </a:r>
            <a:r>
              <a:rPr lang="es-419"/>
              <a:t> del </a:t>
            </a:r>
            <a:r>
              <a:rPr lang="es-419"/>
              <a:t>último, una vez que se registran todas las modificaciones, se calcula el nuevo arreglo con la suma acumulada para responder a las preguntas luego de las modificaciones.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d4311c37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d4311c37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Si comparamos como cada una se enfrenta a los rangos dinamicos vemos que no son perfectas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d4311c37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d4311c37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rPr>
              <a:t>En esta comparativa se nota de forma clara que cada acercamiento sacrifica una característica para mejorar otra</a:t>
            </a:r>
            <a:endParaRPr>
              <a:solidFill>
                <a:schemeClr val="dk1"/>
              </a:solidFill>
            </a:endParaRPr>
          </a:p>
          <a:p>
            <a:pPr indent="0" lvl="0" marL="0" rtl="0" algn="l">
              <a:spcBef>
                <a:spcPts val="0"/>
              </a:spcBef>
              <a:spcAft>
                <a:spcPts val="0"/>
              </a:spcAft>
              <a:buNone/>
            </a:pPr>
            <a:r>
              <a:rPr lang="es-419">
                <a:solidFill>
                  <a:schemeClr val="dk1"/>
                </a:solidFill>
              </a:rPr>
              <a:t>En la realidad los problemas de rango dinámico necesitan de técnicas que se adapten mejor y no afecten de forma negativa el tiempo de resolución. </a:t>
            </a:r>
            <a:endParaRPr>
              <a:solidFill>
                <a:schemeClr val="dk1"/>
              </a:solidFill>
            </a:endParaRPr>
          </a:p>
          <a:p>
            <a:pPr indent="0" lvl="0" marL="0" rtl="0" algn="l">
              <a:spcBef>
                <a:spcPts val="0"/>
              </a:spcBef>
              <a:spcAft>
                <a:spcPts val="0"/>
              </a:spcAft>
              <a:buNone/>
            </a:pPr>
            <a:r>
              <a:rPr lang="es-419">
                <a:solidFill>
                  <a:schemeClr val="dk1"/>
                </a:solidFill>
              </a:rPr>
              <a:t>Es entonces donde aparecen estrategias que equilibran el tiempo de construcción de la estructura, su actualización y la consulta sobre los intervalos del rango, siendo el protagonista hoy el Segment Tree.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8b545659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8b545659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rPr>
              <a:t>Esta estructura de datos presenta características interesantes que la convierten en el mejor candidato para resolver casi cualquier problema de rango dinámico ya que aprovecha la estructura de los árboles binarios para ofrecer tiempos de respuesta muy eficientes a la vez que permite reutilizar el mismo código con solo un cambio, adaptándolo para cualquier escenario mientras que la operación cumpla ciertas características matemáticas.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d4311c37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d4311c37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Antes de hablar de la estructura en s</a:t>
            </a:r>
            <a:r>
              <a:rPr lang="es-419"/>
              <a:t>í, es necesario conocer que tipos de operaciones se pueden responder.</a:t>
            </a:r>
            <a:endParaRPr/>
          </a:p>
          <a:p>
            <a:pPr indent="0" lvl="0" marL="0" rtl="0" algn="l">
              <a:spcBef>
                <a:spcPts val="0"/>
              </a:spcBef>
              <a:spcAft>
                <a:spcPts val="0"/>
              </a:spcAft>
              <a:buNone/>
            </a:pPr>
            <a:r>
              <a:rPr lang="es-419"/>
              <a:t>Las operaciones deben ser:</a:t>
            </a:r>
            <a:endParaRPr/>
          </a:p>
          <a:p>
            <a:pPr indent="-317500" lvl="0" marL="457200" rtl="0" algn="l">
              <a:spcBef>
                <a:spcPts val="0"/>
              </a:spcBef>
              <a:spcAft>
                <a:spcPts val="0"/>
              </a:spcAft>
              <a:buSzPts val="1400"/>
              <a:buChar char="-"/>
            </a:pPr>
            <a:r>
              <a:rPr lang="es-419"/>
              <a:t>asociativas </a:t>
            </a:r>
            <a:endParaRPr/>
          </a:p>
          <a:p>
            <a:pPr indent="-317500" lvl="0" marL="457200" rtl="0" algn="l">
              <a:spcBef>
                <a:spcPts val="0"/>
              </a:spcBef>
              <a:spcAft>
                <a:spcPts val="0"/>
              </a:spcAft>
              <a:buSzPts val="1400"/>
              <a:buChar char="-"/>
            </a:pPr>
            <a:r>
              <a:rPr lang="es-419"/>
              <a:t>conmutativas → opcional si se tiene cuidado en el orden de las operaciones</a:t>
            </a:r>
            <a:endParaRPr/>
          </a:p>
          <a:p>
            <a:pPr indent="-317500" lvl="0" marL="457200" rtl="0" algn="l">
              <a:spcBef>
                <a:spcPts val="0"/>
              </a:spcBef>
              <a:spcAft>
                <a:spcPts val="0"/>
              </a:spcAft>
              <a:buSzPts val="1400"/>
              <a:buChar char="-"/>
            </a:pPr>
            <a:r>
              <a:rPr lang="es-419"/>
              <a:t>neutro → opcional pero deseable para no tener que manejar nulos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Intervalo me refiero al arreglo</a:t>
            </a:r>
            <a:endParaRPr/>
          </a:p>
          <a:p>
            <a:pPr indent="0" lvl="0" marL="0" rtl="0" algn="l">
              <a:spcBef>
                <a:spcPts val="0"/>
              </a:spcBef>
              <a:spcAft>
                <a:spcPts val="0"/>
              </a:spcAft>
              <a:buNone/>
            </a:pPr>
            <a:r>
              <a:rPr lang="es-419"/>
              <a:t>U es el universo o conjunto al que responde el arreglo, en sumas, restas etc es enteros, reales o lo que toque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88a2c621e_0_1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88a2c621e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Antes de hablar de la estructura en sí, es necesario conocer que tipos de operaciones se pueden responder.</a:t>
            </a:r>
            <a:endParaRPr/>
          </a:p>
          <a:p>
            <a:pPr indent="0" lvl="0" marL="0" rtl="0" algn="l">
              <a:spcBef>
                <a:spcPts val="0"/>
              </a:spcBef>
              <a:spcAft>
                <a:spcPts val="0"/>
              </a:spcAft>
              <a:buNone/>
            </a:pPr>
            <a:r>
              <a:rPr lang="es-419"/>
              <a:t>Las operaciones deben ser:</a:t>
            </a:r>
            <a:endParaRPr/>
          </a:p>
          <a:p>
            <a:pPr indent="-317500" lvl="0" marL="457200" rtl="0" algn="l">
              <a:spcBef>
                <a:spcPts val="0"/>
              </a:spcBef>
              <a:spcAft>
                <a:spcPts val="0"/>
              </a:spcAft>
              <a:buSzPts val="1400"/>
              <a:buChar char="-"/>
            </a:pPr>
            <a:r>
              <a:rPr lang="es-419"/>
              <a:t>asociativas </a:t>
            </a:r>
            <a:endParaRPr/>
          </a:p>
          <a:p>
            <a:pPr indent="-317500" lvl="0" marL="457200" rtl="0" algn="l">
              <a:spcBef>
                <a:spcPts val="0"/>
              </a:spcBef>
              <a:spcAft>
                <a:spcPts val="0"/>
              </a:spcAft>
              <a:buSzPts val="1400"/>
              <a:buChar char="-"/>
            </a:pPr>
            <a:r>
              <a:rPr lang="es-419"/>
              <a:t>conmutativas → opcional si se tiene cuidado en el orden de las operaciones</a:t>
            </a:r>
            <a:endParaRPr/>
          </a:p>
          <a:p>
            <a:pPr indent="-317500" lvl="0" marL="457200" rtl="0" algn="l">
              <a:spcBef>
                <a:spcPts val="0"/>
              </a:spcBef>
              <a:spcAft>
                <a:spcPts val="0"/>
              </a:spcAft>
              <a:buSzPts val="1400"/>
              <a:buChar char="-"/>
            </a:pPr>
            <a:r>
              <a:rPr lang="es-419"/>
              <a:t>neutro → opcional pero deseable para no tener que manejar nulos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Intervalo me refiero al arreglo</a:t>
            </a:r>
            <a:endParaRPr/>
          </a:p>
          <a:p>
            <a:pPr indent="0" lvl="0" marL="0" rtl="0" algn="l">
              <a:spcBef>
                <a:spcPts val="0"/>
              </a:spcBef>
              <a:spcAft>
                <a:spcPts val="0"/>
              </a:spcAft>
              <a:buNone/>
            </a:pPr>
            <a:r>
              <a:rPr lang="es-419"/>
              <a:t>U es el universo o conjunto al que responde el arreglo, en sumas, restas etc es enteros, reales o lo que toque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88a2c621e_0_1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e88a2c621e_0_1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Antes de hablar de la estructura en sí, es necesario conocer que tipos de operaciones se pueden responder.</a:t>
            </a:r>
            <a:endParaRPr/>
          </a:p>
          <a:p>
            <a:pPr indent="0" lvl="0" marL="0" rtl="0" algn="l">
              <a:spcBef>
                <a:spcPts val="0"/>
              </a:spcBef>
              <a:spcAft>
                <a:spcPts val="0"/>
              </a:spcAft>
              <a:buNone/>
            </a:pPr>
            <a:r>
              <a:rPr lang="es-419"/>
              <a:t>Las operaciones deben ser:</a:t>
            </a:r>
            <a:endParaRPr/>
          </a:p>
          <a:p>
            <a:pPr indent="-317500" lvl="0" marL="457200" rtl="0" algn="l">
              <a:spcBef>
                <a:spcPts val="0"/>
              </a:spcBef>
              <a:spcAft>
                <a:spcPts val="0"/>
              </a:spcAft>
              <a:buSzPts val="1400"/>
              <a:buChar char="-"/>
            </a:pPr>
            <a:r>
              <a:rPr lang="es-419"/>
              <a:t>asociativas </a:t>
            </a:r>
            <a:endParaRPr/>
          </a:p>
          <a:p>
            <a:pPr indent="-317500" lvl="0" marL="457200" rtl="0" algn="l">
              <a:spcBef>
                <a:spcPts val="0"/>
              </a:spcBef>
              <a:spcAft>
                <a:spcPts val="0"/>
              </a:spcAft>
              <a:buSzPts val="1400"/>
              <a:buChar char="-"/>
            </a:pPr>
            <a:r>
              <a:rPr lang="es-419"/>
              <a:t>conmutativas → opcional si se tiene cuidado en el orden de las operaciones</a:t>
            </a:r>
            <a:endParaRPr/>
          </a:p>
          <a:p>
            <a:pPr indent="-317500" lvl="0" marL="457200" rtl="0" algn="l">
              <a:spcBef>
                <a:spcPts val="0"/>
              </a:spcBef>
              <a:spcAft>
                <a:spcPts val="0"/>
              </a:spcAft>
              <a:buSzPts val="1400"/>
              <a:buChar char="-"/>
            </a:pPr>
            <a:r>
              <a:rPr lang="es-419"/>
              <a:t>neutro → opcional pero deseable para no tener que manejar nulos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Intervalo me refiero al arreglo</a:t>
            </a:r>
            <a:endParaRPr/>
          </a:p>
          <a:p>
            <a:pPr indent="0" lvl="0" marL="0" rtl="0" algn="l">
              <a:spcBef>
                <a:spcPts val="0"/>
              </a:spcBef>
              <a:spcAft>
                <a:spcPts val="0"/>
              </a:spcAft>
              <a:buNone/>
            </a:pPr>
            <a:r>
              <a:rPr lang="es-419"/>
              <a:t>U es el universo o conjunto al que responde el arreglo, en sumas, restas etc es enteros, reales o lo que toque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88a2c621e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88a2c621e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Entre otras se encuentran </a:t>
            </a:r>
            <a:endParaRPr/>
          </a:p>
          <a:p>
            <a:pPr indent="-317500" lvl="0" marL="457200" rtl="0" algn="l">
              <a:spcBef>
                <a:spcPts val="0"/>
              </a:spcBef>
              <a:spcAft>
                <a:spcPts val="0"/>
              </a:spcAft>
              <a:buSzPts val="1400"/>
              <a:buChar char="-"/>
            </a:pPr>
            <a:r>
              <a:rPr lang="es-419"/>
              <a:t>módulo multiplication, </a:t>
            </a:r>
            <a:endParaRPr/>
          </a:p>
          <a:p>
            <a:pPr indent="-317500" lvl="0" marL="457200" rtl="0" algn="l">
              <a:spcBef>
                <a:spcPts val="0"/>
              </a:spcBef>
              <a:spcAft>
                <a:spcPts val="0"/>
              </a:spcAft>
              <a:buSzPts val="1400"/>
              <a:buChar char="-"/>
            </a:pPr>
            <a:r>
              <a:rPr lang="es-419"/>
              <a:t>matrix multiplication, </a:t>
            </a:r>
            <a:endParaRPr/>
          </a:p>
          <a:p>
            <a:pPr indent="-317500" lvl="0" marL="457200" rtl="0" algn="l">
              <a:spcBef>
                <a:spcPts val="0"/>
              </a:spcBef>
              <a:spcAft>
                <a:spcPts val="0"/>
              </a:spcAft>
              <a:buSzPts val="1400"/>
              <a:buChar char="-"/>
            </a:pPr>
            <a:r>
              <a:rPr lang="es-419"/>
              <a:t>bitwise operations: &amp;, |, ^, </a:t>
            </a:r>
            <a:endParaRPr/>
          </a:p>
          <a:p>
            <a:pPr indent="-317500" lvl="0" marL="457200" rtl="0" algn="l">
              <a:spcBef>
                <a:spcPts val="0"/>
              </a:spcBef>
              <a:spcAft>
                <a:spcPts val="0"/>
              </a:spcAft>
              <a:buSzPts val="1400"/>
              <a:buChar char="-"/>
            </a:pPr>
            <a:r>
              <a:rPr lang="es-419"/>
              <a:t>el máximo común divisor (en este caso, el cálculo del GCD no es constante por lo que la operación toma más tiempo).</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8b545659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8b545659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Un Segment Tree es un árbol binario donde cada nodo representa el resultado de la operación en un rango dado del arreglo original.</a:t>
            </a:r>
            <a:endParaRPr>
              <a:solidFill>
                <a:schemeClr val="dk1"/>
              </a:solidFill>
              <a:latin typeface="Book Antiqua"/>
              <a:ea typeface="Book Antiqua"/>
              <a:cs typeface="Book Antiqua"/>
              <a:sym typeface="Book Antiqua"/>
            </a:endParaRPr>
          </a:p>
          <a:p>
            <a:pPr indent="-298450" lvl="0" marL="457200" rtl="0" algn="l">
              <a:lnSpc>
                <a:spcPct val="115000"/>
              </a:lnSpc>
              <a:spcBef>
                <a:spcPts val="1000"/>
              </a:spcBef>
              <a:spcAft>
                <a:spcPts val="0"/>
              </a:spcAft>
              <a:buClr>
                <a:schemeClr val="dk1"/>
              </a:buClr>
              <a:buSzPts val="1100"/>
              <a:buFont typeface="Book Antiqua"/>
              <a:buChar char="●"/>
            </a:pPr>
            <a:r>
              <a:rPr lang="es-419">
                <a:solidFill>
                  <a:schemeClr val="dk1"/>
                </a:solidFill>
                <a:latin typeface="Book Antiqua"/>
                <a:ea typeface="Book Antiqua"/>
                <a:cs typeface="Book Antiqua"/>
                <a:sym typeface="Book Antiqua"/>
              </a:rPr>
              <a:t>La raíz representa la operación aplicada al arreglo completo.</a:t>
            </a:r>
            <a:endParaRPr>
              <a:solidFill>
                <a:schemeClr val="dk1"/>
              </a:solidFill>
              <a:latin typeface="Book Antiqua"/>
              <a:ea typeface="Book Antiqua"/>
              <a:cs typeface="Book Antiqua"/>
              <a:sym typeface="Book Antiqua"/>
            </a:endParaRPr>
          </a:p>
          <a:p>
            <a:pPr indent="-298450" lvl="0" marL="457200" rtl="0" algn="l">
              <a:lnSpc>
                <a:spcPct val="115000"/>
              </a:lnSpc>
              <a:spcBef>
                <a:spcPts val="0"/>
              </a:spcBef>
              <a:spcAft>
                <a:spcPts val="0"/>
              </a:spcAft>
              <a:buClr>
                <a:schemeClr val="dk1"/>
              </a:buClr>
              <a:buSzPts val="1100"/>
              <a:buFont typeface="Book Antiqua"/>
              <a:buChar char="●"/>
            </a:pPr>
            <a:r>
              <a:rPr lang="es-419">
                <a:solidFill>
                  <a:schemeClr val="dk1"/>
                </a:solidFill>
                <a:latin typeface="Book Antiqua"/>
                <a:ea typeface="Book Antiqua"/>
                <a:cs typeface="Book Antiqua"/>
                <a:sym typeface="Book Antiqua"/>
              </a:rPr>
              <a:t>Los nodos internos representan el resultado de la operación sobre un fragmento del arreglo original</a:t>
            </a:r>
            <a:endParaRPr>
              <a:solidFill>
                <a:schemeClr val="dk1"/>
              </a:solidFill>
              <a:latin typeface="Book Antiqua"/>
              <a:ea typeface="Book Antiqua"/>
              <a:cs typeface="Book Antiqua"/>
              <a:sym typeface="Book Antiqua"/>
            </a:endParaRPr>
          </a:p>
          <a:p>
            <a:pPr indent="-298450" lvl="0" marL="457200" rtl="0" algn="l">
              <a:lnSpc>
                <a:spcPct val="115000"/>
              </a:lnSpc>
              <a:spcBef>
                <a:spcPts val="0"/>
              </a:spcBef>
              <a:spcAft>
                <a:spcPts val="0"/>
              </a:spcAft>
              <a:buClr>
                <a:schemeClr val="dk1"/>
              </a:buClr>
              <a:buSzPts val="1100"/>
              <a:buFont typeface="Book Antiqua"/>
              <a:buChar char="●"/>
            </a:pPr>
            <a:r>
              <a:rPr lang="es-419">
                <a:solidFill>
                  <a:schemeClr val="dk1"/>
                </a:solidFill>
                <a:latin typeface="Book Antiqua"/>
                <a:ea typeface="Book Antiqua"/>
                <a:cs typeface="Book Antiqua"/>
                <a:sym typeface="Book Antiqua"/>
              </a:rPr>
              <a:t>Las hojas son los elementos originales.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88a2c621e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e88a2c621e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1000"/>
              </a:spcAft>
              <a:buNone/>
            </a:pPr>
            <a:r>
              <a:rPr lang="es-419">
                <a:solidFill>
                  <a:schemeClr val="dk1"/>
                </a:solidFill>
                <a:latin typeface="Book Antiqua"/>
                <a:ea typeface="Book Antiqua"/>
                <a:cs typeface="Book Antiqua"/>
                <a:sym typeface="Book Antiqua"/>
              </a:rPr>
              <a:t>Vamos a aprovechar las propiedades de índices simplificados al representar el árbol con un arreglo donde (HI=raíz*2; HD=raíz*2+1)</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88a2c621e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e88a2c621e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s-419">
                <a:solidFill>
                  <a:schemeClr val="dk1"/>
                </a:solidFill>
                <a:latin typeface="Book Antiqua"/>
                <a:ea typeface="Book Antiqua"/>
                <a:cs typeface="Book Antiqua"/>
                <a:sym typeface="Book Antiqua"/>
              </a:rPr>
              <a:t>Para mantener </a:t>
            </a:r>
            <a:r>
              <a:rPr lang="es-419">
                <a:solidFill>
                  <a:schemeClr val="dk1"/>
                </a:solidFill>
                <a:latin typeface="Book Antiqua"/>
                <a:ea typeface="Book Antiqua"/>
                <a:cs typeface="Book Antiqua"/>
                <a:sym typeface="Book Antiqua"/>
              </a:rPr>
              <a:t>la eficiencia general de la estructura, </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0"/>
              </a:spcAft>
              <a:buClr>
                <a:schemeClr val="dk1"/>
              </a:buClr>
              <a:buSzPts val="1100"/>
              <a:buFont typeface="Arial"/>
              <a:buNone/>
            </a:pPr>
            <a:r>
              <a:rPr lang="es-419">
                <a:solidFill>
                  <a:schemeClr val="dk1"/>
                </a:solidFill>
                <a:latin typeface="Book Antiqua"/>
                <a:ea typeface="Book Antiqua"/>
                <a:cs typeface="Book Antiqua"/>
                <a:sym typeface="Book Antiqua"/>
              </a:rPr>
              <a:t>es necesario que el arreglo tenga un tamaño igual a una potencia de 2 para construir un árbol perfecto (completamente lleno hasta el último nivel). </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0"/>
              </a:spcAft>
              <a:buClr>
                <a:schemeClr val="dk1"/>
              </a:buClr>
              <a:buSzPts val="1100"/>
              <a:buFont typeface="Arial"/>
              <a:buNone/>
            </a:pPr>
            <a:r>
              <a:rPr lang="es-419">
                <a:solidFill>
                  <a:schemeClr val="dk1"/>
                </a:solidFill>
                <a:latin typeface="Book Antiqua"/>
                <a:ea typeface="Book Antiqua"/>
                <a:cs typeface="Book Antiqua"/>
                <a:sym typeface="Book Antiqua"/>
              </a:rPr>
              <a:t>En caso de que el arreglo no tenga tamaño igual a una potencia de 2, se podría completar con un elemento neutro para la operación hasta llegar a un tamaño igual a la potencia de 2 más próxima. </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En el peor escenario el arreglo mide uno más que la potencia de 2 más cercana siendo necesario entonces, </a:t>
            </a:r>
            <a:endParaRPr>
              <a:solidFill>
                <a:schemeClr val="dk1"/>
              </a:solidFill>
              <a:latin typeface="Book Antiqua"/>
              <a:ea typeface="Book Antiqua"/>
              <a:cs typeface="Book Antiqua"/>
              <a:sym typeface="Book Antiqua"/>
            </a:endParaRPr>
          </a:p>
          <a:p>
            <a:pPr indent="-317500" lvl="0" marL="457200" rtl="0" algn="l">
              <a:lnSpc>
                <a:spcPct val="115000"/>
              </a:lnSpc>
              <a:spcBef>
                <a:spcPts val="1000"/>
              </a:spcBef>
              <a:spcAft>
                <a:spcPts val="0"/>
              </a:spcAft>
              <a:buClr>
                <a:schemeClr val="dk1"/>
              </a:buClr>
              <a:buSzPts val="1400"/>
              <a:buFont typeface="Book Antiqua"/>
              <a:buChar char="-"/>
            </a:pPr>
            <a:r>
              <a:rPr b="1" lang="es-419">
                <a:solidFill>
                  <a:schemeClr val="dk1"/>
                </a:solidFill>
                <a:latin typeface="Book Antiqua"/>
                <a:ea typeface="Book Antiqua"/>
                <a:cs typeface="Book Antiqua"/>
                <a:sym typeface="Book Antiqua"/>
              </a:rPr>
              <a:t>prácticamente duplicar el tamaño</a:t>
            </a:r>
            <a:r>
              <a:rPr lang="es-419">
                <a:solidFill>
                  <a:schemeClr val="dk1"/>
                </a:solidFill>
                <a:latin typeface="Book Antiqua"/>
                <a:ea typeface="Book Antiqua"/>
                <a:cs typeface="Book Antiqua"/>
                <a:sym typeface="Book Antiqua"/>
              </a:rPr>
              <a:t>, </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1000"/>
              </a:spcAft>
              <a:buNone/>
            </a:pPr>
            <a:r>
              <a:rPr lang="es-419">
                <a:solidFill>
                  <a:schemeClr val="dk1"/>
                </a:solidFill>
                <a:latin typeface="Book Antiqua"/>
                <a:ea typeface="Book Antiqua"/>
                <a:cs typeface="Book Antiqua"/>
                <a:sym typeface="Book Antiqua"/>
              </a:rPr>
              <a:t>pasando de un arreglo de tamaño N a uno de aproximadamente 2N.</a:t>
            </a:r>
            <a:endParaRPr>
              <a:solidFill>
                <a:schemeClr val="dk1"/>
              </a:solidFill>
              <a:latin typeface="Book Antiqua"/>
              <a:ea typeface="Book Antiqua"/>
              <a:cs typeface="Book Antiqua"/>
              <a:sym typeface="Book Antiqu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88a2c621e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88a2c621e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Por propiedad de los árboles binarios perfectos, </a:t>
            </a:r>
            <a:endParaRPr>
              <a:solidFill>
                <a:schemeClr val="dk1"/>
              </a:solidFill>
              <a:latin typeface="Book Antiqua"/>
              <a:ea typeface="Book Antiqua"/>
              <a:cs typeface="Book Antiqua"/>
              <a:sym typeface="Book Antiqua"/>
            </a:endParaRPr>
          </a:p>
          <a:p>
            <a:pPr indent="-317500" lvl="0" marL="457200" rtl="0" algn="l">
              <a:lnSpc>
                <a:spcPct val="115000"/>
              </a:lnSpc>
              <a:spcBef>
                <a:spcPts val="1000"/>
              </a:spcBef>
              <a:spcAft>
                <a:spcPts val="0"/>
              </a:spcAft>
              <a:buClr>
                <a:schemeClr val="dk1"/>
              </a:buClr>
              <a:buSzPts val="1400"/>
              <a:buFont typeface="Book Antiqua"/>
              <a:buChar char="-"/>
            </a:pPr>
            <a:r>
              <a:rPr lang="es-419">
                <a:solidFill>
                  <a:schemeClr val="dk1"/>
                </a:solidFill>
                <a:latin typeface="Book Antiqua"/>
                <a:ea typeface="Book Antiqua"/>
                <a:cs typeface="Book Antiqua"/>
                <a:sym typeface="Book Antiqua"/>
              </a:rPr>
              <a:t>si tenemos N hojas, </a:t>
            </a:r>
            <a:endParaRPr>
              <a:solidFill>
                <a:schemeClr val="dk1"/>
              </a:solidFill>
              <a:latin typeface="Book Antiqua"/>
              <a:ea typeface="Book Antiqua"/>
              <a:cs typeface="Book Antiqua"/>
              <a:sym typeface="Book Antiqua"/>
            </a:endParaRPr>
          </a:p>
          <a:p>
            <a:pPr indent="-317500" lvl="0" marL="457200" rtl="0" algn="l">
              <a:lnSpc>
                <a:spcPct val="115000"/>
              </a:lnSpc>
              <a:spcBef>
                <a:spcPts val="0"/>
              </a:spcBef>
              <a:spcAft>
                <a:spcPts val="0"/>
              </a:spcAft>
              <a:buClr>
                <a:schemeClr val="dk1"/>
              </a:buClr>
              <a:buSzPts val="1400"/>
              <a:buFont typeface="Book Antiqua"/>
              <a:buChar char="-"/>
            </a:pPr>
            <a:r>
              <a:rPr lang="es-419">
                <a:solidFill>
                  <a:schemeClr val="dk1"/>
                </a:solidFill>
                <a:latin typeface="Book Antiqua"/>
                <a:ea typeface="Book Antiqua"/>
                <a:cs typeface="Book Antiqua"/>
                <a:sym typeface="Book Antiqua"/>
              </a:rPr>
              <a:t>tenemos N-1 nodos internos,</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entonces en el peor caso terminamos teniendo 2N hojas y 2N-1 nodos internos lo que nos lleva a 4N-1 o aproximadamente 4N nodos o celdas en el arreglo que representa el árbol.</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1000"/>
              </a:spcAft>
              <a:buNone/>
            </a:pPr>
            <a:r>
              <a:rPr lang="es-419">
                <a:solidFill>
                  <a:schemeClr val="dk1"/>
                </a:solidFill>
                <a:latin typeface="Book Antiqua"/>
                <a:ea typeface="Book Antiqua"/>
                <a:cs typeface="Book Antiqua"/>
                <a:sym typeface="Book Antiqua"/>
              </a:rPr>
              <a:t>De ahi que el Segment Tree tenga un orden espacial de 4N</a:t>
            </a:r>
            <a:endParaRPr>
              <a:solidFill>
                <a:schemeClr val="dk1"/>
              </a:solidFill>
              <a:latin typeface="Book Antiqua"/>
              <a:ea typeface="Book Antiqua"/>
              <a:cs typeface="Book Antiqua"/>
              <a:sym typeface="Book Antiqu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8b545659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8b545659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8b545659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a8b545659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419">
                <a:solidFill>
                  <a:schemeClr val="dk1"/>
                </a:solidFill>
              </a:rPr>
              <a:t>Conceptualmente se compone de cuatro operaciones básicas:</a:t>
            </a:r>
            <a:endParaRPr>
              <a:solidFill>
                <a:schemeClr val="dk1"/>
              </a:solidFill>
            </a:endParaRPr>
          </a:p>
          <a:p>
            <a:pPr indent="-298450" lvl="0" marL="457200" rtl="0" algn="l">
              <a:lnSpc>
                <a:spcPct val="150000"/>
              </a:lnSpc>
              <a:spcBef>
                <a:spcPts val="0"/>
              </a:spcBef>
              <a:spcAft>
                <a:spcPts val="0"/>
              </a:spcAft>
              <a:buClr>
                <a:schemeClr val="dk1"/>
              </a:buClr>
              <a:buSzPts val="1100"/>
              <a:buChar char="●"/>
            </a:pPr>
            <a:r>
              <a:rPr lang="es-419">
                <a:solidFill>
                  <a:schemeClr val="dk1"/>
                </a:solidFill>
              </a:rPr>
              <a:t>op(v1, v2) → Realiza la operación entre dos valores dados, más adelante vamos a hablar sobre que tipos de operaciones soporta un segment tree</a:t>
            </a:r>
            <a:endParaRPr>
              <a:solidFill>
                <a:schemeClr val="dk1"/>
              </a:solidFill>
            </a:endParaRPr>
          </a:p>
          <a:p>
            <a:pPr indent="-298450" lvl="0" marL="457200" rtl="0" algn="l">
              <a:lnSpc>
                <a:spcPct val="150000"/>
              </a:lnSpc>
              <a:spcBef>
                <a:spcPts val="0"/>
              </a:spcBef>
              <a:spcAft>
                <a:spcPts val="0"/>
              </a:spcAft>
              <a:buClr>
                <a:schemeClr val="dk1"/>
              </a:buClr>
              <a:buSzPts val="1100"/>
              <a:buChar char="●"/>
            </a:pPr>
            <a:r>
              <a:rPr lang="es-419">
                <a:solidFill>
                  <a:schemeClr val="dk1"/>
                </a:solidFill>
              </a:rPr>
              <a:t>build(idx, l, r) → construye el árbol</a:t>
            </a:r>
            <a:endParaRPr>
              <a:solidFill>
                <a:schemeClr val="dk1"/>
              </a:solidFill>
            </a:endParaRPr>
          </a:p>
          <a:p>
            <a:pPr indent="-298450" lvl="0" marL="457200" rtl="0" algn="l">
              <a:lnSpc>
                <a:spcPct val="150000"/>
              </a:lnSpc>
              <a:spcBef>
                <a:spcPts val="0"/>
              </a:spcBef>
              <a:spcAft>
                <a:spcPts val="0"/>
              </a:spcAft>
              <a:buClr>
                <a:schemeClr val="dk1"/>
              </a:buClr>
              <a:buSzPts val="1100"/>
              <a:buChar char="●"/>
            </a:pPr>
            <a:r>
              <a:rPr lang="es-419">
                <a:solidFill>
                  <a:schemeClr val="dk1"/>
                </a:solidFill>
              </a:rPr>
              <a:t>set(idx, val) → Establece el valor val en la posición idx del arreglo</a:t>
            </a:r>
            <a:endParaRPr>
              <a:solidFill>
                <a:schemeClr val="dk1"/>
              </a:solidFill>
            </a:endParaRPr>
          </a:p>
          <a:p>
            <a:pPr indent="-298450" lvl="0" marL="457200" rtl="0" algn="l">
              <a:lnSpc>
                <a:spcPct val="150000"/>
              </a:lnSpc>
              <a:spcBef>
                <a:spcPts val="0"/>
              </a:spcBef>
              <a:spcAft>
                <a:spcPts val="0"/>
              </a:spcAft>
              <a:buClr>
                <a:schemeClr val="dk1"/>
              </a:buClr>
              <a:buSzPts val="1100"/>
              <a:buChar char="●"/>
            </a:pPr>
            <a:r>
              <a:rPr lang="es-419">
                <a:solidFill>
                  <a:schemeClr val="dk1"/>
                </a:solidFill>
              </a:rPr>
              <a:t>query(l, r) → Responde a la operación dada en el rango [L; R-1]</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a8b545659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a8b545659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t>Usando la operación definida se construye el árbol de abajo hacia arriba.</a:t>
            </a:r>
            <a:endParaRPr/>
          </a:p>
          <a:p>
            <a:pPr indent="0" lvl="0" marL="0" rtl="0" algn="l">
              <a:spcBef>
                <a:spcPts val="0"/>
              </a:spcBef>
              <a:spcAft>
                <a:spcPts val="0"/>
              </a:spcAft>
              <a:buNone/>
            </a:pPr>
            <a:r>
              <a:rPr lang="es-419"/>
              <a:t>Como se mencionó, los </a:t>
            </a:r>
            <a:r>
              <a:rPr b="1" lang="es-419"/>
              <a:t>nodos hoja contienen directamente los valores del arreglo original</a:t>
            </a:r>
            <a:r>
              <a:rPr lang="es-419"/>
              <a:t> y luego, </a:t>
            </a:r>
            <a:endParaRPr/>
          </a:p>
          <a:p>
            <a:pPr indent="0" lvl="0" marL="0" rtl="0" algn="l">
              <a:spcBef>
                <a:spcPts val="0"/>
              </a:spcBef>
              <a:spcAft>
                <a:spcPts val="0"/>
              </a:spcAft>
              <a:buNone/>
            </a:pPr>
            <a:r>
              <a:rPr lang="es-419"/>
              <a:t>cada </a:t>
            </a:r>
            <a:r>
              <a:rPr b="1" lang="es-419"/>
              <a:t>nodo interno se calcula aplicando op sobre los valores de sus dos hijos</a:t>
            </a:r>
            <a:r>
              <a:rPr lang="es-419"/>
              <a:t>, de esta manera cada nodo representa la combinación de un segmento del arreglo, </a:t>
            </a:r>
            <a:endParaRPr/>
          </a:p>
          <a:p>
            <a:pPr indent="0" lvl="0" marL="0" rtl="0" algn="l">
              <a:spcBef>
                <a:spcPts val="0"/>
              </a:spcBef>
              <a:spcAft>
                <a:spcPts val="0"/>
              </a:spcAft>
              <a:buNone/>
            </a:pPr>
            <a:r>
              <a:rPr lang="es-419"/>
              <a:t>hasta llegar a </a:t>
            </a:r>
            <a:r>
              <a:rPr b="1" lang="es-419"/>
              <a:t>la raíz, que contiene el resultado correspondiente a todo el rango</a:t>
            </a:r>
            <a:r>
              <a:rPr lang="es-419"/>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419"/>
              <a:t>Si L y R son iguales quiere decir que el algoritmo alcanzó una hoja</a:t>
            </a:r>
            <a:r>
              <a:rPr lang="es-419"/>
              <a:t> por lo que almacena en ese nodo el valor del arreglo correspondiente a esa posición.</a:t>
            </a:r>
            <a:endParaRPr/>
          </a:p>
          <a:p>
            <a:pPr indent="0" lvl="0" marL="0" rtl="0" algn="l">
              <a:spcBef>
                <a:spcPts val="0"/>
              </a:spcBef>
              <a:spcAft>
                <a:spcPts val="0"/>
              </a:spcAft>
              <a:buNone/>
            </a:pPr>
            <a:r>
              <a:rPr lang="es-419"/>
              <a:t>En caso de que </a:t>
            </a:r>
            <a:r>
              <a:rPr b="1" lang="es-419"/>
              <a:t>L y R no sean iguales, es decir, el algoritmo se encuentra en un nodo interno, es necesario calcular el punto medio para poder continuar la ejecución hacia los hijos</a:t>
            </a:r>
            <a:r>
              <a:rPr lang="es-419"/>
              <a:t>, siendo el hijo izquierdo el intervalo [L ; mid] y el hijo derecho [mid+1 ; R]. Eventualmente la ejecución retorna y se puede calcular el valor del nodo actual a partir del valor de sus hijos que ya se encuentran calculados.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88a2c621e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88a2c621e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rPr>
              <a:t>Si armamos el árbol a partir del arreglo [ 6 9 1 2 4 5 4 8 ], nos genera el siguiente árbol de suma:</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Notar como se marca con naranja y con el rango que intervalo representa cada nodo.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La raiz es la respuesta del arreglo entero, los hijos de la mitad, los hijos de los hijos de un cuarto y asi sucesivamente.</a:t>
            </a:r>
            <a:endParaRPr/>
          </a:p>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Para los N elementos del arreglo original se genera un camino desde la raíz hasta la hoja que corresponde a ese elemento, </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0"/>
              </a:spcAft>
              <a:buNone/>
            </a:pPr>
            <a:r>
              <a:rPr b="1" lang="es-419">
                <a:solidFill>
                  <a:schemeClr val="dk1"/>
                </a:solidFill>
                <a:latin typeface="Book Antiqua"/>
                <a:ea typeface="Book Antiqua"/>
                <a:cs typeface="Book Antiqua"/>
                <a:sym typeface="Book Antiqua"/>
              </a:rPr>
              <a:t>dicho camino tiene un tamaño de log n</a:t>
            </a:r>
            <a:r>
              <a:rPr lang="es-419">
                <a:solidFill>
                  <a:schemeClr val="dk1"/>
                </a:solidFill>
                <a:latin typeface="Book Antiqua"/>
                <a:ea typeface="Book Antiqua"/>
                <a:cs typeface="Book Antiqua"/>
                <a:sym typeface="Book Antiqua"/>
              </a:rPr>
              <a:t>, por lo que la complejidad temporal de la construcción es del orden de O(n log n) </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1000"/>
              </a:spcAft>
              <a:buClr>
                <a:schemeClr val="dk1"/>
              </a:buClr>
              <a:buSzPts val="1100"/>
              <a:buFont typeface="Arial"/>
              <a:buNone/>
            </a:pPr>
            <a:r>
              <a:rPr lang="es-419">
                <a:solidFill>
                  <a:schemeClr val="dk1"/>
                </a:solidFill>
                <a:latin typeface="Book Antiqua"/>
                <a:ea typeface="Book Antiqua"/>
                <a:cs typeface="Book Antiqua"/>
                <a:sym typeface="Book Antiqua"/>
              </a:rPr>
              <a:t>debido a que cada camino raíz hoja se construye en O(log n) y esto se repite N veces.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a8b545659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a8b545659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t>La actualización requiere no solo que se actualice el valor del arreglo original o la hoja correspondiente sino que se recalcule el camino que vincula dicha hoja con la raíz.</a:t>
            </a:r>
            <a:endParaRPr/>
          </a:p>
          <a:p>
            <a:pPr indent="0" lvl="0" marL="0" rtl="0" algn="l">
              <a:spcBef>
                <a:spcPts val="0"/>
              </a:spcBef>
              <a:spcAft>
                <a:spcPts val="0"/>
              </a:spcAft>
              <a:buNone/>
            </a:pPr>
            <a:r>
              <a:rPr lang="es-419"/>
              <a:t>Se comienza descendiendo hasta la hoja correspondiente al elemento a modificar. </a:t>
            </a:r>
            <a:endParaRPr/>
          </a:p>
          <a:p>
            <a:pPr indent="0" lvl="0" marL="0" rtl="0" algn="l">
              <a:spcBef>
                <a:spcPts val="0"/>
              </a:spcBef>
              <a:spcAft>
                <a:spcPts val="0"/>
              </a:spcAft>
              <a:buClr>
                <a:schemeClr val="dk1"/>
              </a:buClr>
              <a:buSzPts val="1100"/>
              <a:buFont typeface="Arial"/>
              <a:buNone/>
            </a:pPr>
            <a:r>
              <a:rPr lang="es-419"/>
              <a:t>Una vez alcanzado y actualizado, la recursión al empezar a retornar, recalcula los nodos internos aplicando nuevamente la operación definida sobre los nodos del camino.</a:t>
            </a:r>
            <a:endParaRPr/>
          </a:p>
          <a:p>
            <a:pPr indent="0" lvl="0" marL="0" rtl="0" algn="l">
              <a:spcBef>
                <a:spcPts val="0"/>
              </a:spcBef>
              <a:spcAft>
                <a:spcPts val="0"/>
              </a:spcAft>
              <a:buClr>
                <a:schemeClr val="dk1"/>
              </a:buClr>
              <a:buSzPts val="1100"/>
              <a:buFont typeface="Arial"/>
              <a:buNone/>
            </a:pPr>
            <a:r>
              <a:rPr lang="es-419"/>
              <a:t>El método set expone una firma sencilla que recibe el índice del arreglo y el valor a establecer en esa posición. Dentro se utiliza un método con una firma óptima para recursión en árboles.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s-419"/>
              <a:t>Este algoritmo se parece en gran medida al de construcción, sin embargo, sólo desciende el árbol por el camino que lleva a la hoja especifica que se tiene que modificar. Al retornar se calcula nuevamente con la operación dada sólo los nodos que componen el camino desde la raíz hasta la hoja modificada.</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a8b5456596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a8b545659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t>Como la altura del árbol corresponde al valor log n, una actualización puntual con este algoritmo tiene una complejidad temporal O(log n).</a:t>
            </a:r>
            <a:endParaRPr/>
          </a:p>
          <a:p>
            <a:pPr indent="0" lvl="0" marL="0" rtl="0" algn="l">
              <a:spcBef>
                <a:spcPts val="0"/>
              </a:spcBef>
              <a:spcAft>
                <a:spcPts val="0"/>
              </a:spcAft>
              <a:buNone/>
            </a:pPr>
            <a:r>
              <a:rPr lang="es-419"/>
              <a:t>Supongamos que se actualiza la posición 5 del arreglo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Los nodos naranjas son los nodos que se recalcularon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a8b5456596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a8b545659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t>Por último nos queda entender cómo se responden las consultas.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419"/>
              <a:t>La idea principal consiste en recorrer únicamente los segmentos relevantes para el rango consultado.</a:t>
            </a:r>
            <a:endParaRPr/>
          </a:p>
          <a:p>
            <a:pPr indent="0" lvl="0" marL="0" rtl="0" algn="l">
              <a:spcBef>
                <a:spcPts val="0"/>
              </a:spcBef>
              <a:spcAft>
                <a:spcPts val="0"/>
              </a:spcAft>
              <a:buClr>
                <a:schemeClr val="dk1"/>
              </a:buClr>
              <a:buSzPts val="1100"/>
              <a:buFont typeface="Arial"/>
              <a:buNone/>
            </a:pPr>
            <a:r>
              <a:rPr lang="es-419"/>
              <a:t>En cada nodo pueden ocurrir tres casos:</a:t>
            </a:r>
            <a:endParaRPr/>
          </a:p>
          <a:p>
            <a:pPr indent="0" lvl="0" marL="0" rtl="0" algn="l">
              <a:spcBef>
                <a:spcPts val="0"/>
              </a:spcBef>
              <a:spcAft>
                <a:spcPts val="0"/>
              </a:spcAft>
              <a:buClr>
                <a:schemeClr val="dk1"/>
              </a:buClr>
              <a:buSzPts val="1100"/>
              <a:buFont typeface="Arial"/>
              <a:buNone/>
            </a:pPr>
            <a:r>
              <a:t/>
            </a:r>
            <a:endParaRPr/>
          </a:p>
          <a:p>
            <a:pPr indent="-317500" lvl="0" marL="457200" rtl="0" algn="l">
              <a:spcBef>
                <a:spcPts val="0"/>
              </a:spcBef>
              <a:spcAft>
                <a:spcPts val="0"/>
              </a:spcAft>
              <a:buSzPts val="1400"/>
              <a:buAutoNum type="arabicPeriod"/>
            </a:pPr>
            <a:r>
              <a:rPr lang="es-419"/>
              <a:t>El segmento está fuera del rango buscado entonces corta esa iteración</a:t>
            </a:r>
            <a:endParaRPr/>
          </a:p>
          <a:p>
            <a:pPr indent="-317500" lvl="0" marL="457200" rtl="0" algn="l">
              <a:spcBef>
                <a:spcPts val="0"/>
              </a:spcBef>
              <a:spcAft>
                <a:spcPts val="0"/>
              </a:spcAft>
              <a:buSzPts val="1400"/>
              <a:buAutoNum type="arabicPeriod"/>
            </a:pPr>
            <a:r>
              <a:rPr lang="es-419"/>
              <a:t>El segmento está completamente contenido en el rango, se reutiliza esa información completa para calcular el resultado final</a:t>
            </a:r>
            <a:endParaRPr/>
          </a:p>
          <a:p>
            <a:pPr indent="-317500" lvl="0" marL="457200" rtl="0" algn="l">
              <a:spcBef>
                <a:spcPts val="0"/>
              </a:spcBef>
              <a:spcAft>
                <a:spcPts val="0"/>
              </a:spcAft>
              <a:buSzPts val="1400"/>
              <a:buAutoNum type="arabicPeriod"/>
            </a:pPr>
            <a:r>
              <a:rPr lang="es-419"/>
              <a:t>El segmento se superpone parcialmente con el rango, en este caso es necesario seguir bajando por el </a:t>
            </a:r>
            <a:r>
              <a:rPr lang="es-419"/>
              <a:t>árbol</a:t>
            </a:r>
            <a:r>
              <a:rPr lang="es-419"/>
              <a:t> para encontrar un nodo que cumpla con el segundo caso para calcular</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a8b545659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a8b545659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método query expone una firma sencilla que recibe el rango a consultar. Dentro se utiliza un método con una firma óptima para recursión en árboles.</a:t>
            </a:r>
            <a:endParaRPr/>
          </a:p>
          <a:p>
            <a:pPr indent="0" lvl="0" marL="0" rtl="0" algn="l">
              <a:spcBef>
                <a:spcPts val="0"/>
              </a:spcBef>
              <a:spcAft>
                <a:spcPts val="0"/>
              </a:spcAft>
              <a:buClr>
                <a:schemeClr val="dk1"/>
              </a:buClr>
              <a:buSzPts val="1100"/>
              <a:buFont typeface="Arial"/>
              <a:buNone/>
            </a:pPr>
            <a:r>
              <a:rPr lang="es-419"/>
              <a:t>Node → es el índice que representa al nodo en el arreglo del árbol.</a:t>
            </a:r>
            <a:endParaRPr/>
          </a:p>
          <a:p>
            <a:pPr indent="0" lvl="0" marL="0" rtl="0" algn="l">
              <a:spcBef>
                <a:spcPts val="0"/>
              </a:spcBef>
              <a:spcAft>
                <a:spcPts val="0"/>
              </a:spcAft>
              <a:buClr>
                <a:schemeClr val="dk1"/>
              </a:buClr>
              <a:buSzPts val="1100"/>
              <a:buFont typeface="Arial"/>
              <a:buNone/>
            </a:pPr>
            <a:r>
              <a:rPr lang="es-419"/>
              <a:t>SL y SR → son los índices del arreglo original que corresponden al rango que representa el nodo dado.</a:t>
            </a:r>
            <a:endParaRPr/>
          </a:p>
          <a:p>
            <a:pPr indent="0" lvl="0" marL="0" rtl="0" algn="l">
              <a:spcBef>
                <a:spcPts val="0"/>
              </a:spcBef>
              <a:spcAft>
                <a:spcPts val="0"/>
              </a:spcAft>
              <a:buNone/>
            </a:pPr>
            <a:r>
              <a:rPr lang="es-419"/>
              <a:t>L y R → índices del arreglo original que corresponden al rango que se está consultando.</a:t>
            </a:r>
            <a:endParaRPr/>
          </a:p>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El método get implementa los casos en el orden que se definió antes:</a:t>
            </a:r>
            <a:endParaRPr>
              <a:solidFill>
                <a:schemeClr val="dk1"/>
              </a:solidFill>
              <a:latin typeface="Book Antiqua"/>
              <a:ea typeface="Book Antiqua"/>
              <a:cs typeface="Book Antiqua"/>
              <a:sym typeface="Book Antiqua"/>
            </a:endParaRPr>
          </a:p>
          <a:p>
            <a:pPr indent="-298450" lvl="0" marL="457200" rtl="0" algn="l">
              <a:lnSpc>
                <a:spcPct val="115000"/>
              </a:lnSpc>
              <a:spcBef>
                <a:spcPts val="1000"/>
              </a:spcBef>
              <a:spcAft>
                <a:spcPts val="0"/>
              </a:spcAft>
              <a:buClr>
                <a:schemeClr val="dk1"/>
              </a:buClr>
              <a:buSzPts val="1100"/>
              <a:buFont typeface="Book Antiqua"/>
              <a:buAutoNum type="arabicPeriod"/>
            </a:pPr>
            <a:r>
              <a:rPr lang="es-419">
                <a:solidFill>
                  <a:schemeClr val="dk1"/>
                </a:solidFill>
                <a:latin typeface="Book Antiqua"/>
                <a:ea typeface="Book Antiqua"/>
                <a:cs typeface="Book Antiqua"/>
                <a:sym typeface="Book Antiqua"/>
              </a:rPr>
              <a:t>Para comprobar que se está fuera del rango basta con saber si el extremo superior del nodo está por debajo del extremo inferior de consulta (sr &lt; l) o si el extremo superior de consulta está por debajo del extremo inferior del nodo (r &lt; sl).</a:t>
            </a:r>
            <a:endParaRPr>
              <a:solidFill>
                <a:schemeClr val="dk1"/>
              </a:solidFill>
              <a:latin typeface="Book Antiqua"/>
              <a:ea typeface="Book Antiqua"/>
              <a:cs typeface="Book Antiqua"/>
              <a:sym typeface="Book Antiqua"/>
            </a:endParaRPr>
          </a:p>
          <a:p>
            <a:pPr indent="-298450" lvl="0" marL="457200" rtl="0" algn="l">
              <a:lnSpc>
                <a:spcPct val="115000"/>
              </a:lnSpc>
              <a:spcBef>
                <a:spcPts val="1000"/>
              </a:spcBef>
              <a:spcAft>
                <a:spcPts val="0"/>
              </a:spcAft>
              <a:buClr>
                <a:schemeClr val="dk1"/>
              </a:buClr>
              <a:buSzPts val="1100"/>
              <a:buFont typeface="Book Antiqua"/>
              <a:buAutoNum type="arabicPeriod"/>
            </a:pPr>
            <a:r>
              <a:rPr lang="es-419">
                <a:solidFill>
                  <a:schemeClr val="dk1"/>
                </a:solidFill>
                <a:latin typeface="Book Antiqua"/>
                <a:ea typeface="Book Antiqua"/>
                <a:cs typeface="Book Antiqua"/>
                <a:sym typeface="Book Antiqua"/>
              </a:rPr>
              <a:t>Si el extremo inferior de consulta es menor o igual al extremo inferior del nodo (l &lt;= sl) y además el extremo superior del nodo es menor o igual al extremo superior de consulta (sr &lt;= r), se toma el valor completo de ese nodo ya que está completamente contenido.</a:t>
            </a:r>
            <a:endParaRPr>
              <a:solidFill>
                <a:schemeClr val="dk1"/>
              </a:solidFill>
              <a:latin typeface="Book Antiqua"/>
              <a:ea typeface="Book Antiqua"/>
              <a:cs typeface="Book Antiqua"/>
              <a:sym typeface="Book Antiqua"/>
            </a:endParaRPr>
          </a:p>
          <a:p>
            <a:pPr indent="-298450" lvl="0" marL="457200" rtl="0" algn="l">
              <a:lnSpc>
                <a:spcPct val="115000"/>
              </a:lnSpc>
              <a:spcBef>
                <a:spcPts val="1000"/>
              </a:spcBef>
              <a:spcAft>
                <a:spcPts val="0"/>
              </a:spcAft>
              <a:buClr>
                <a:schemeClr val="dk1"/>
              </a:buClr>
              <a:buSzPts val="1100"/>
              <a:buFont typeface="Book Antiqua"/>
              <a:buAutoNum type="arabicPeriod"/>
            </a:pPr>
            <a:r>
              <a:rPr lang="es-419">
                <a:solidFill>
                  <a:schemeClr val="dk1"/>
                </a:solidFill>
                <a:latin typeface="Book Antiqua"/>
                <a:ea typeface="Book Antiqua"/>
                <a:cs typeface="Book Antiqua"/>
                <a:sym typeface="Book Antiqua"/>
              </a:rPr>
              <a:t>Por último si está parcialmente contenido se invoca de forma recursiva obteniendo el resultado de los hijos y luego combinándolos con la operación definida.</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1000"/>
              </a:spcAft>
              <a:buNone/>
            </a:pPr>
            <a:r>
              <a:rPr lang="es-419">
                <a:solidFill>
                  <a:schemeClr val="dk1"/>
                </a:solidFill>
                <a:latin typeface="Book Antiqua"/>
                <a:ea typeface="Book Antiqua"/>
                <a:cs typeface="Book Antiqua"/>
                <a:sym typeface="Book Antiqua"/>
              </a:rPr>
              <a:t>Es importante remarcar que el 0 del return 0 en realidad representa el neutro de la operación como ya se mencionó en las propiedades de las operaciones soportadas.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e88a2c621e_1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e88a2c621e_1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Los nodos pintados son por todos los que pasó el algoritmo y si diferenciamos por colores:</a:t>
            </a:r>
            <a:endParaRPr>
              <a:solidFill>
                <a:schemeClr val="dk1"/>
              </a:solidFill>
              <a:latin typeface="Book Antiqua"/>
              <a:ea typeface="Book Antiqua"/>
              <a:cs typeface="Book Antiqua"/>
              <a:sym typeface="Book Antiqua"/>
            </a:endParaRPr>
          </a:p>
          <a:p>
            <a:pPr indent="-298450" lvl="0" marL="457200" rtl="0" algn="l">
              <a:lnSpc>
                <a:spcPct val="115000"/>
              </a:lnSpc>
              <a:spcBef>
                <a:spcPts val="1000"/>
              </a:spcBef>
              <a:spcAft>
                <a:spcPts val="0"/>
              </a:spcAft>
              <a:buClr>
                <a:schemeClr val="dk1"/>
              </a:buClr>
              <a:buSzPts val="1100"/>
              <a:buFont typeface="Book Antiqua"/>
              <a:buChar char="●"/>
            </a:pPr>
            <a:r>
              <a:rPr b="1" lang="es-419">
                <a:solidFill>
                  <a:schemeClr val="dk1"/>
                </a:solidFill>
                <a:latin typeface="Book Antiqua"/>
                <a:ea typeface="Book Antiqua"/>
                <a:cs typeface="Book Antiqua"/>
                <a:sym typeface="Book Antiqua"/>
              </a:rPr>
              <a:t>Rojos</a:t>
            </a:r>
            <a:r>
              <a:rPr lang="es-419">
                <a:solidFill>
                  <a:schemeClr val="dk1"/>
                </a:solidFill>
                <a:latin typeface="Book Antiqua"/>
                <a:ea typeface="Book Antiqua"/>
                <a:cs typeface="Book Antiqua"/>
                <a:sym typeface="Book Antiqua"/>
              </a:rPr>
              <a:t> → La ejecución se detiene ya que el nodo está fuera del rango</a:t>
            </a:r>
            <a:endParaRPr>
              <a:solidFill>
                <a:schemeClr val="dk1"/>
              </a:solidFill>
              <a:latin typeface="Book Antiqua"/>
              <a:ea typeface="Book Antiqua"/>
              <a:cs typeface="Book Antiqua"/>
              <a:sym typeface="Book Antiqua"/>
            </a:endParaRPr>
          </a:p>
          <a:p>
            <a:pPr indent="-298450" lvl="0" marL="457200" rtl="0" algn="l">
              <a:lnSpc>
                <a:spcPct val="115000"/>
              </a:lnSpc>
              <a:spcBef>
                <a:spcPts val="1000"/>
              </a:spcBef>
              <a:spcAft>
                <a:spcPts val="0"/>
              </a:spcAft>
              <a:buClr>
                <a:schemeClr val="dk1"/>
              </a:buClr>
              <a:buSzPts val="1100"/>
              <a:buFont typeface="Book Antiqua"/>
              <a:buChar char="●"/>
            </a:pPr>
            <a:r>
              <a:rPr b="1" lang="es-419">
                <a:solidFill>
                  <a:schemeClr val="dk1"/>
                </a:solidFill>
                <a:latin typeface="Book Antiqua"/>
                <a:ea typeface="Book Antiqua"/>
                <a:cs typeface="Book Antiqua"/>
                <a:sym typeface="Book Antiqua"/>
              </a:rPr>
              <a:t>Naranjas</a:t>
            </a:r>
            <a:r>
              <a:rPr lang="es-419">
                <a:solidFill>
                  <a:schemeClr val="dk1"/>
                </a:solidFill>
                <a:latin typeface="Book Antiqua"/>
                <a:ea typeface="Book Antiqua"/>
                <a:cs typeface="Book Antiqua"/>
                <a:sym typeface="Book Antiqua"/>
              </a:rPr>
              <a:t> → La ejecución continua ya que el rango del nodo se superpone parcialmente con el rango buscado</a:t>
            </a:r>
            <a:endParaRPr>
              <a:solidFill>
                <a:schemeClr val="dk1"/>
              </a:solidFill>
              <a:latin typeface="Book Antiqua"/>
              <a:ea typeface="Book Antiqua"/>
              <a:cs typeface="Book Antiqua"/>
              <a:sym typeface="Book Antiqua"/>
            </a:endParaRPr>
          </a:p>
          <a:p>
            <a:pPr indent="-298450" lvl="0" marL="457200" rtl="0" algn="l">
              <a:lnSpc>
                <a:spcPct val="115000"/>
              </a:lnSpc>
              <a:spcBef>
                <a:spcPts val="1000"/>
              </a:spcBef>
              <a:spcAft>
                <a:spcPts val="0"/>
              </a:spcAft>
              <a:buClr>
                <a:schemeClr val="dk1"/>
              </a:buClr>
              <a:buSzPts val="1100"/>
              <a:buFont typeface="Book Antiqua"/>
              <a:buChar char="●"/>
            </a:pPr>
            <a:r>
              <a:rPr b="1" lang="es-419">
                <a:solidFill>
                  <a:schemeClr val="dk1"/>
                </a:solidFill>
                <a:latin typeface="Book Antiqua"/>
                <a:ea typeface="Book Antiqua"/>
                <a:cs typeface="Book Antiqua"/>
                <a:sym typeface="Book Antiqua"/>
              </a:rPr>
              <a:t>Verdes</a:t>
            </a:r>
            <a:r>
              <a:rPr lang="es-419">
                <a:solidFill>
                  <a:schemeClr val="dk1"/>
                </a:solidFill>
                <a:latin typeface="Book Antiqua"/>
                <a:ea typeface="Book Antiqua"/>
                <a:cs typeface="Book Antiqua"/>
                <a:sym typeface="Book Antiqua"/>
              </a:rPr>
              <a:t> → Estos nodos se encuentran contenidos por completo dentro del rango y son los que se combinan para responder la consulta.</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En el peor caso, la query necesita tomar segmentos tanto del extremo derecho del subárbol izquierdo como del extremo izquierdo del subárbol derecho. </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0"/>
              </a:spcAft>
              <a:buNone/>
            </a:pPr>
            <a:r>
              <a:rPr lang="es-419">
                <a:solidFill>
                  <a:schemeClr val="dk1"/>
                </a:solidFill>
                <a:latin typeface="Book Antiqua"/>
                <a:ea typeface="Book Antiqua"/>
                <a:cs typeface="Book Antiqua"/>
                <a:sym typeface="Book Antiqua"/>
              </a:rPr>
              <a:t>Esto obliga a recorrer ambos caminos hasta las hojas respectivas, visitando a lo sumo una cantidad proporcional a 2·log(n) nodos. lo que sigue siendo un orden de O(log n)</a:t>
            </a:r>
            <a:endParaRPr>
              <a:solidFill>
                <a:schemeClr val="dk1"/>
              </a:solidFill>
              <a:latin typeface="Book Antiqua"/>
              <a:ea typeface="Book Antiqua"/>
              <a:cs typeface="Book Antiqua"/>
              <a:sym typeface="Book Antiqua"/>
            </a:endParaRPr>
          </a:p>
          <a:p>
            <a:pPr indent="0" lvl="0" marL="0" rtl="0" algn="l">
              <a:lnSpc>
                <a:spcPct val="115000"/>
              </a:lnSpc>
              <a:spcBef>
                <a:spcPts val="1000"/>
              </a:spcBef>
              <a:spcAft>
                <a:spcPts val="100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e88a2c621e_1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e88a2c621e_1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e88a2c621e_1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e88a2c621e_1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a:t>
            </a:r>
            <a:r>
              <a:rPr lang="es-419"/>
              <a:t>ódigo es practicamente 1 a 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e88a2c621e_1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e88a2c621e_1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e88a2c621e_1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e88a2c621e_1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e88a2c621e_1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e88a2c621e_1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e88a2c621e_1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e88a2c621e_1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e88a2c621e_1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e88a2c621e_1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e88a2c621e_1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e88a2c621e_1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88a2c621e_1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e88a2c621e_1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e88a2c621e_1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e88a2c621e_1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e88a2c621e_1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e88a2c621e_1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código es practicamente 1 a 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88a2c621e_1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e88a2c621e_1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Si analizamos detenidamente ambos códigos, podemos notar que son prácticamente idénticos con la única diferencia que solo cambia el tipo de dato que almacena el árbol y la operación definida.</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88a2c621e_1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e88a2c621e_1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Permite hacer actualizaciones sobre rangos de manera eficiente evitando propagar inmediatamente los cambios a todos los nodos afectados</a:t>
            </a:r>
            <a:endParaRPr/>
          </a:p>
          <a:p>
            <a:pPr indent="0" lvl="0" marL="0" rtl="0" algn="l">
              <a:spcBef>
                <a:spcPts val="0"/>
              </a:spcBef>
              <a:spcAft>
                <a:spcPts val="0"/>
              </a:spcAft>
              <a:buNone/>
            </a:pPr>
            <a:r>
              <a:rPr lang="es-419"/>
              <a:t>ya que en lugar de actualizar cada segmento bajando hasta las hojas, </a:t>
            </a:r>
            <a:endParaRPr/>
          </a:p>
          <a:p>
            <a:pPr indent="0" lvl="0" marL="0" rtl="0" algn="l">
              <a:spcBef>
                <a:spcPts val="0"/>
              </a:spcBef>
              <a:spcAft>
                <a:spcPts val="0"/>
              </a:spcAft>
              <a:buNone/>
            </a:pPr>
            <a:r>
              <a:rPr b="1" lang="es-419"/>
              <a:t>el árbol marca ciertos nodos como “pendientes de actualización”</a:t>
            </a:r>
            <a:r>
              <a:rPr lang="es-419"/>
              <a:t>. </a:t>
            </a:r>
            <a:endParaRPr/>
          </a:p>
          <a:p>
            <a:pPr indent="0" lvl="0" marL="0" rtl="0" algn="l">
              <a:spcBef>
                <a:spcPts val="0"/>
              </a:spcBef>
              <a:spcAft>
                <a:spcPts val="0"/>
              </a:spcAft>
              <a:buNone/>
            </a:pPr>
            <a:r>
              <a:rPr lang="es-419"/>
              <a:t>De esta forma, </a:t>
            </a:r>
            <a:r>
              <a:rPr b="1" lang="es-419"/>
              <a:t>la propagación real del cambio solo pasa cuando una query o una nueva actualización necesita acceder a ese segmento</a:t>
            </a:r>
            <a:r>
              <a:rPr lang="es-419"/>
              <a:t>. </a:t>
            </a:r>
            <a:endParaRPr/>
          </a:p>
          <a:p>
            <a:pPr indent="0" lvl="0" marL="0" rtl="0" algn="l">
              <a:spcBef>
                <a:spcPts val="0"/>
              </a:spcBef>
              <a:spcAft>
                <a:spcPts val="0"/>
              </a:spcAft>
              <a:buNone/>
            </a:pPr>
            <a:r>
              <a:rPr lang="es-419"/>
              <a:t>Gracias a esta estrategia, se evita trabajo innecesario sobre regiones del árbol que podrían no volver a consultarse, reduciendo significativamente el costo de múltiples actualizaciones de rango. </a:t>
            </a:r>
            <a:endParaRPr/>
          </a:p>
          <a:p>
            <a:pPr indent="0" lvl="0" marL="0" rtl="0" algn="l">
              <a:spcBef>
                <a:spcPts val="0"/>
              </a:spcBef>
              <a:spcAft>
                <a:spcPts val="0"/>
              </a:spcAft>
              <a:buNone/>
            </a:pPr>
            <a:r>
              <a:rPr lang="es-419"/>
              <a:t>Matemáticamente, </a:t>
            </a:r>
            <a:r>
              <a:rPr b="1" lang="es-419"/>
              <a:t>esta estrategia transforma una operación que originalmente costaría O(n) en una de tiempo logarítmico O(log n)</a:t>
            </a:r>
            <a:r>
              <a:rPr lang="es-419"/>
              <a:t>. </a:t>
            </a:r>
            <a:endParaRPr/>
          </a:p>
          <a:p>
            <a:pPr indent="0" lvl="0" marL="0" rtl="0" algn="l">
              <a:spcBef>
                <a:spcPts val="0"/>
              </a:spcBef>
              <a:spcAft>
                <a:spcPts val="0"/>
              </a:spcAft>
              <a:buNone/>
            </a:pPr>
            <a:r>
              <a:rPr lang="es-419"/>
              <a:t>Para conseguir esto, la estructura requiere de un arreglo secundario (comúnmente llamado lazy) de tamaño 4N, dedicado exclusivamente a almacenar los valores de actualización pendientes antes de ser transferidos a los nodos hijos.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e88a2c621e_1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e88a2c621e_1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e88a2c621e_1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e88a2c621e_1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88a2c621e_1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e88a2c621e_1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Segment Tree</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Presentación por Luciano Agustin Macias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sz="3200"/>
              <a:t>Rango Est</a:t>
            </a:r>
            <a:r>
              <a:rPr lang="es-419" sz="3200"/>
              <a:t>ático</a:t>
            </a:r>
            <a:endParaRPr sz="3200"/>
          </a:p>
        </p:txBody>
      </p:sp>
      <p:sp>
        <p:nvSpPr>
          <p:cNvPr id="74" name="Google Shape;74;p14"/>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800"/>
              <a:t>Los elementos solo son consultados.</a:t>
            </a:r>
            <a:endParaRPr sz="1800"/>
          </a:p>
          <a:p>
            <a:pPr indent="0" lvl="0" marL="0" rtl="0" algn="l">
              <a:spcBef>
                <a:spcPts val="1200"/>
              </a:spcBef>
              <a:spcAft>
                <a:spcPts val="1200"/>
              </a:spcAft>
              <a:buNone/>
            </a:pPr>
            <a:r>
              <a:rPr lang="es-419" sz="1800"/>
              <a:t>No se modifican en </a:t>
            </a:r>
            <a:r>
              <a:rPr lang="es-419" sz="1800"/>
              <a:t>ningún</a:t>
            </a:r>
            <a:r>
              <a:rPr lang="es-419" sz="1800"/>
              <a:t> momento.</a:t>
            </a:r>
            <a:endParaRPr sz="1800"/>
          </a:p>
        </p:txBody>
      </p:sp>
      <p:graphicFrame>
        <p:nvGraphicFramePr>
          <p:cNvPr id="75" name="Google Shape;75;p14"/>
          <p:cNvGraphicFramePr/>
          <p:nvPr/>
        </p:nvGraphicFramePr>
        <p:xfrm>
          <a:off x="3968625" y="1244250"/>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381000">
                <a:tc>
                  <a:txBody>
                    <a:bodyPr/>
                    <a:lstStyle/>
                    <a:p>
                      <a:pPr indent="0" lvl="0" marL="0" rtl="0" algn="ctr">
                        <a:spcBef>
                          <a:spcPts val="0"/>
                        </a:spcBef>
                        <a:spcAft>
                          <a:spcPts val="0"/>
                        </a:spcAft>
                        <a:buNone/>
                      </a:pPr>
                      <a:r>
                        <a:rPr lang="es-419" sz="1600"/>
                        <a:t>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1</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42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4</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8</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bl>
          </a:graphicData>
        </a:graphic>
      </p:graphicFrame>
      <p:sp>
        <p:nvSpPr>
          <p:cNvPr id="76" name="Google Shape;76;p14"/>
          <p:cNvSpPr/>
          <p:nvPr/>
        </p:nvSpPr>
        <p:spPr>
          <a:xfrm rot="-5400000">
            <a:off x="4841175" y="869875"/>
            <a:ext cx="52500" cy="1797600"/>
          </a:xfrm>
          <a:prstGeom prst="leftBracket">
            <a:avLst>
              <a:gd fmla="val 8333"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graphicFrame>
        <p:nvGraphicFramePr>
          <p:cNvPr id="77" name="Google Shape;77;p14"/>
          <p:cNvGraphicFramePr/>
          <p:nvPr/>
        </p:nvGraphicFramePr>
        <p:xfrm>
          <a:off x="3968625" y="1919050"/>
          <a:ext cx="3000000" cy="3000000"/>
        </p:xfrm>
        <a:graphic>
          <a:graphicData uri="http://schemas.openxmlformats.org/drawingml/2006/table">
            <a:tbl>
              <a:tblPr>
                <a:noFill/>
                <a:tableStyleId>{82B1C205-92B4-459F-ACDD-4BC05602446F}</a:tableStyleId>
              </a:tblPr>
              <a:tblGrid>
                <a:gridCol w="453825"/>
                <a:gridCol w="453825"/>
                <a:gridCol w="453825"/>
                <a:gridCol w="453825"/>
              </a:tblGrid>
              <a:tr h="381000">
                <a:tc>
                  <a:txBody>
                    <a:bodyPr/>
                    <a:lstStyle/>
                    <a:p>
                      <a:pPr indent="0" lvl="0" marL="0" rtl="0" algn="ctr">
                        <a:spcBef>
                          <a:spcPts val="0"/>
                        </a:spcBef>
                        <a:spcAft>
                          <a:spcPts val="0"/>
                        </a:spcAft>
                        <a:buNone/>
                      </a:pPr>
                      <a:r>
                        <a:rPr lang="es-419" sz="1600"/>
                        <a:t>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1</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bl>
          </a:graphicData>
        </a:graphic>
      </p:graphicFrame>
      <p:sp>
        <p:nvSpPr>
          <p:cNvPr id="78" name="Google Shape;78;p14"/>
          <p:cNvSpPr txBox="1"/>
          <p:nvPr>
            <p:ph idx="1" type="body"/>
          </p:nvPr>
        </p:nvSpPr>
        <p:spPr>
          <a:xfrm>
            <a:off x="3933025" y="2613050"/>
            <a:ext cx="1887900" cy="1564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Char char="-"/>
            </a:pPr>
            <a:r>
              <a:rPr lang="es-419" sz="1600">
                <a:solidFill>
                  <a:srgbClr val="000000"/>
                </a:solidFill>
              </a:rPr>
              <a:t>Sum → 18</a:t>
            </a:r>
            <a:endParaRPr sz="1600">
              <a:solidFill>
                <a:srgbClr val="000000"/>
              </a:solidFill>
            </a:endParaRPr>
          </a:p>
          <a:p>
            <a:pPr indent="-330200" lvl="0" marL="457200" rtl="0" algn="l">
              <a:spcBef>
                <a:spcPts val="0"/>
              </a:spcBef>
              <a:spcAft>
                <a:spcPts val="0"/>
              </a:spcAft>
              <a:buClr>
                <a:srgbClr val="000000"/>
              </a:buClr>
              <a:buSzPts val="1600"/>
              <a:buChar char="-"/>
            </a:pPr>
            <a:r>
              <a:rPr lang="es-419" sz="1600">
                <a:solidFill>
                  <a:srgbClr val="000000"/>
                </a:solidFill>
              </a:rPr>
              <a:t>Min → 1</a:t>
            </a:r>
            <a:endParaRPr sz="1600">
              <a:solidFill>
                <a:srgbClr val="000000"/>
              </a:solidFill>
            </a:endParaRPr>
          </a:p>
          <a:p>
            <a:pPr indent="-330200" lvl="0" marL="457200" rtl="0" algn="l">
              <a:spcBef>
                <a:spcPts val="0"/>
              </a:spcBef>
              <a:spcAft>
                <a:spcPts val="0"/>
              </a:spcAft>
              <a:buClr>
                <a:srgbClr val="000000"/>
              </a:buClr>
              <a:buSzPts val="1600"/>
              <a:buChar char="-"/>
            </a:pPr>
            <a:r>
              <a:rPr lang="es-419" sz="1600">
                <a:solidFill>
                  <a:srgbClr val="000000"/>
                </a:solidFill>
              </a:rPr>
              <a:t>Max → 9</a:t>
            </a:r>
            <a:endParaRPr sz="1600">
              <a:solidFill>
                <a:srgbClr val="000000"/>
              </a:solidFill>
            </a:endParaRPr>
          </a:p>
          <a:p>
            <a:pPr indent="-330200" lvl="0" marL="457200" rtl="0" algn="l">
              <a:spcBef>
                <a:spcPts val="0"/>
              </a:spcBef>
              <a:spcAft>
                <a:spcPts val="0"/>
              </a:spcAft>
              <a:buClr>
                <a:srgbClr val="000000"/>
              </a:buClr>
              <a:buSzPts val="1600"/>
              <a:buChar char="-"/>
            </a:pPr>
            <a:r>
              <a:rPr lang="es-419" sz="1600">
                <a:solidFill>
                  <a:srgbClr val="000000"/>
                </a:solidFill>
              </a:rPr>
              <a:t>XOR → 12</a:t>
            </a:r>
            <a:endParaRPr sz="1600">
              <a:solidFill>
                <a:srgbClr val="000000"/>
              </a:solidFill>
            </a:endParaRPr>
          </a:p>
          <a:p>
            <a:pPr indent="-330200" lvl="0" marL="457200" rtl="0" algn="l">
              <a:spcBef>
                <a:spcPts val="0"/>
              </a:spcBef>
              <a:spcAft>
                <a:spcPts val="0"/>
              </a:spcAft>
              <a:buClr>
                <a:srgbClr val="000000"/>
              </a:buClr>
              <a:buSzPts val="1600"/>
              <a:buChar char="-"/>
            </a:pPr>
            <a:r>
              <a:rPr lang="es-419" sz="1600">
                <a:solidFill>
                  <a:srgbClr val="000000"/>
                </a:solidFill>
              </a:rPr>
              <a:t>Etc</a:t>
            </a:r>
            <a:endParaRPr sz="1600">
              <a:solidFill>
                <a:srgbClr val="000000"/>
              </a:solidFill>
            </a:endParaRPr>
          </a:p>
        </p:txBody>
      </p:sp>
      <p:graphicFrame>
        <p:nvGraphicFramePr>
          <p:cNvPr id="79" name="Google Shape;79;p14"/>
          <p:cNvGraphicFramePr/>
          <p:nvPr/>
        </p:nvGraphicFramePr>
        <p:xfrm>
          <a:off x="3968625" y="965650"/>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381000">
                <a:tc>
                  <a:txBody>
                    <a:bodyPr/>
                    <a:lstStyle/>
                    <a:p>
                      <a:pPr indent="0" lvl="0" marL="0" rtl="0" algn="ctr">
                        <a:spcBef>
                          <a:spcPts val="0"/>
                        </a:spcBef>
                        <a:spcAft>
                          <a:spcPts val="0"/>
                        </a:spcAft>
                        <a:buNone/>
                      </a:pPr>
                      <a:r>
                        <a:rPr lang="es-419" sz="1000"/>
                        <a:t>1</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2</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3</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4</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5</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6</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7</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8</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9</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10</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80" name="Google Shape;80;p14"/>
          <p:cNvSpPr/>
          <p:nvPr/>
        </p:nvSpPr>
        <p:spPr>
          <a:xfrm rot="5400000">
            <a:off x="4792375" y="1620044"/>
            <a:ext cx="169200" cy="18168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 name="Google Shape;81;p14"/>
          <p:cNvSpPr txBox="1"/>
          <p:nvPr/>
        </p:nvSpPr>
        <p:spPr>
          <a:xfrm>
            <a:off x="6041175" y="1916838"/>
            <a:ext cx="24657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419" sz="1600">
                <a:latin typeface="Roboto"/>
                <a:ea typeface="Roboto"/>
                <a:cs typeface="Roboto"/>
                <a:sym typeface="Roboto"/>
              </a:rPr>
              <a:t>Consulta al rango [1 .. 4]</a:t>
            </a:r>
            <a:endParaRPr/>
          </a:p>
        </p:txBody>
      </p:sp>
      <p:sp>
        <p:nvSpPr>
          <p:cNvPr id="82" name="Google Shape;82;p1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5"/>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sz="3200"/>
              <a:t>Rango Din</a:t>
            </a:r>
            <a:r>
              <a:rPr lang="es-419" sz="3200"/>
              <a:t>ámico</a:t>
            </a:r>
            <a:endParaRPr sz="3200"/>
          </a:p>
        </p:txBody>
      </p:sp>
      <p:sp>
        <p:nvSpPr>
          <p:cNvPr id="88" name="Google Shape;88;p15"/>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800"/>
              <a:t>Se trabaja con consultas y modificaciones de forma arbitraria.</a:t>
            </a:r>
            <a:endParaRPr sz="1800"/>
          </a:p>
          <a:p>
            <a:pPr indent="0" lvl="0" marL="0" rtl="0" algn="l">
              <a:spcBef>
                <a:spcPts val="1200"/>
              </a:spcBef>
              <a:spcAft>
                <a:spcPts val="1200"/>
              </a:spcAft>
              <a:buNone/>
            </a:pPr>
            <a:r>
              <a:rPr lang="es-419" sz="1800"/>
              <a:t>Modificaciones puntuales o en rango.</a:t>
            </a:r>
            <a:endParaRPr sz="1800"/>
          </a:p>
        </p:txBody>
      </p:sp>
      <p:graphicFrame>
        <p:nvGraphicFramePr>
          <p:cNvPr id="89" name="Google Shape;89;p15"/>
          <p:cNvGraphicFramePr/>
          <p:nvPr/>
        </p:nvGraphicFramePr>
        <p:xfrm>
          <a:off x="3968625" y="691725"/>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381000">
                <a:tc>
                  <a:txBody>
                    <a:bodyPr/>
                    <a:lstStyle/>
                    <a:p>
                      <a:pPr indent="0" lvl="0" marL="0" rtl="0" algn="ctr">
                        <a:spcBef>
                          <a:spcPts val="0"/>
                        </a:spcBef>
                        <a:spcAft>
                          <a:spcPts val="0"/>
                        </a:spcAft>
                        <a:buNone/>
                      </a:pPr>
                      <a:r>
                        <a:rPr lang="es-419" sz="1600"/>
                        <a:t>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1</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42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4</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8</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bl>
          </a:graphicData>
        </a:graphic>
      </p:graphicFrame>
      <p:sp>
        <p:nvSpPr>
          <p:cNvPr id="90" name="Google Shape;90;p15"/>
          <p:cNvSpPr/>
          <p:nvPr/>
        </p:nvSpPr>
        <p:spPr>
          <a:xfrm rot="-5400000">
            <a:off x="4841175" y="317350"/>
            <a:ext cx="52500" cy="1797600"/>
          </a:xfrm>
          <a:prstGeom prst="leftBracket">
            <a:avLst>
              <a:gd fmla="val 8333"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graphicFrame>
        <p:nvGraphicFramePr>
          <p:cNvPr id="91" name="Google Shape;91;p15"/>
          <p:cNvGraphicFramePr/>
          <p:nvPr/>
        </p:nvGraphicFramePr>
        <p:xfrm>
          <a:off x="3968625" y="1366525"/>
          <a:ext cx="3000000" cy="3000000"/>
        </p:xfrm>
        <a:graphic>
          <a:graphicData uri="http://schemas.openxmlformats.org/drawingml/2006/table">
            <a:tbl>
              <a:tblPr>
                <a:noFill/>
                <a:tableStyleId>{82B1C205-92B4-459F-ACDD-4BC05602446F}</a:tableStyleId>
              </a:tblPr>
              <a:tblGrid>
                <a:gridCol w="453825"/>
                <a:gridCol w="453825"/>
                <a:gridCol w="453825"/>
                <a:gridCol w="453825"/>
              </a:tblGrid>
              <a:tr h="381000">
                <a:tc>
                  <a:txBody>
                    <a:bodyPr/>
                    <a:lstStyle/>
                    <a:p>
                      <a:pPr indent="0" lvl="0" marL="0" rtl="0" algn="ctr">
                        <a:spcBef>
                          <a:spcPts val="0"/>
                        </a:spcBef>
                        <a:spcAft>
                          <a:spcPts val="0"/>
                        </a:spcAft>
                        <a:buNone/>
                      </a:pPr>
                      <a:r>
                        <a:rPr lang="es-419" sz="1600"/>
                        <a:t>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1</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bl>
          </a:graphicData>
        </a:graphic>
      </p:graphicFrame>
      <p:graphicFrame>
        <p:nvGraphicFramePr>
          <p:cNvPr id="92" name="Google Shape;92;p15"/>
          <p:cNvGraphicFramePr/>
          <p:nvPr/>
        </p:nvGraphicFramePr>
        <p:xfrm>
          <a:off x="3968625" y="413125"/>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381000">
                <a:tc>
                  <a:txBody>
                    <a:bodyPr/>
                    <a:lstStyle/>
                    <a:p>
                      <a:pPr indent="0" lvl="0" marL="0" rtl="0" algn="ctr">
                        <a:spcBef>
                          <a:spcPts val="0"/>
                        </a:spcBef>
                        <a:spcAft>
                          <a:spcPts val="0"/>
                        </a:spcAft>
                        <a:buNone/>
                      </a:pPr>
                      <a:r>
                        <a:rPr lang="es-419" sz="1000"/>
                        <a:t>1</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2</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3</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4</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5</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6</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7</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8</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9</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10</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3" name="Google Shape;93;p15"/>
          <p:cNvSpPr txBox="1"/>
          <p:nvPr/>
        </p:nvSpPr>
        <p:spPr>
          <a:xfrm>
            <a:off x="6041175" y="1364313"/>
            <a:ext cx="24657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419" sz="1600">
                <a:latin typeface="Roboto"/>
                <a:ea typeface="Roboto"/>
                <a:cs typeface="Roboto"/>
                <a:sym typeface="Roboto"/>
              </a:rPr>
              <a:t>Consulta al rango [1 .. 4]</a:t>
            </a:r>
            <a:endParaRPr/>
          </a:p>
        </p:txBody>
      </p:sp>
      <p:graphicFrame>
        <p:nvGraphicFramePr>
          <p:cNvPr id="94" name="Google Shape;94;p15"/>
          <p:cNvGraphicFramePr/>
          <p:nvPr/>
        </p:nvGraphicFramePr>
        <p:xfrm>
          <a:off x="3968625" y="2974600"/>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244050">
                <a:tc>
                  <a:txBody>
                    <a:bodyPr/>
                    <a:lstStyle/>
                    <a:p>
                      <a:pPr indent="0" lvl="0" marL="0" rtl="0" algn="ctr">
                        <a:spcBef>
                          <a:spcPts val="0"/>
                        </a:spcBef>
                        <a:spcAft>
                          <a:spcPts val="0"/>
                        </a:spcAft>
                        <a:buNone/>
                      </a:pPr>
                      <a:r>
                        <a:rPr lang="es-419" sz="1600"/>
                        <a:t>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1</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42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4</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8</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bl>
          </a:graphicData>
        </a:graphic>
      </p:graphicFrame>
      <p:graphicFrame>
        <p:nvGraphicFramePr>
          <p:cNvPr id="95" name="Google Shape;95;p15"/>
          <p:cNvGraphicFramePr/>
          <p:nvPr/>
        </p:nvGraphicFramePr>
        <p:xfrm>
          <a:off x="3968625" y="2696000"/>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381000">
                <a:tc>
                  <a:txBody>
                    <a:bodyPr/>
                    <a:lstStyle/>
                    <a:p>
                      <a:pPr indent="0" lvl="0" marL="0" rtl="0" algn="ctr">
                        <a:spcBef>
                          <a:spcPts val="0"/>
                        </a:spcBef>
                        <a:spcAft>
                          <a:spcPts val="0"/>
                        </a:spcAft>
                        <a:buNone/>
                      </a:pPr>
                      <a:r>
                        <a:rPr lang="es-419" sz="1000"/>
                        <a:t>1</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2</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3</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4</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5</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6</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7</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8</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9</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10</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6" name="Google Shape;96;p15"/>
          <p:cNvSpPr txBox="1"/>
          <p:nvPr/>
        </p:nvSpPr>
        <p:spPr>
          <a:xfrm>
            <a:off x="3968550" y="4299275"/>
            <a:ext cx="45384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419" sz="1600">
                <a:latin typeface="Roboto"/>
                <a:ea typeface="Roboto"/>
                <a:cs typeface="Roboto"/>
                <a:sym typeface="Roboto"/>
              </a:rPr>
              <a:t>Actualización del elemento 4</a:t>
            </a:r>
            <a:endParaRPr/>
          </a:p>
        </p:txBody>
      </p:sp>
      <p:graphicFrame>
        <p:nvGraphicFramePr>
          <p:cNvPr id="97" name="Google Shape;97;p15"/>
          <p:cNvGraphicFramePr/>
          <p:nvPr/>
        </p:nvGraphicFramePr>
        <p:xfrm>
          <a:off x="3968625" y="3679875"/>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381000">
                <a:tc>
                  <a:txBody>
                    <a:bodyPr/>
                    <a:lstStyle/>
                    <a:p>
                      <a:pPr indent="0" lvl="0" marL="0" rtl="0" algn="ctr">
                        <a:spcBef>
                          <a:spcPts val="0"/>
                        </a:spcBef>
                        <a:spcAft>
                          <a:spcPts val="0"/>
                        </a:spcAft>
                        <a:buNone/>
                      </a:pPr>
                      <a:r>
                        <a:rPr lang="es-419" sz="1600"/>
                        <a:t>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19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s-419" sz="1600"/>
                        <a:t>42</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4</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67</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9</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s-419" sz="1600"/>
                        <a:t>8</a:t>
                      </a:r>
                      <a:endParaRPr sz="16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bl>
          </a:graphicData>
        </a:graphic>
      </p:graphicFrame>
      <p:graphicFrame>
        <p:nvGraphicFramePr>
          <p:cNvPr id="98" name="Google Shape;98;p15"/>
          <p:cNvGraphicFramePr/>
          <p:nvPr/>
        </p:nvGraphicFramePr>
        <p:xfrm>
          <a:off x="3968625" y="3401275"/>
          <a:ext cx="3000000" cy="3000000"/>
        </p:xfrm>
        <a:graphic>
          <a:graphicData uri="http://schemas.openxmlformats.org/drawingml/2006/table">
            <a:tbl>
              <a:tblPr>
                <a:noFill/>
                <a:tableStyleId>{82B1C205-92B4-459F-ACDD-4BC05602446F}</a:tableStyleId>
              </a:tblPr>
              <a:tblGrid>
                <a:gridCol w="453825"/>
                <a:gridCol w="453825"/>
                <a:gridCol w="453825"/>
                <a:gridCol w="453825"/>
                <a:gridCol w="453825"/>
                <a:gridCol w="453825"/>
                <a:gridCol w="453825"/>
                <a:gridCol w="453825"/>
                <a:gridCol w="453825"/>
                <a:gridCol w="453825"/>
              </a:tblGrid>
              <a:tr h="381000">
                <a:tc>
                  <a:txBody>
                    <a:bodyPr/>
                    <a:lstStyle/>
                    <a:p>
                      <a:pPr indent="0" lvl="0" marL="0" rtl="0" algn="ctr">
                        <a:spcBef>
                          <a:spcPts val="0"/>
                        </a:spcBef>
                        <a:spcAft>
                          <a:spcPts val="0"/>
                        </a:spcAft>
                        <a:buNone/>
                      </a:pPr>
                      <a:r>
                        <a:rPr lang="es-419" sz="1000"/>
                        <a:t>1</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2</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3</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4</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5</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6</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7</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8</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9</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000"/>
                        <a:t>10</a:t>
                      </a:r>
                      <a:endParaRPr sz="1000"/>
                    </a:p>
                  </a:txBody>
                  <a:tcPr marT="91425" marB="91425" marR="91425" marL="91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9" name="Google Shape;99;p1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Durante la cursada…</a:t>
            </a:r>
            <a:endParaRPr sz="2000"/>
          </a:p>
        </p:txBody>
      </p:sp>
      <p:sp>
        <p:nvSpPr>
          <p:cNvPr id="105" name="Google Shape;105;p16"/>
          <p:cNvSpPr txBox="1"/>
          <p:nvPr>
            <p:ph idx="4294967295" type="body"/>
          </p:nvPr>
        </p:nvSpPr>
        <p:spPr>
          <a:xfrm>
            <a:off x="471900" y="809875"/>
            <a:ext cx="8222100" cy="40839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s-419" sz="1900"/>
              <a:t>Sin t</a:t>
            </a:r>
            <a:r>
              <a:rPr lang="es-419" sz="1900"/>
              <a:t>écnica para rangos estáticos</a:t>
            </a:r>
            <a:endParaRPr sz="1900"/>
          </a:p>
          <a:p>
            <a:pPr indent="0" lvl="0" marL="45720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349250" lvl="0" marL="457200" rtl="0" algn="l">
              <a:spcBef>
                <a:spcPts val="1000"/>
              </a:spcBef>
              <a:spcAft>
                <a:spcPts val="1000"/>
              </a:spcAft>
              <a:buSzPts val="1900"/>
              <a:buChar char="➔"/>
            </a:pPr>
            <a:r>
              <a:rPr lang="es-419" sz="1900"/>
              <a:t>Sin t</a:t>
            </a:r>
            <a:r>
              <a:rPr lang="es-419" sz="1900"/>
              <a:t>écnica para rangos dinámicos</a:t>
            </a:r>
            <a:endParaRPr sz="1900"/>
          </a:p>
        </p:txBody>
      </p:sp>
      <p:graphicFrame>
        <p:nvGraphicFramePr>
          <p:cNvPr id="106" name="Google Shape;106;p16"/>
          <p:cNvGraphicFramePr/>
          <p:nvPr/>
        </p:nvGraphicFramePr>
        <p:xfrm>
          <a:off x="228791" y="1331165"/>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9</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3</a:t>
                      </a:r>
                      <a:endParaRPr/>
                    </a:p>
                  </a:txBody>
                  <a:tcPr marT="91425" marB="91425" marR="91425" marL="91425" anchor="ctr"/>
                </a:tc>
                <a:tc>
                  <a:txBody>
                    <a:bodyPr/>
                    <a:lstStyle/>
                    <a:p>
                      <a:pPr indent="0" lvl="0" marL="0" rtl="0" algn="ctr">
                        <a:spcBef>
                          <a:spcPts val="0"/>
                        </a:spcBef>
                        <a:spcAft>
                          <a:spcPts val="0"/>
                        </a:spcAft>
                        <a:buNone/>
                      </a:pPr>
                      <a:r>
                        <a:rPr lang="es-419"/>
                        <a:t>5</a:t>
                      </a:r>
                      <a:endParaRPr/>
                    </a:p>
                  </a:txBody>
                  <a:tcPr marT="91425" marB="91425" marR="91425" marL="91425" anchor="ctr"/>
                </a:tc>
              </a:tr>
            </a:tbl>
          </a:graphicData>
        </a:graphic>
      </p:graphicFrame>
      <p:sp>
        <p:nvSpPr>
          <p:cNvPr id="107" name="Google Shape;107;p16"/>
          <p:cNvSpPr/>
          <p:nvPr/>
        </p:nvSpPr>
        <p:spPr>
          <a:xfrm rot="5400000">
            <a:off x="960625" y="1606852"/>
            <a:ext cx="413700" cy="783900"/>
          </a:xfrm>
          <a:prstGeom prst="bentUpArrow">
            <a:avLst>
              <a:gd fmla="val 25000" name="adj1"/>
              <a:gd fmla="val 25000" name="adj2"/>
              <a:gd fmla="val 25000" name="adj3"/>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graphicFrame>
        <p:nvGraphicFramePr>
          <p:cNvPr id="108" name="Google Shape;108;p16"/>
          <p:cNvGraphicFramePr/>
          <p:nvPr/>
        </p:nvGraphicFramePr>
        <p:xfrm>
          <a:off x="247191" y="3077443"/>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9</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3</a:t>
                      </a:r>
                      <a:endParaRPr/>
                    </a:p>
                  </a:txBody>
                  <a:tcPr marT="91425" marB="91425" marR="91425" marL="91425" anchor="ctr"/>
                </a:tc>
                <a:tc>
                  <a:txBody>
                    <a:bodyPr/>
                    <a:lstStyle/>
                    <a:p>
                      <a:pPr indent="0" lvl="0" marL="0" rtl="0" algn="ctr">
                        <a:spcBef>
                          <a:spcPts val="0"/>
                        </a:spcBef>
                        <a:spcAft>
                          <a:spcPts val="0"/>
                        </a:spcAft>
                        <a:buNone/>
                      </a:pPr>
                      <a:r>
                        <a:rPr lang="es-419"/>
                        <a:t>5</a:t>
                      </a:r>
                      <a:endParaRPr/>
                    </a:p>
                  </a:txBody>
                  <a:tcPr marT="91425" marB="91425" marR="91425" marL="91425" anchor="ctr"/>
                </a:tc>
              </a:tr>
            </a:tbl>
          </a:graphicData>
        </a:graphic>
      </p:graphicFrame>
      <p:sp>
        <p:nvSpPr>
          <p:cNvPr id="109" name="Google Shape;109;p16"/>
          <p:cNvSpPr/>
          <p:nvPr/>
        </p:nvSpPr>
        <p:spPr>
          <a:xfrm rot="5400000">
            <a:off x="822575" y="3509576"/>
            <a:ext cx="726600" cy="783900"/>
          </a:xfrm>
          <a:prstGeom prst="bentUpArrow">
            <a:avLst>
              <a:gd fmla="val 25000" name="adj1"/>
              <a:gd fmla="val 25000" name="adj2"/>
              <a:gd fmla="val 25000" name="adj3"/>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0" name="Google Shape;110;p16"/>
          <p:cNvSpPr txBox="1"/>
          <p:nvPr/>
        </p:nvSpPr>
        <p:spPr>
          <a:xfrm>
            <a:off x="1676600" y="1883275"/>
            <a:ext cx="1707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900">
                <a:solidFill>
                  <a:schemeClr val="lt2"/>
                </a:solidFill>
                <a:latin typeface="Roboto"/>
                <a:ea typeface="Roboto"/>
                <a:cs typeface="Roboto"/>
                <a:sym typeface="Roboto"/>
              </a:rPr>
              <a:t>Query → O(n)</a:t>
            </a:r>
            <a:endParaRPr sz="1900">
              <a:solidFill>
                <a:schemeClr val="lt2"/>
              </a:solidFill>
              <a:latin typeface="Roboto"/>
              <a:ea typeface="Roboto"/>
              <a:cs typeface="Roboto"/>
              <a:sym typeface="Roboto"/>
            </a:endParaRPr>
          </a:p>
        </p:txBody>
      </p:sp>
      <p:sp>
        <p:nvSpPr>
          <p:cNvPr id="111" name="Google Shape;111;p16"/>
          <p:cNvSpPr txBox="1"/>
          <p:nvPr/>
        </p:nvSpPr>
        <p:spPr>
          <a:xfrm>
            <a:off x="1695000" y="3742250"/>
            <a:ext cx="2091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900">
                <a:solidFill>
                  <a:schemeClr val="lt2"/>
                </a:solidFill>
                <a:latin typeface="Roboto"/>
                <a:ea typeface="Roboto"/>
                <a:cs typeface="Roboto"/>
                <a:sym typeface="Roboto"/>
              </a:rPr>
              <a:t>Query → O(n)</a:t>
            </a:r>
            <a:endParaRPr sz="1900">
              <a:solidFill>
                <a:schemeClr val="lt2"/>
              </a:solidFill>
              <a:latin typeface="Roboto"/>
              <a:ea typeface="Roboto"/>
              <a:cs typeface="Roboto"/>
              <a:sym typeface="Roboto"/>
            </a:endParaRPr>
          </a:p>
          <a:p>
            <a:pPr indent="0" lvl="0" marL="0" rtl="0" algn="l">
              <a:spcBef>
                <a:spcPts val="0"/>
              </a:spcBef>
              <a:spcAft>
                <a:spcPts val="0"/>
              </a:spcAft>
              <a:buNone/>
            </a:pPr>
            <a:r>
              <a:rPr lang="es-419" sz="1900">
                <a:solidFill>
                  <a:schemeClr val="lt2"/>
                </a:solidFill>
                <a:latin typeface="Roboto"/>
                <a:ea typeface="Roboto"/>
                <a:cs typeface="Roboto"/>
                <a:sym typeface="Roboto"/>
              </a:rPr>
              <a:t>Update → O(1)</a:t>
            </a:r>
            <a:endParaRPr sz="1900">
              <a:solidFill>
                <a:schemeClr val="lt2"/>
              </a:solidFill>
              <a:latin typeface="Roboto"/>
              <a:ea typeface="Roboto"/>
              <a:cs typeface="Roboto"/>
              <a:sym typeface="Roboto"/>
            </a:endParaRPr>
          </a:p>
        </p:txBody>
      </p:sp>
      <p:sp>
        <p:nvSpPr>
          <p:cNvPr id="112" name="Google Shape;112;p1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Durante la cursada…</a:t>
            </a:r>
            <a:endParaRPr sz="2000"/>
          </a:p>
        </p:txBody>
      </p:sp>
      <p:sp>
        <p:nvSpPr>
          <p:cNvPr id="118" name="Google Shape;118;p17"/>
          <p:cNvSpPr txBox="1"/>
          <p:nvPr>
            <p:ph idx="4294967295" type="body"/>
          </p:nvPr>
        </p:nvSpPr>
        <p:spPr>
          <a:xfrm>
            <a:off x="471900" y="809875"/>
            <a:ext cx="8222100" cy="4083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RSQ para rangos estáticos</a:t>
            </a:r>
            <a:endParaRPr/>
          </a:p>
          <a:p>
            <a:pPr indent="0" lvl="0" marL="45720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342900" lvl="0" marL="457200" rtl="0" algn="l">
              <a:spcBef>
                <a:spcPts val="1000"/>
              </a:spcBef>
              <a:spcAft>
                <a:spcPts val="1000"/>
              </a:spcAft>
              <a:buSzPts val="1800"/>
              <a:buChar char="➔"/>
            </a:pPr>
            <a:r>
              <a:rPr lang="es-419"/>
              <a:t>RSQ con actualización “lazy” de los elementos para rangos </a:t>
            </a:r>
            <a:r>
              <a:rPr lang="es-419"/>
              <a:t>dinámicos</a:t>
            </a:r>
            <a:endParaRPr/>
          </a:p>
        </p:txBody>
      </p:sp>
      <p:graphicFrame>
        <p:nvGraphicFramePr>
          <p:cNvPr id="119" name="Google Shape;119;p17"/>
          <p:cNvGraphicFramePr/>
          <p:nvPr/>
        </p:nvGraphicFramePr>
        <p:xfrm>
          <a:off x="228791" y="1331165"/>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9</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3</a:t>
                      </a:r>
                      <a:endParaRPr/>
                    </a:p>
                  </a:txBody>
                  <a:tcPr marT="91425" marB="91425" marR="91425" marL="91425" anchor="ctr"/>
                </a:tc>
                <a:tc>
                  <a:txBody>
                    <a:bodyPr/>
                    <a:lstStyle/>
                    <a:p>
                      <a:pPr indent="0" lvl="0" marL="0" rtl="0" algn="ctr">
                        <a:spcBef>
                          <a:spcPts val="0"/>
                        </a:spcBef>
                        <a:spcAft>
                          <a:spcPts val="0"/>
                        </a:spcAft>
                        <a:buNone/>
                      </a:pPr>
                      <a:r>
                        <a:rPr lang="es-419"/>
                        <a:t>5</a:t>
                      </a:r>
                      <a:endParaRPr/>
                    </a:p>
                  </a:txBody>
                  <a:tcPr marT="91425" marB="91425" marR="91425" marL="91425" anchor="ctr"/>
                </a:tc>
              </a:tr>
            </a:tbl>
          </a:graphicData>
        </a:graphic>
      </p:graphicFrame>
      <p:graphicFrame>
        <p:nvGraphicFramePr>
          <p:cNvPr id="120" name="Google Shape;120;p17"/>
          <p:cNvGraphicFramePr/>
          <p:nvPr/>
        </p:nvGraphicFramePr>
        <p:xfrm>
          <a:off x="1661312" y="1879880"/>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(7+9) = 16</a:t>
                      </a:r>
                      <a:endParaRPr/>
                    </a:p>
                  </a:txBody>
                  <a:tcPr marT="91425" marB="91425" marR="91425" marL="91425" anchor="ctr"/>
                </a:tc>
                <a:tc>
                  <a:txBody>
                    <a:bodyPr/>
                    <a:lstStyle/>
                    <a:p>
                      <a:pPr indent="0" lvl="0" marL="0" rtl="0" algn="ctr">
                        <a:spcBef>
                          <a:spcPts val="0"/>
                        </a:spcBef>
                        <a:spcAft>
                          <a:spcPts val="0"/>
                        </a:spcAft>
                        <a:buNone/>
                      </a:pPr>
                      <a:r>
                        <a:rPr lang="es-419"/>
                        <a:t>(16+4) = 20</a:t>
                      </a:r>
                      <a:endParaRPr/>
                    </a:p>
                  </a:txBody>
                  <a:tcPr marT="91425" marB="91425" marR="91425" marL="91425" anchor="ctr"/>
                </a:tc>
                <a:tc>
                  <a:txBody>
                    <a:bodyPr/>
                    <a:lstStyle/>
                    <a:p>
                      <a:pPr indent="0" lvl="0" marL="0" rtl="0" algn="ctr">
                        <a:spcBef>
                          <a:spcPts val="0"/>
                        </a:spcBef>
                        <a:spcAft>
                          <a:spcPts val="0"/>
                        </a:spcAft>
                        <a:buNone/>
                      </a:pPr>
                      <a:r>
                        <a:rPr lang="es-419"/>
                        <a:t>(20+3) = 23</a:t>
                      </a:r>
                      <a:endParaRPr/>
                    </a:p>
                  </a:txBody>
                  <a:tcPr marT="91425" marB="91425" marR="91425" marL="91425" anchor="ctr"/>
                </a:tc>
                <a:tc>
                  <a:txBody>
                    <a:bodyPr/>
                    <a:lstStyle/>
                    <a:p>
                      <a:pPr indent="0" lvl="0" marL="0" rtl="0" algn="ctr">
                        <a:spcBef>
                          <a:spcPts val="0"/>
                        </a:spcBef>
                        <a:spcAft>
                          <a:spcPts val="0"/>
                        </a:spcAft>
                        <a:buNone/>
                      </a:pPr>
                      <a:r>
                        <a:rPr lang="es-419"/>
                        <a:t>(23+5) = 28</a:t>
                      </a:r>
                      <a:endParaRPr/>
                    </a:p>
                  </a:txBody>
                  <a:tcPr marT="91425" marB="91425" marR="91425" marL="91425" anchor="ctr"/>
                </a:tc>
              </a:tr>
            </a:tbl>
          </a:graphicData>
        </a:graphic>
      </p:graphicFrame>
      <p:sp>
        <p:nvSpPr>
          <p:cNvPr id="121" name="Google Shape;121;p17"/>
          <p:cNvSpPr/>
          <p:nvPr/>
        </p:nvSpPr>
        <p:spPr>
          <a:xfrm rot="5400000">
            <a:off x="960625" y="1606852"/>
            <a:ext cx="413700" cy="783900"/>
          </a:xfrm>
          <a:prstGeom prst="bentUpArrow">
            <a:avLst>
              <a:gd fmla="val 25000" name="adj1"/>
              <a:gd fmla="val 25000" name="adj2"/>
              <a:gd fmla="val 25000" name="adj3"/>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graphicFrame>
        <p:nvGraphicFramePr>
          <p:cNvPr id="122" name="Google Shape;122;p17"/>
          <p:cNvGraphicFramePr/>
          <p:nvPr/>
        </p:nvGraphicFramePr>
        <p:xfrm>
          <a:off x="247191" y="3077443"/>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9</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3</a:t>
                      </a:r>
                      <a:endParaRPr/>
                    </a:p>
                  </a:txBody>
                  <a:tcPr marT="91425" marB="91425" marR="91425" marL="91425" anchor="ctr"/>
                </a:tc>
                <a:tc>
                  <a:txBody>
                    <a:bodyPr/>
                    <a:lstStyle/>
                    <a:p>
                      <a:pPr indent="0" lvl="0" marL="0" rtl="0" algn="ctr">
                        <a:spcBef>
                          <a:spcPts val="0"/>
                        </a:spcBef>
                        <a:spcAft>
                          <a:spcPts val="0"/>
                        </a:spcAft>
                        <a:buNone/>
                      </a:pPr>
                      <a:r>
                        <a:rPr lang="es-419"/>
                        <a:t>5</a:t>
                      </a:r>
                      <a:endParaRPr/>
                    </a:p>
                  </a:txBody>
                  <a:tcPr marT="91425" marB="91425" marR="91425" marL="91425" anchor="ctr"/>
                </a:tc>
              </a:tr>
            </a:tbl>
          </a:graphicData>
        </a:graphic>
      </p:graphicFrame>
      <p:graphicFrame>
        <p:nvGraphicFramePr>
          <p:cNvPr id="123" name="Google Shape;123;p17"/>
          <p:cNvGraphicFramePr/>
          <p:nvPr/>
        </p:nvGraphicFramePr>
        <p:xfrm>
          <a:off x="1679712" y="3626158"/>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0</a:t>
                      </a:r>
                      <a:endParaRPr/>
                    </a:p>
                  </a:txBody>
                  <a:tcPr marT="91425" marB="91425" marR="91425" marL="91425" anchor="ctr"/>
                </a:tc>
                <a:tc>
                  <a:txBody>
                    <a:bodyPr/>
                    <a:lstStyle/>
                    <a:p>
                      <a:pPr indent="0" lvl="0" marL="0" rtl="0" algn="ctr">
                        <a:spcBef>
                          <a:spcPts val="0"/>
                        </a:spcBef>
                        <a:spcAft>
                          <a:spcPts val="0"/>
                        </a:spcAft>
                        <a:buNone/>
                      </a:pPr>
                      <a:r>
                        <a:rPr lang="es-419"/>
                        <a:t>2</a:t>
                      </a:r>
                      <a:endParaRPr/>
                    </a:p>
                  </a:txBody>
                  <a:tcPr marT="91425" marB="91425" marR="91425" marL="91425" anchor="ctr"/>
                </a:tc>
                <a:tc>
                  <a:txBody>
                    <a:bodyPr/>
                    <a:lstStyle/>
                    <a:p>
                      <a:pPr indent="0" lvl="0" marL="0" rtl="0" algn="ctr">
                        <a:spcBef>
                          <a:spcPts val="0"/>
                        </a:spcBef>
                        <a:spcAft>
                          <a:spcPts val="0"/>
                        </a:spcAft>
                        <a:buNone/>
                      </a:pPr>
                      <a:r>
                        <a:rPr lang="es-419"/>
                        <a:t>0</a:t>
                      </a:r>
                      <a:endParaRPr/>
                    </a:p>
                  </a:txBody>
                  <a:tcPr marT="91425" marB="91425" marR="91425" marL="91425" anchor="ctr"/>
                </a:tc>
                <a:tc>
                  <a:txBody>
                    <a:bodyPr/>
                    <a:lstStyle/>
                    <a:p>
                      <a:pPr indent="0" lvl="0" marL="0" rtl="0" algn="ctr">
                        <a:spcBef>
                          <a:spcPts val="0"/>
                        </a:spcBef>
                        <a:spcAft>
                          <a:spcPts val="0"/>
                        </a:spcAft>
                        <a:buNone/>
                      </a:pPr>
                      <a:r>
                        <a:rPr lang="es-419"/>
                        <a:t>-2</a:t>
                      </a:r>
                      <a:endParaRPr/>
                    </a:p>
                  </a:txBody>
                  <a:tcPr marT="91425" marB="91425" marR="91425" marL="91425" anchor="ctr"/>
                </a:tc>
                <a:tc>
                  <a:txBody>
                    <a:bodyPr/>
                    <a:lstStyle/>
                    <a:p>
                      <a:pPr indent="0" lvl="0" marL="0" rtl="0" algn="ctr">
                        <a:spcBef>
                          <a:spcPts val="0"/>
                        </a:spcBef>
                        <a:spcAft>
                          <a:spcPts val="0"/>
                        </a:spcAft>
                        <a:buNone/>
                      </a:pPr>
                      <a:r>
                        <a:rPr lang="es-419"/>
                        <a:t>0</a:t>
                      </a:r>
                      <a:endParaRPr/>
                    </a:p>
                  </a:txBody>
                  <a:tcPr marT="91425" marB="91425" marR="91425" marL="91425" anchor="ctr"/>
                </a:tc>
              </a:tr>
            </a:tbl>
          </a:graphicData>
        </a:graphic>
      </p:graphicFrame>
      <p:sp>
        <p:nvSpPr>
          <p:cNvPr id="124" name="Google Shape;124;p17"/>
          <p:cNvSpPr/>
          <p:nvPr/>
        </p:nvSpPr>
        <p:spPr>
          <a:xfrm rot="5400000">
            <a:off x="822575" y="3509576"/>
            <a:ext cx="726600" cy="783900"/>
          </a:xfrm>
          <a:prstGeom prst="bentUpArrow">
            <a:avLst>
              <a:gd fmla="val 25000" name="adj1"/>
              <a:gd fmla="val 25000" name="adj2"/>
              <a:gd fmla="val 25000" name="adj3"/>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graphicFrame>
        <p:nvGraphicFramePr>
          <p:cNvPr id="125" name="Google Shape;125;p17"/>
          <p:cNvGraphicFramePr/>
          <p:nvPr/>
        </p:nvGraphicFramePr>
        <p:xfrm>
          <a:off x="1677031" y="4157643"/>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(7+9+2) = 18</a:t>
                      </a:r>
                      <a:endParaRPr/>
                    </a:p>
                  </a:txBody>
                  <a:tcPr marT="91425" marB="91425" marR="91425" marL="91425" anchor="ctr"/>
                </a:tc>
                <a:tc>
                  <a:txBody>
                    <a:bodyPr/>
                    <a:lstStyle/>
                    <a:p>
                      <a:pPr indent="0" lvl="0" marL="0" rtl="0" algn="ctr">
                        <a:spcBef>
                          <a:spcPts val="0"/>
                        </a:spcBef>
                        <a:spcAft>
                          <a:spcPts val="0"/>
                        </a:spcAft>
                        <a:buNone/>
                      </a:pPr>
                      <a:r>
                        <a:rPr lang="es-419"/>
                        <a:t>(18+4+2) = 24</a:t>
                      </a:r>
                      <a:endParaRPr/>
                    </a:p>
                  </a:txBody>
                  <a:tcPr marT="91425" marB="91425" marR="91425" marL="91425" anchor="ctr"/>
                </a:tc>
                <a:tc>
                  <a:txBody>
                    <a:bodyPr/>
                    <a:lstStyle/>
                    <a:p>
                      <a:pPr indent="0" lvl="0" marL="0" rtl="0" algn="ctr">
                        <a:spcBef>
                          <a:spcPts val="0"/>
                        </a:spcBef>
                        <a:spcAft>
                          <a:spcPts val="0"/>
                        </a:spcAft>
                        <a:buNone/>
                      </a:pPr>
                      <a:r>
                        <a:rPr lang="es-419"/>
                        <a:t>(24+3) = 27</a:t>
                      </a:r>
                      <a:endParaRPr/>
                    </a:p>
                  </a:txBody>
                  <a:tcPr marT="91425" marB="91425" marR="91425" marL="91425" anchor="ctr"/>
                </a:tc>
                <a:tc>
                  <a:txBody>
                    <a:bodyPr/>
                    <a:lstStyle/>
                    <a:p>
                      <a:pPr indent="0" lvl="0" marL="0" rtl="0" algn="ctr">
                        <a:spcBef>
                          <a:spcPts val="0"/>
                        </a:spcBef>
                        <a:spcAft>
                          <a:spcPts val="0"/>
                        </a:spcAft>
                        <a:buNone/>
                      </a:pPr>
                      <a:r>
                        <a:rPr lang="es-419"/>
                        <a:t>(27+5) = 32</a:t>
                      </a:r>
                      <a:endParaRPr/>
                    </a:p>
                  </a:txBody>
                  <a:tcPr marT="91425" marB="91425" marR="91425" marL="91425" anchor="ctr"/>
                </a:tc>
              </a:tr>
            </a:tbl>
          </a:graphicData>
        </a:graphic>
      </p:graphicFrame>
      <p:sp>
        <p:nvSpPr>
          <p:cNvPr id="126" name="Google Shape;126;p17"/>
          <p:cNvSpPr txBox="1"/>
          <p:nvPr/>
        </p:nvSpPr>
        <p:spPr>
          <a:xfrm>
            <a:off x="1676600" y="2276075"/>
            <a:ext cx="434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Query → O(1)	;	Update → O(n)</a:t>
            </a:r>
            <a:endParaRPr sz="1800">
              <a:solidFill>
                <a:schemeClr val="lt2"/>
              </a:solidFill>
              <a:latin typeface="Roboto"/>
              <a:ea typeface="Roboto"/>
              <a:cs typeface="Roboto"/>
              <a:sym typeface="Roboto"/>
            </a:endParaRPr>
          </a:p>
        </p:txBody>
      </p:sp>
      <p:sp>
        <p:nvSpPr>
          <p:cNvPr id="127" name="Google Shape;127;p17"/>
          <p:cNvSpPr txBox="1"/>
          <p:nvPr/>
        </p:nvSpPr>
        <p:spPr>
          <a:xfrm>
            <a:off x="1676600" y="4553850"/>
            <a:ext cx="724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Query → O(1)	;	Update → O(n) pero se hace solo una vez</a:t>
            </a:r>
            <a:endParaRPr sz="1800">
              <a:solidFill>
                <a:schemeClr val="lt2"/>
              </a:solidFill>
              <a:latin typeface="Roboto"/>
              <a:ea typeface="Roboto"/>
              <a:cs typeface="Roboto"/>
              <a:sym typeface="Roboto"/>
            </a:endParaRPr>
          </a:p>
        </p:txBody>
      </p:sp>
      <p:sp>
        <p:nvSpPr>
          <p:cNvPr id="128" name="Google Shape;128;p1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Durante la cursada…</a:t>
            </a:r>
            <a:endParaRPr sz="2000"/>
          </a:p>
        </p:txBody>
      </p:sp>
      <p:sp>
        <p:nvSpPr>
          <p:cNvPr id="134" name="Google Shape;134;p18"/>
          <p:cNvSpPr txBox="1"/>
          <p:nvPr>
            <p:ph idx="4294967295" type="body"/>
          </p:nvPr>
        </p:nvSpPr>
        <p:spPr>
          <a:xfrm>
            <a:off x="471900" y="809875"/>
            <a:ext cx="8222100" cy="4083900"/>
          </a:xfrm>
          <a:prstGeom prst="rect">
            <a:avLst/>
          </a:prstGeom>
        </p:spPr>
        <p:txBody>
          <a:bodyPr anchorCtr="0" anchor="t" bIns="91425" lIns="91425" spcFirstLastPara="1" rIns="91425" wrap="square" tIns="91425">
            <a:noAutofit/>
          </a:bodyPr>
          <a:lstStyle/>
          <a:p>
            <a:pPr indent="-332105" lvl="0" marL="457200" rtl="0" algn="l">
              <a:lnSpc>
                <a:spcPct val="95000"/>
              </a:lnSpc>
              <a:spcBef>
                <a:spcPts val="0"/>
              </a:spcBef>
              <a:spcAft>
                <a:spcPts val="0"/>
              </a:spcAft>
              <a:buSzPts val="1630"/>
              <a:buChar char="➔"/>
            </a:pPr>
            <a:r>
              <a:rPr lang="es-419" sz="1630"/>
              <a:t>RSQ para rangos din</a:t>
            </a:r>
            <a:r>
              <a:rPr lang="es-419" sz="1630"/>
              <a:t>ámicos</a:t>
            </a:r>
            <a:endParaRPr sz="1630"/>
          </a:p>
          <a:p>
            <a:pPr indent="0" lvl="0" marL="457200" rtl="0" algn="l">
              <a:lnSpc>
                <a:spcPct val="95000"/>
              </a:lnSpc>
              <a:spcBef>
                <a:spcPts val="1000"/>
              </a:spcBef>
              <a:spcAft>
                <a:spcPts val="0"/>
              </a:spcAft>
              <a:buSzPts val="935"/>
              <a:buNone/>
            </a:pPr>
            <a:r>
              <a:t/>
            </a:r>
            <a:endParaRPr sz="1630"/>
          </a:p>
          <a:p>
            <a:pPr indent="0" lvl="0" marL="0" rtl="0" algn="l">
              <a:lnSpc>
                <a:spcPct val="95000"/>
              </a:lnSpc>
              <a:spcBef>
                <a:spcPts val="1000"/>
              </a:spcBef>
              <a:spcAft>
                <a:spcPts val="0"/>
              </a:spcAft>
              <a:buSzPts val="935"/>
              <a:buNone/>
            </a:pPr>
            <a:r>
              <a:rPr lang="es-419" sz="1630"/>
              <a:t> </a:t>
            </a:r>
            <a:endParaRPr sz="1630"/>
          </a:p>
          <a:p>
            <a:pPr indent="0" lvl="0" marL="0" rtl="0" algn="l">
              <a:lnSpc>
                <a:spcPct val="95000"/>
              </a:lnSpc>
              <a:spcBef>
                <a:spcPts val="1000"/>
              </a:spcBef>
              <a:spcAft>
                <a:spcPts val="0"/>
              </a:spcAft>
              <a:buSzPts val="935"/>
              <a:buNone/>
            </a:pPr>
            <a:r>
              <a:rPr lang="es-419" sz="1630"/>
              <a:t> </a:t>
            </a:r>
            <a:endParaRPr sz="1630"/>
          </a:p>
          <a:p>
            <a:pPr indent="0" lvl="0" marL="0" rtl="0" algn="l">
              <a:lnSpc>
                <a:spcPct val="95000"/>
              </a:lnSpc>
              <a:spcBef>
                <a:spcPts val="1000"/>
              </a:spcBef>
              <a:spcAft>
                <a:spcPts val="0"/>
              </a:spcAft>
              <a:buSzPts val="935"/>
              <a:buNone/>
            </a:pPr>
            <a:r>
              <a:rPr lang="es-419" sz="1630"/>
              <a:t> </a:t>
            </a:r>
            <a:endParaRPr sz="1630"/>
          </a:p>
          <a:p>
            <a:pPr indent="0" lvl="0" marL="0" rtl="0" algn="l">
              <a:lnSpc>
                <a:spcPct val="95000"/>
              </a:lnSpc>
              <a:spcBef>
                <a:spcPts val="1000"/>
              </a:spcBef>
              <a:spcAft>
                <a:spcPts val="0"/>
              </a:spcAft>
              <a:buSzPts val="935"/>
              <a:buNone/>
            </a:pPr>
            <a:r>
              <a:t/>
            </a:r>
            <a:endParaRPr sz="1630"/>
          </a:p>
          <a:p>
            <a:pPr indent="-332105" lvl="0" marL="457200" rtl="0" algn="l">
              <a:lnSpc>
                <a:spcPct val="95000"/>
              </a:lnSpc>
              <a:spcBef>
                <a:spcPts val="1000"/>
              </a:spcBef>
              <a:spcAft>
                <a:spcPts val="0"/>
              </a:spcAft>
              <a:buSzPts val="1630"/>
              <a:buChar char="➔"/>
            </a:pPr>
            <a:r>
              <a:rPr lang="es-419" sz="1630"/>
              <a:t>Sin técnica para rangos dinámicos</a:t>
            </a:r>
            <a:endParaRPr sz="1630"/>
          </a:p>
          <a:p>
            <a:pPr indent="0" lvl="0" marL="457200" rtl="0" algn="l">
              <a:lnSpc>
                <a:spcPct val="95000"/>
              </a:lnSpc>
              <a:spcBef>
                <a:spcPts val="1000"/>
              </a:spcBef>
              <a:spcAft>
                <a:spcPts val="0"/>
              </a:spcAft>
              <a:buSzPts val="935"/>
              <a:buNone/>
            </a:pPr>
            <a:r>
              <a:t/>
            </a:r>
            <a:endParaRPr sz="1630"/>
          </a:p>
          <a:p>
            <a:pPr indent="0" lvl="0" marL="0" rtl="0" algn="l">
              <a:lnSpc>
                <a:spcPct val="95000"/>
              </a:lnSpc>
              <a:spcBef>
                <a:spcPts val="1000"/>
              </a:spcBef>
              <a:spcAft>
                <a:spcPts val="0"/>
              </a:spcAft>
              <a:buSzPts val="935"/>
              <a:buNone/>
            </a:pPr>
            <a:r>
              <a:t/>
            </a:r>
            <a:endParaRPr sz="1630"/>
          </a:p>
          <a:p>
            <a:pPr indent="0" lvl="0" marL="0" rtl="0" algn="l">
              <a:lnSpc>
                <a:spcPct val="95000"/>
              </a:lnSpc>
              <a:spcBef>
                <a:spcPts val="1000"/>
              </a:spcBef>
              <a:spcAft>
                <a:spcPts val="0"/>
              </a:spcAft>
              <a:buSzPts val="935"/>
              <a:buNone/>
            </a:pPr>
            <a:r>
              <a:t/>
            </a:r>
            <a:endParaRPr sz="1630"/>
          </a:p>
          <a:p>
            <a:pPr indent="0" lvl="0" marL="0" rtl="0" algn="l">
              <a:lnSpc>
                <a:spcPct val="95000"/>
              </a:lnSpc>
              <a:spcBef>
                <a:spcPts val="1000"/>
              </a:spcBef>
              <a:spcAft>
                <a:spcPts val="1000"/>
              </a:spcAft>
              <a:buSzPts val="935"/>
              <a:buNone/>
            </a:pPr>
            <a:r>
              <a:t/>
            </a:r>
            <a:endParaRPr sz="1630"/>
          </a:p>
        </p:txBody>
      </p:sp>
      <p:graphicFrame>
        <p:nvGraphicFramePr>
          <p:cNvPr id="135" name="Google Shape;135;p18"/>
          <p:cNvGraphicFramePr/>
          <p:nvPr/>
        </p:nvGraphicFramePr>
        <p:xfrm>
          <a:off x="228791" y="1331165"/>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9</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3</a:t>
                      </a:r>
                      <a:endParaRPr/>
                    </a:p>
                  </a:txBody>
                  <a:tcPr marT="91425" marB="91425" marR="91425" marL="91425" anchor="ctr"/>
                </a:tc>
                <a:tc>
                  <a:txBody>
                    <a:bodyPr/>
                    <a:lstStyle/>
                    <a:p>
                      <a:pPr indent="0" lvl="0" marL="0" rtl="0" algn="ctr">
                        <a:spcBef>
                          <a:spcPts val="0"/>
                        </a:spcBef>
                        <a:spcAft>
                          <a:spcPts val="0"/>
                        </a:spcAft>
                        <a:buNone/>
                      </a:pPr>
                      <a:r>
                        <a:rPr lang="es-419"/>
                        <a:t>5</a:t>
                      </a:r>
                      <a:endParaRPr/>
                    </a:p>
                  </a:txBody>
                  <a:tcPr marT="91425" marB="91425" marR="91425" marL="91425" anchor="ctr"/>
                </a:tc>
              </a:tr>
            </a:tbl>
          </a:graphicData>
        </a:graphic>
      </p:graphicFrame>
      <p:graphicFrame>
        <p:nvGraphicFramePr>
          <p:cNvPr id="136" name="Google Shape;136;p18"/>
          <p:cNvGraphicFramePr/>
          <p:nvPr/>
        </p:nvGraphicFramePr>
        <p:xfrm>
          <a:off x="1661312" y="1879880"/>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(7+9) = 16</a:t>
                      </a:r>
                      <a:endParaRPr/>
                    </a:p>
                  </a:txBody>
                  <a:tcPr marT="91425" marB="91425" marR="91425" marL="91425" anchor="ctr"/>
                </a:tc>
                <a:tc>
                  <a:txBody>
                    <a:bodyPr/>
                    <a:lstStyle/>
                    <a:p>
                      <a:pPr indent="0" lvl="0" marL="0" rtl="0" algn="ctr">
                        <a:spcBef>
                          <a:spcPts val="0"/>
                        </a:spcBef>
                        <a:spcAft>
                          <a:spcPts val="0"/>
                        </a:spcAft>
                        <a:buNone/>
                      </a:pPr>
                      <a:r>
                        <a:rPr lang="es-419"/>
                        <a:t>(16+4) = 20</a:t>
                      </a:r>
                      <a:endParaRPr/>
                    </a:p>
                  </a:txBody>
                  <a:tcPr marT="91425" marB="91425" marR="91425" marL="91425" anchor="ctr"/>
                </a:tc>
                <a:tc>
                  <a:txBody>
                    <a:bodyPr/>
                    <a:lstStyle/>
                    <a:p>
                      <a:pPr indent="0" lvl="0" marL="0" rtl="0" algn="ctr">
                        <a:spcBef>
                          <a:spcPts val="0"/>
                        </a:spcBef>
                        <a:spcAft>
                          <a:spcPts val="0"/>
                        </a:spcAft>
                        <a:buNone/>
                      </a:pPr>
                      <a:r>
                        <a:rPr lang="es-419"/>
                        <a:t>(20+3) = 23</a:t>
                      </a:r>
                      <a:endParaRPr/>
                    </a:p>
                  </a:txBody>
                  <a:tcPr marT="91425" marB="91425" marR="91425" marL="91425" anchor="ctr"/>
                </a:tc>
                <a:tc>
                  <a:txBody>
                    <a:bodyPr/>
                    <a:lstStyle/>
                    <a:p>
                      <a:pPr indent="0" lvl="0" marL="0" rtl="0" algn="ctr">
                        <a:spcBef>
                          <a:spcPts val="0"/>
                        </a:spcBef>
                        <a:spcAft>
                          <a:spcPts val="0"/>
                        </a:spcAft>
                        <a:buNone/>
                      </a:pPr>
                      <a:r>
                        <a:rPr lang="es-419"/>
                        <a:t>(23+5) = 28</a:t>
                      </a:r>
                      <a:endParaRPr/>
                    </a:p>
                  </a:txBody>
                  <a:tcPr marT="91425" marB="91425" marR="91425" marL="91425" anchor="ctr"/>
                </a:tc>
              </a:tr>
            </a:tbl>
          </a:graphicData>
        </a:graphic>
      </p:graphicFrame>
      <p:sp>
        <p:nvSpPr>
          <p:cNvPr id="137" name="Google Shape;137;p18"/>
          <p:cNvSpPr/>
          <p:nvPr/>
        </p:nvSpPr>
        <p:spPr>
          <a:xfrm rot="5400000">
            <a:off x="960625" y="1606852"/>
            <a:ext cx="413700" cy="783900"/>
          </a:xfrm>
          <a:prstGeom prst="bentUpArrow">
            <a:avLst>
              <a:gd fmla="val 25000" name="adj1"/>
              <a:gd fmla="val 25000" name="adj2"/>
              <a:gd fmla="val 25000" name="adj3"/>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38" name="Google Shape;138;p18"/>
          <p:cNvSpPr txBox="1"/>
          <p:nvPr/>
        </p:nvSpPr>
        <p:spPr>
          <a:xfrm>
            <a:off x="1676600" y="2352550"/>
            <a:ext cx="43434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900">
                <a:solidFill>
                  <a:schemeClr val="lt2"/>
                </a:solidFill>
                <a:latin typeface="Roboto"/>
                <a:ea typeface="Roboto"/>
                <a:cs typeface="Roboto"/>
                <a:sym typeface="Roboto"/>
              </a:rPr>
              <a:t>Query → O(1)	;	Update → O(n)</a:t>
            </a:r>
            <a:endParaRPr sz="1900">
              <a:solidFill>
                <a:schemeClr val="lt2"/>
              </a:solidFill>
              <a:latin typeface="Roboto"/>
              <a:ea typeface="Roboto"/>
              <a:cs typeface="Roboto"/>
              <a:sym typeface="Roboto"/>
            </a:endParaRPr>
          </a:p>
        </p:txBody>
      </p:sp>
      <p:graphicFrame>
        <p:nvGraphicFramePr>
          <p:cNvPr id="139" name="Google Shape;139;p18"/>
          <p:cNvGraphicFramePr/>
          <p:nvPr/>
        </p:nvGraphicFramePr>
        <p:xfrm>
          <a:off x="228791" y="3439415"/>
          <a:ext cx="3000000" cy="3000000"/>
        </p:xfrm>
        <a:graphic>
          <a:graphicData uri="http://schemas.openxmlformats.org/drawingml/2006/table">
            <a:tbl>
              <a:tblPr>
                <a:noFill/>
                <a:tableStyleId>{82B1C205-92B4-459F-ACDD-4BC05602446F}</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s-419"/>
                        <a:t>7</a:t>
                      </a:r>
                      <a:endParaRPr/>
                    </a:p>
                  </a:txBody>
                  <a:tcPr marT="91425" marB="91425" marR="91425" marL="91425" anchor="ctr"/>
                </a:tc>
                <a:tc>
                  <a:txBody>
                    <a:bodyPr/>
                    <a:lstStyle/>
                    <a:p>
                      <a:pPr indent="0" lvl="0" marL="0" rtl="0" algn="ctr">
                        <a:spcBef>
                          <a:spcPts val="0"/>
                        </a:spcBef>
                        <a:spcAft>
                          <a:spcPts val="0"/>
                        </a:spcAft>
                        <a:buNone/>
                      </a:pPr>
                      <a:r>
                        <a:rPr lang="es-419"/>
                        <a:t>9</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3</a:t>
                      </a:r>
                      <a:endParaRPr/>
                    </a:p>
                  </a:txBody>
                  <a:tcPr marT="91425" marB="91425" marR="91425" marL="91425" anchor="ctr"/>
                </a:tc>
                <a:tc>
                  <a:txBody>
                    <a:bodyPr/>
                    <a:lstStyle/>
                    <a:p>
                      <a:pPr indent="0" lvl="0" marL="0" rtl="0" algn="ctr">
                        <a:spcBef>
                          <a:spcPts val="0"/>
                        </a:spcBef>
                        <a:spcAft>
                          <a:spcPts val="0"/>
                        </a:spcAft>
                        <a:buNone/>
                      </a:pPr>
                      <a:r>
                        <a:rPr lang="es-419"/>
                        <a:t>5</a:t>
                      </a:r>
                      <a:endParaRPr/>
                    </a:p>
                  </a:txBody>
                  <a:tcPr marT="91425" marB="91425" marR="91425" marL="91425" anchor="ctr"/>
                </a:tc>
              </a:tr>
            </a:tbl>
          </a:graphicData>
        </a:graphic>
      </p:graphicFrame>
      <p:sp>
        <p:nvSpPr>
          <p:cNvPr id="140" name="Google Shape;140;p18"/>
          <p:cNvSpPr/>
          <p:nvPr/>
        </p:nvSpPr>
        <p:spPr>
          <a:xfrm rot="5400000">
            <a:off x="960625" y="3715102"/>
            <a:ext cx="413700" cy="783900"/>
          </a:xfrm>
          <a:prstGeom prst="bentUpArrow">
            <a:avLst>
              <a:gd fmla="val 25000" name="adj1"/>
              <a:gd fmla="val 25000" name="adj2"/>
              <a:gd fmla="val 25000" name="adj3"/>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41" name="Google Shape;141;p18"/>
          <p:cNvSpPr txBox="1"/>
          <p:nvPr/>
        </p:nvSpPr>
        <p:spPr>
          <a:xfrm>
            <a:off x="1653850" y="3963325"/>
            <a:ext cx="2091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900">
                <a:solidFill>
                  <a:schemeClr val="lt2"/>
                </a:solidFill>
                <a:latin typeface="Roboto"/>
                <a:ea typeface="Roboto"/>
                <a:cs typeface="Roboto"/>
                <a:sym typeface="Roboto"/>
              </a:rPr>
              <a:t>Query → O(n)</a:t>
            </a:r>
            <a:endParaRPr sz="1900">
              <a:solidFill>
                <a:schemeClr val="lt2"/>
              </a:solidFill>
              <a:latin typeface="Roboto"/>
              <a:ea typeface="Roboto"/>
              <a:cs typeface="Roboto"/>
              <a:sym typeface="Roboto"/>
            </a:endParaRPr>
          </a:p>
          <a:p>
            <a:pPr indent="0" lvl="0" marL="0" rtl="0" algn="l">
              <a:spcBef>
                <a:spcPts val="0"/>
              </a:spcBef>
              <a:spcAft>
                <a:spcPts val="0"/>
              </a:spcAft>
              <a:buNone/>
            </a:pPr>
            <a:r>
              <a:rPr lang="es-419" sz="1900">
                <a:solidFill>
                  <a:schemeClr val="lt2"/>
                </a:solidFill>
                <a:latin typeface="Roboto"/>
                <a:ea typeface="Roboto"/>
                <a:cs typeface="Roboto"/>
                <a:sym typeface="Roboto"/>
              </a:rPr>
              <a:t>Update → O(1)</a:t>
            </a:r>
            <a:endParaRPr sz="1900">
              <a:solidFill>
                <a:schemeClr val="lt2"/>
              </a:solidFill>
              <a:latin typeface="Roboto"/>
              <a:ea typeface="Roboto"/>
              <a:cs typeface="Roboto"/>
              <a:sym typeface="Roboto"/>
            </a:endParaRPr>
          </a:p>
        </p:txBody>
      </p:sp>
      <p:sp>
        <p:nvSpPr>
          <p:cNvPr id="142" name="Google Shape;142;p1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Comparando</a:t>
            </a:r>
            <a:endParaRPr sz="2000"/>
          </a:p>
        </p:txBody>
      </p:sp>
      <p:sp>
        <p:nvSpPr>
          <p:cNvPr id="148" name="Google Shape;148;p19"/>
          <p:cNvSpPr txBox="1"/>
          <p:nvPr/>
        </p:nvSpPr>
        <p:spPr>
          <a:xfrm>
            <a:off x="539250" y="1104300"/>
            <a:ext cx="8065500" cy="293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latin typeface="Roboto"/>
                <a:ea typeface="Roboto"/>
                <a:cs typeface="Roboto"/>
                <a:sym typeface="Roboto"/>
              </a:rPr>
              <a:t>Entonces tenemos en rango din</a:t>
            </a:r>
            <a:r>
              <a:rPr lang="es-419" sz="1800">
                <a:solidFill>
                  <a:schemeClr val="dk2"/>
                </a:solidFill>
                <a:latin typeface="Roboto"/>
                <a:ea typeface="Roboto"/>
                <a:cs typeface="Roboto"/>
                <a:sym typeface="Roboto"/>
              </a:rPr>
              <a:t>ámico</a:t>
            </a:r>
            <a:r>
              <a:rPr lang="es-419" sz="1800">
                <a:solidFill>
                  <a:schemeClr val="dk2"/>
                </a:solidFill>
                <a:latin typeface="Roboto"/>
                <a:ea typeface="Roboto"/>
                <a:cs typeface="Roboto"/>
                <a:sym typeface="Roboto"/>
              </a:rPr>
              <a:t>:</a:t>
            </a:r>
            <a:endParaRPr sz="1800">
              <a:solidFill>
                <a:schemeClr val="dk2"/>
              </a:solidFill>
              <a:latin typeface="Roboto"/>
              <a:ea typeface="Roboto"/>
              <a:cs typeface="Roboto"/>
              <a:sym typeface="Roboto"/>
            </a:endParaRPr>
          </a:p>
          <a:p>
            <a:pPr indent="-342900" lvl="0" marL="457200" rtl="0" algn="l">
              <a:spcBef>
                <a:spcPts val="100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Fuerza bruta</a:t>
            </a:r>
            <a:endParaRPr sz="1800">
              <a:solidFill>
                <a:schemeClr val="dk2"/>
              </a:solidFill>
              <a:latin typeface="Roboto"/>
              <a:ea typeface="Roboto"/>
              <a:cs typeface="Roboto"/>
              <a:sym typeface="Roboto"/>
            </a:endParaRPr>
          </a:p>
          <a:p>
            <a:pPr indent="-342900" lvl="1" marL="914400" rtl="0" algn="l">
              <a:spcBef>
                <a:spcPts val="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Actualizaci</a:t>
            </a:r>
            <a:r>
              <a:rPr lang="es-419" sz="1800">
                <a:solidFill>
                  <a:schemeClr val="dk2"/>
                </a:solidFill>
                <a:latin typeface="Roboto"/>
                <a:ea typeface="Roboto"/>
                <a:cs typeface="Roboto"/>
                <a:sym typeface="Roboto"/>
              </a:rPr>
              <a:t>ón </a:t>
            </a:r>
            <a:r>
              <a:rPr lang="es-419" sz="1800">
                <a:solidFill>
                  <a:schemeClr val="dk2"/>
                </a:solidFill>
                <a:latin typeface="Roboto"/>
                <a:ea typeface="Roboto"/>
                <a:cs typeface="Roboto"/>
                <a:sym typeface="Roboto"/>
              </a:rPr>
              <a:t>O(1)</a:t>
            </a:r>
            <a:endParaRPr sz="1800">
              <a:solidFill>
                <a:schemeClr val="dk2"/>
              </a:solidFill>
              <a:latin typeface="Roboto"/>
              <a:ea typeface="Roboto"/>
              <a:cs typeface="Roboto"/>
              <a:sym typeface="Roboto"/>
            </a:endParaRPr>
          </a:p>
          <a:p>
            <a:pPr indent="-342900" lvl="1" marL="914400" rtl="0" algn="l">
              <a:spcBef>
                <a:spcPts val="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Consulta O(n)</a:t>
            </a:r>
            <a:endParaRPr sz="1800">
              <a:solidFill>
                <a:schemeClr val="dk2"/>
              </a:solidFill>
              <a:latin typeface="Roboto"/>
              <a:ea typeface="Roboto"/>
              <a:cs typeface="Roboto"/>
              <a:sym typeface="Roboto"/>
            </a:endParaRPr>
          </a:p>
          <a:p>
            <a:pPr indent="-342900" lvl="0" marL="457200" rtl="0" algn="l">
              <a:spcBef>
                <a:spcPts val="100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Algoritmos como Prefix Sums</a:t>
            </a:r>
            <a:endParaRPr sz="1800">
              <a:solidFill>
                <a:schemeClr val="dk2"/>
              </a:solidFill>
              <a:latin typeface="Roboto"/>
              <a:ea typeface="Roboto"/>
              <a:cs typeface="Roboto"/>
              <a:sym typeface="Roboto"/>
            </a:endParaRPr>
          </a:p>
          <a:p>
            <a:pPr indent="-342900" lvl="1" marL="914400" rtl="0" algn="l">
              <a:spcBef>
                <a:spcPts val="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Actualizaci</a:t>
            </a:r>
            <a:r>
              <a:rPr lang="es-419" sz="1800">
                <a:solidFill>
                  <a:schemeClr val="dk2"/>
                </a:solidFill>
                <a:latin typeface="Roboto"/>
                <a:ea typeface="Roboto"/>
                <a:cs typeface="Roboto"/>
                <a:sym typeface="Roboto"/>
              </a:rPr>
              <a:t>ón</a:t>
            </a:r>
            <a:r>
              <a:rPr lang="es-419" sz="1800">
                <a:solidFill>
                  <a:schemeClr val="dk2"/>
                </a:solidFill>
                <a:latin typeface="Roboto"/>
                <a:ea typeface="Roboto"/>
                <a:cs typeface="Roboto"/>
                <a:sym typeface="Roboto"/>
              </a:rPr>
              <a:t> O(n)</a:t>
            </a:r>
            <a:endParaRPr sz="1800">
              <a:solidFill>
                <a:schemeClr val="dk2"/>
              </a:solidFill>
              <a:latin typeface="Roboto"/>
              <a:ea typeface="Roboto"/>
              <a:cs typeface="Roboto"/>
              <a:sym typeface="Roboto"/>
            </a:endParaRPr>
          </a:p>
          <a:p>
            <a:pPr indent="-342900" lvl="1" marL="914400" rtl="0" algn="l">
              <a:spcBef>
                <a:spcPts val="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Consulta O(1)</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accent3"/>
              </a:solidFill>
              <a:latin typeface="Roboto"/>
              <a:ea typeface="Roboto"/>
              <a:cs typeface="Roboto"/>
              <a:sym typeface="Roboto"/>
            </a:endParaRPr>
          </a:p>
          <a:p>
            <a:pPr indent="0" lvl="0" marL="0" rtl="0" algn="l">
              <a:spcBef>
                <a:spcPts val="0"/>
              </a:spcBef>
              <a:spcAft>
                <a:spcPts val="0"/>
              </a:spcAft>
              <a:buNone/>
            </a:pPr>
            <a:r>
              <a:rPr lang="es-419" sz="1800">
                <a:solidFill>
                  <a:schemeClr val="dk2"/>
                </a:solidFill>
                <a:latin typeface="Roboto"/>
                <a:ea typeface="Roboto"/>
                <a:cs typeface="Roboto"/>
                <a:sym typeface="Roboto"/>
              </a:rPr>
              <a:t>Hay que encontrar un punto medio…</a:t>
            </a:r>
            <a:endParaRPr sz="1800">
              <a:solidFill>
                <a:schemeClr val="dk2"/>
              </a:solidFill>
              <a:latin typeface="Roboto"/>
              <a:ea typeface="Roboto"/>
              <a:cs typeface="Roboto"/>
              <a:sym typeface="Roboto"/>
            </a:endParaRPr>
          </a:p>
        </p:txBody>
      </p:sp>
      <p:sp>
        <p:nvSpPr>
          <p:cNvPr id="149" name="Google Shape;149;p1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Embellecer esta diapositiva" id="154" name="Google Shape;154;p20"/>
          <p:cNvPicPr preferRelativeResize="0"/>
          <p:nvPr/>
        </p:nvPicPr>
        <p:blipFill rotWithShape="1">
          <a:blip r:embed="rId3">
            <a:alphaModFix/>
          </a:blip>
          <a:srcRect b="5535" l="0" r="0" t="3877"/>
          <a:stretch/>
        </p:blipFill>
        <p:spPr>
          <a:xfrm>
            <a:off x="-35700" y="0"/>
            <a:ext cx="9210675" cy="5143500"/>
          </a:xfrm>
          <a:prstGeom prst="rect">
            <a:avLst/>
          </a:prstGeom>
          <a:noFill/>
          <a:ln>
            <a:noFill/>
          </a:ln>
        </p:spPr>
      </p:pic>
      <p:pic>
        <p:nvPicPr>
          <p:cNvPr id="155" name="Google Shape;155;p20"/>
          <p:cNvPicPr preferRelativeResize="0"/>
          <p:nvPr/>
        </p:nvPicPr>
        <p:blipFill rotWithShape="1">
          <a:blip r:embed="rId4">
            <a:alphaModFix amt="9000"/>
          </a:blip>
          <a:srcRect b="12740" l="0" r="0" t="0"/>
          <a:stretch/>
        </p:blipFill>
        <p:spPr>
          <a:xfrm>
            <a:off x="0" y="393825"/>
            <a:ext cx="9144000" cy="4355850"/>
          </a:xfrm>
          <a:prstGeom prst="rect">
            <a:avLst/>
          </a:prstGeom>
          <a:noFill/>
          <a:ln>
            <a:noFill/>
          </a:ln>
        </p:spPr>
      </p:pic>
      <p:sp>
        <p:nvSpPr>
          <p:cNvPr id="156" name="Google Shape;156;p2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Propiedades de las operaciones</a:t>
            </a:r>
            <a:endParaRPr/>
          </a:p>
        </p:txBody>
      </p:sp>
      <p:sp>
        <p:nvSpPr>
          <p:cNvPr id="162" name="Google Shape;162;p21"/>
          <p:cNvSpPr txBox="1"/>
          <p:nvPr>
            <p:ph idx="1" type="body"/>
          </p:nvPr>
        </p:nvSpPr>
        <p:spPr>
          <a:xfrm>
            <a:off x="433200" y="1674850"/>
            <a:ext cx="8222100" cy="3468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sz="1800"/>
              <a:t>No cualquier operaci</a:t>
            </a:r>
            <a:r>
              <a:rPr lang="es-419" sz="1800"/>
              <a:t>ón sirve, la estructura procesa valores de forma arbitraria.</a:t>
            </a:r>
            <a:endParaRPr sz="1800"/>
          </a:p>
          <a:p>
            <a:pPr indent="0" lvl="0" marL="0" rtl="0" algn="l">
              <a:spcBef>
                <a:spcPts val="1200"/>
              </a:spcBef>
              <a:spcAft>
                <a:spcPts val="0"/>
              </a:spcAft>
              <a:buNone/>
            </a:pPr>
            <a:r>
              <a:rPr lang="es-419" sz="1800"/>
              <a:t>Propiedades de las operaciones soportadas:</a:t>
            </a:r>
            <a:endParaRPr sz="1800"/>
          </a:p>
          <a:p>
            <a:pPr indent="-342900" lvl="0" marL="457200" rtl="0" algn="l">
              <a:spcBef>
                <a:spcPts val="1200"/>
              </a:spcBef>
              <a:spcAft>
                <a:spcPts val="0"/>
              </a:spcAft>
              <a:buSzPts val="1800"/>
              <a:buChar char="➔"/>
            </a:pPr>
            <a:r>
              <a:rPr lang="es-419" sz="1800"/>
              <a:t>Asociatividad</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Char char="➔"/>
            </a:pPr>
            <a:r>
              <a:rPr lang="es-419" sz="1800"/>
              <a:t>Conmutatividad*</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Char char="➔"/>
            </a:pPr>
            <a:r>
              <a:rPr lang="es-419" sz="1800"/>
              <a:t>Neutro*</a:t>
            </a:r>
            <a:endParaRPr sz="1800"/>
          </a:p>
          <a:p>
            <a:pPr indent="0" lvl="0" marL="457200" rtl="0" algn="l">
              <a:spcBef>
                <a:spcPts val="1000"/>
              </a:spcBef>
              <a:spcAft>
                <a:spcPts val="1000"/>
              </a:spcAft>
              <a:buNone/>
            </a:pPr>
            <a:r>
              <a:t/>
            </a:r>
            <a:endParaRPr sz="1800"/>
          </a:p>
        </p:txBody>
      </p:sp>
      <p:sp>
        <p:nvSpPr>
          <p:cNvPr id="163" name="Google Shape;163;p21"/>
          <p:cNvSpPr txBox="1"/>
          <p:nvPr/>
        </p:nvSpPr>
        <p:spPr>
          <a:xfrm>
            <a:off x="10589025" y="2480225"/>
            <a:ext cx="527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64" name="Google Shape;164;p2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165" name="Google Shape;165;p21"/>
          <p:cNvPicPr preferRelativeResize="0"/>
          <p:nvPr/>
        </p:nvPicPr>
        <p:blipFill>
          <a:blip r:embed="rId3">
            <a:alphaModFix/>
          </a:blip>
          <a:stretch>
            <a:fillRect/>
          </a:stretch>
        </p:blipFill>
        <p:spPr>
          <a:xfrm>
            <a:off x="1358875" y="3037175"/>
            <a:ext cx="4400550" cy="314325"/>
          </a:xfrm>
          <a:prstGeom prst="rect">
            <a:avLst/>
          </a:prstGeom>
          <a:noFill/>
          <a:ln>
            <a:noFill/>
          </a:ln>
        </p:spPr>
      </p:pic>
      <p:pic>
        <p:nvPicPr>
          <p:cNvPr id="166" name="Google Shape;166;p21"/>
          <p:cNvPicPr preferRelativeResize="0"/>
          <p:nvPr/>
        </p:nvPicPr>
        <p:blipFill>
          <a:blip r:embed="rId4">
            <a:alphaModFix/>
          </a:blip>
          <a:stretch>
            <a:fillRect/>
          </a:stretch>
        </p:blipFill>
        <p:spPr>
          <a:xfrm>
            <a:off x="1358875" y="3856575"/>
            <a:ext cx="3686175" cy="314325"/>
          </a:xfrm>
          <a:prstGeom prst="rect">
            <a:avLst/>
          </a:prstGeom>
          <a:noFill/>
          <a:ln>
            <a:noFill/>
          </a:ln>
        </p:spPr>
      </p:pic>
      <p:pic>
        <p:nvPicPr>
          <p:cNvPr id="167" name="Google Shape;167;p21"/>
          <p:cNvPicPr preferRelativeResize="0"/>
          <p:nvPr/>
        </p:nvPicPr>
        <p:blipFill>
          <a:blip r:embed="rId5">
            <a:alphaModFix/>
          </a:blip>
          <a:stretch>
            <a:fillRect/>
          </a:stretch>
        </p:blipFill>
        <p:spPr>
          <a:xfrm>
            <a:off x="1358875" y="4675975"/>
            <a:ext cx="4552950" cy="314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Propiedades de las operaciones</a:t>
            </a:r>
            <a:endParaRPr/>
          </a:p>
        </p:txBody>
      </p:sp>
      <p:sp>
        <p:nvSpPr>
          <p:cNvPr id="173" name="Google Shape;173;p22"/>
          <p:cNvSpPr txBox="1"/>
          <p:nvPr>
            <p:ph idx="1" type="body"/>
          </p:nvPr>
        </p:nvSpPr>
        <p:spPr>
          <a:xfrm>
            <a:off x="433200" y="1674850"/>
            <a:ext cx="8222100" cy="3468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sz="1800"/>
              <a:t>No cualquier operación sirve, la estructura procesa valores de forma arbitraria.</a:t>
            </a:r>
            <a:endParaRPr sz="1800"/>
          </a:p>
          <a:p>
            <a:pPr indent="0" lvl="0" marL="0" rtl="0" algn="l">
              <a:spcBef>
                <a:spcPts val="1200"/>
              </a:spcBef>
              <a:spcAft>
                <a:spcPts val="0"/>
              </a:spcAft>
              <a:buNone/>
            </a:pPr>
            <a:r>
              <a:rPr lang="es-419" sz="1800"/>
              <a:t>Propiedades de las operaciones soportadas:</a:t>
            </a:r>
            <a:endParaRPr sz="1800"/>
          </a:p>
          <a:p>
            <a:pPr indent="-342900" lvl="0" marL="457200" rtl="0" algn="l">
              <a:spcBef>
                <a:spcPts val="1200"/>
              </a:spcBef>
              <a:spcAft>
                <a:spcPts val="0"/>
              </a:spcAft>
              <a:buSzPts val="1800"/>
              <a:buChar char="➔"/>
            </a:pPr>
            <a:r>
              <a:rPr lang="es-419" sz="1800"/>
              <a:t>Asociatividad</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Char char="➔"/>
            </a:pPr>
            <a:r>
              <a:rPr lang="es-419" sz="1800"/>
              <a:t>Conmutatividad*</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Char char="➔"/>
            </a:pPr>
            <a:r>
              <a:rPr lang="es-419" sz="1800"/>
              <a:t>Neutro*</a:t>
            </a:r>
            <a:endParaRPr sz="1800"/>
          </a:p>
          <a:p>
            <a:pPr indent="0" lvl="0" marL="457200" rtl="0" algn="l">
              <a:spcBef>
                <a:spcPts val="1000"/>
              </a:spcBef>
              <a:spcAft>
                <a:spcPts val="1000"/>
              </a:spcAft>
              <a:buNone/>
            </a:pPr>
            <a:r>
              <a:t/>
            </a:r>
            <a:endParaRPr sz="1800"/>
          </a:p>
        </p:txBody>
      </p:sp>
      <p:sp>
        <p:nvSpPr>
          <p:cNvPr id="174" name="Google Shape;174;p22"/>
          <p:cNvSpPr txBox="1"/>
          <p:nvPr/>
        </p:nvSpPr>
        <p:spPr>
          <a:xfrm>
            <a:off x="10589025" y="2480225"/>
            <a:ext cx="527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75" name="Google Shape;175;p2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176" name="Google Shape;176;p22"/>
          <p:cNvPicPr preferRelativeResize="0"/>
          <p:nvPr/>
        </p:nvPicPr>
        <p:blipFill>
          <a:blip r:embed="rId3">
            <a:alphaModFix/>
          </a:blip>
          <a:stretch>
            <a:fillRect/>
          </a:stretch>
        </p:blipFill>
        <p:spPr>
          <a:xfrm>
            <a:off x="1358875" y="3037175"/>
            <a:ext cx="4400550" cy="314325"/>
          </a:xfrm>
          <a:prstGeom prst="rect">
            <a:avLst/>
          </a:prstGeom>
          <a:noFill/>
          <a:ln>
            <a:noFill/>
          </a:ln>
        </p:spPr>
      </p:pic>
      <p:pic>
        <p:nvPicPr>
          <p:cNvPr id="177" name="Google Shape;177;p22"/>
          <p:cNvPicPr preferRelativeResize="0"/>
          <p:nvPr/>
        </p:nvPicPr>
        <p:blipFill>
          <a:blip r:embed="rId4">
            <a:alphaModFix/>
          </a:blip>
          <a:stretch>
            <a:fillRect/>
          </a:stretch>
        </p:blipFill>
        <p:spPr>
          <a:xfrm>
            <a:off x="1358875" y="3856575"/>
            <a:ext cx="3686175" cy="314325"/>
          </a:xfrm>
          <a:prstGeom prst="rect">
            <a:avLst/>
          </a:prstGeom>
          <a:noFill/>
          <a:ln>
            <a:noFill/>
          </a:ln>
        </p:spPr>
      </p:pic>
      <p:sp>
        <p:nvSpPr>
          <p:cNvPr id="178" name="Google Shape;178;p22"/>
          <p:cNvSpPr/>
          <p:nvPr/>
        </p:nvSpPr>
        <p:spPr>
          <a:xfrm>
            <a:off x="344475" y="2571750"/>
            <a:ext cx="5804400" cy="2517600"/>
          </a:xfrm>
          <a:prstGeom prst="roundRect">
            <a:avLst>
              <a:gd fmla="val 16667" name="adj"/>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79" name="Google Shape;179;p22"/>
          <p:cNvSpPr txBox="1"/>
          <p:nvPr/>
        </p:nvSpPr>
        <p:spPr>
          <a:xfrm>
            <a:off x="6307650" y="3599700"/>
            <a:ext cx="245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Concepto de Monoide</a:t>
            </a:r>
            <a:endParaRPr sz="1800">
              <a:solidFill>
                <a:schemeClr val="lt2"/>
              </a:solidFill>
              <a:latin typeface="Roboto"/>
              <a:ea typeface="Roboto"/>
              <a:cs typeface="Roboto"/>
              <a:sym typeface="Roboto"/>
            </a:endParaRPr>
          </a:p>
        </p:txBody>
      </p:sp>
      <p:pic>
        <p:nvPicPr>
          <p:cNvPr id="180" name="Google Shape;180;p22"/>
          <p:cNvPicPr preferRelativeResize="0"/>
          <p:nvPr/>
        </p:nvPicPr>
        <p:blipFill>
          <a:blip r:embed="rId5">
            <a:alphaModFix/>
          </a:blip>
          <a:stretch>
            <a:fillRect/>
          </a:stretch>
        </p:blipFill>
        <p:spPr>
          <a:xfrm>
            <a:off x="1358875" y="4675975"/>
            <a:ext cx="4552950" cy="314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Propiedades de las operaciones</a:t>
            </a:r>
            <a:endParaRPr/>
          </a:p>
        </p:txBody>
      </p:sp>
      <p:sp>
        <p:nvSpPr>
          <p:cNvPr id="186" name="Google Shape;186;p23"/>
          <p:cNvSpPr txBox="1"/>
          <p:nvPr>
            <p:ph idx="1" type="body"/>
          </p:nvPr>
        </p:nvSpPr>
        <p:spPr>
          <a:xfrm>
            <a:off x="433200" y="1674850"/>
            <a:ext cx="8222100" cy="3468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sz="1800"/>
              <a:t>Conmutatividad*</a:t>
            </a:r>
            <a:endParaRPr sz="1800"/>
          </a:p>
          <a:p>
            <a:pPr indent="0" lvl="0" marL="457200" rtl="0" algn="l">
              <a:spcBef>
                <a:spcPts val="1000"/>
              </a:spcBef>
              <a:spcAft>
                <a:spcPts val="0"/>
              </a:spcAft>
              <a:buNone/>
            </a:pPr>
            <a:r>
              <a:t/>
            </a:r>
            <a:endParaRPr sz="1800"/>
          </a:p>
          <a:p>
            <a:pPr indent="0" lvl="0" marL="457200" rtl="0" algn="l">
              <a:spcBef>
                <a:spcPts val="1000"/>
              </a:spcBef>
              <a:spcAft>
                <a:spcPts val="0"/>
              </a:spcAft>
              <a:buNone/>
            </a:pPr>
            <a:r>
              <a:rPr lang="es-419" sz="1800"/>
              <a:t>ó respetar sentido estricto de operación</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Char char="➔"/>
            </a:pPr>
            <a:r>
              <a:rPr lang="es-419" sz="1800"/>
              <a:t>Neutro*</a:t>
            </a:r>
            <a:endParaRPr sz="1800"/>
          </a:p>
          <a:p>
            <a:pPr indent="0" lvl="0" marL="457200" rtl="0" algn="l">
              <a:spcBef>
                <a:spcPts val="1000"/>
              </a:spcBef>
              <a:spcAft>
                <a:spcPts val="0"/>
              </a:spcAft>
              <a:buNone/>
            </a:pPr>
            <a:r>
              <a:t/>
            </a:r>
            <a:endParaRPr sz="1800"/>
          </a:p>
          <a:p>
            <a:pPr indent="0" lvl="0" marL="457200" rtl="0" algn="l">
              <a:spcBef>
                <a:spcPts val="1000"/>
              </a:spcBef>
              <a:spcAft>
                <a:spcPts val="1000"/>
              </a:spcAft>
              <a:buNone/>
            </a:pPr>
            <a:r>
              <a:rPr lang="es-419" sz="1800"/>
              <a:t>ó controlar casos </a:t>
            </a:r>
            <a:r>
              <a:rPr lang="es-419" sz="1800"/>
              <a:t>vacíos</a:t>
            </a:r>
            <a:r>
              <a:rPr lang="es-419" sz="1800"/>
              <a:t> / nulos</a:t>
            </a:r>
            <a:endParaRPr sz="1800"/>
          </a:p>
        </p:txBody>
      </p:sp>
      <p:sp>
        <p:nvSpPr>
          <p:cNvPr id="187" name="Google Shape;187;p23"/>
          <p:cNvSpPr txBox="1"/>
          <p:nvPr/>
        </p:nvSpPr>
        <p:spPr>
          <a:xfrm>
            <a:off x="10589025" y="2480225"/>
            <a:ext cx="527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88" name="Google Shape;188;p2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189" name="Google Shape;189;p23"/>
          <p:cNvPicPr preferRelativeResize="0"/>
          <p:nvPr/>
        </p:nvPicPr>
        <p:blipFill>
          <a:blip r:embed="rId3">
            <a:alphaModFix/>
          </a:blip>
          <a:stretch>
            <a:fillRect/>
          </a:stretch>
        </p:blipFill>
        <p:spPr>
          <a:xfrm>
            <a:off x="999025" y="2165900"/>
            <a:ext cx="3686175" cy="314325"/>
          </a:xfrm>
          <a:prstGeom prst="rect">
            <a:avLst/>
          </a:prstGeom>
          <a:noFill/>
          <a:ln>
            <a:noFill/>
          </a:ln>
        </p:spPr>
      </p:pic>
      <p:pic>
        <p:nvPicPr>
          <p:cNvPr id="190" name="Google Shape;190;p23"/>
          <p:cNvPicPr preferRelativeResize="0"/>
          <p:nvPr/>
        </p:nvPicPr>
        <p:blipFill>
          <a:blip r:embed="rId4">
            <a:alphaModFix/>
          </a:blip>
          <a:stretch>
            <a:fillRect/>
          </a:stretch>
        </p:blipFill>
        <p:spPr>
          <a:xfrm>
            <a:off x="999025" y="3956300"/>
            <a:ext cx="4552950" cy="314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50725" y="2095050"/>
            <a:ext cx="31875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s-419" sz="2660"/>
              <a:t>Ejemplo de operaciones v</a:t>
            </a:r>
            <a:r>
              <a:rPr lang="es-419" sz="2660"/>
              <a:t>álidas</a:t>
            </a:r>
            <a:endParaRPr sz="2660"/>
          </a:p>
        </p:txBody>
      </p:sp>
      <p:sp>
        <p:nvSpPr>
          <p:cNvPr id="196" name="Google Shape;196;p2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graphicFrame>
        <p:nvGraphicFramePr>
          <p:cNvPr id="197" name="Google Shape;197;p24"/>
          <p:cNvGraphicFramePr/>
          <p:nvPr/>
        </p:nvGraphicFramePr>
        <p:xfrm>
          <a:off x="3341050" y="561313"/>
          <a:ext cx="3000000" cy="3000000"/>
        </p:xfrm>
        <a:graphic>
          <a:graphicData uri="http://schemas.openxmlformats.org/drawingml/2006/table">
            <a:tbl>
              <a:tblPr>
                <a:noFill/>
                <a:tableStyleId>{29605C54-C34B-4AE6-A1A8-BDDAFBC4EE1B}</a:tableStyleId>
              </a:tblPr>
              <a:tblGrid>
                <a:gridCol w="2865600"/>
                <a:gridCol w="2865600"/>
              </a:tblGrid>
              <a:tr h="12700">
                <a:tc>
                  <a:txBody>
                    <a:bodyPr/>
                    <a:lstStyle/>
                    <a:p>
                      <a:pPr indent="0" lvl="0" marL="0" rtl="0" algn="ctr">
                        <a:spcBef>
                          <a:spcPts val="0"/>
                        </a:spcBef>
                        <a:spcAft>
                          <a:spcPts val="0"/>
                        </a:spcAft>
                        <a:buNone/>
                      </a:pPr>
                      <a:r>
                        <a:rPr b="1" lang="es-419" sz="1100">
                          <a:latin typeface="Roboto"/>
                          <a:ea typeface="Roboto"/>
                          <a:cs typeface="Roboto"/>
                          <a:sym typeface="Roboto"/>
                        </a:rPr>
                        <a:t>Operación</a:t>
                      </a:r>
                      <a:endParaRPr b="1" sz="1100">
                        <a:latin typeface="Roboto"/>
                        <a:ea typeface="Roboto"/>
                        <a:cs typeface="Roboto"/>
                        <a:sym typeface="Roboto"/>
                      </a:endParaRPr>
                    </a:p>
                  </a:txBody>
                  <a:tcPr marT="63500" marB="63500" marR="63500" marL="63500">
                    <a:solidFill>
                      <a:srgbClr val="B6D7A8"/>
                    </a:solidFill>
                  </a:tcPr>
                </a:tc>
                <a:tc>
                  <a:txBody>
                    <a:bodyPr/>
                    <a:lstStyle/>
                    <a:p>
                      <a:pPr indent="0" lvl="0" marL="0" rtl="0" algn="ctr">
                        <a:spcBef>
                          <a:spcPts val="0"/>
                        </a:spcBef>
                        <a:spcAft>
                          <a:spcPts val="0"/>
                        </a:spcAft>
                        <a:buNone/>
                      </a:pPr>
                      <a:r>
                        <a:rPr b="1" lang="es-419" sz="1100">
                          <a:latin typeface="Roboto"/>
                          <a:ea typeface="Roboto"/>
                          <a:cs typeface="Roboto"/>
                          <a:sym typeface="Roboto"/>
                        </a:rPr>
                        <a:t>Neutro</a:t>
                      </a:r>
                      <a:endParaRPr b="1" sz="1100">
                        <a:latin typeface="Roboto"/>
                        <a:ea typeface="Roboto"/>
                        <a:cs typeface="Roboto"/>
                        <a:sym typeface="Roboto"/>
                      </a:endParaRPr>
                    </a:p>
                  </a:txBody>
                  <a:tcPr marT="63500" marB="63500" marR="63500" marL="63500">
                    <a:solidFill>
                      <a:srgbClr val="B6D7A8"/>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Mínimo</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+infinito</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Mínimo + Ocurrencias</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(+infinito, 0)</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Máximo</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-infinito</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Máximo + Ocurrencias</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(-infinito, 0)</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Suma</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0</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Multiplicación</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1</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XOR</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00…0</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AND</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11…1</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OR</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00…0</a:t>
                      </a:r>
                      <a:endParaRPr sz="1100">
                        <a:latin typeface="Roboto"/>
                        <a:ea typeface="Roboto"/>
                        <a:cs typeface="Roboto"/>
                        <a:sym typeface="Roboto"/>
                      </a:endParaRPr>
                    </a:p>
                  </a:txBody>
                  <a:tcPr marT="63500" marB="63500" marR="63500" marL="63500">
                    <a:solidFill>
                      <a:srgbClr val="FFFFFF"/>
                    </a:solidFill>
                  </a:tcPr>
                </a:tc>
              </a:tr>
              <a:tr h="12700">
                <a:tc>
                  <a:txBody>
                    <a:bodyPr/>
                    <a:lstStyle/>
                    <a:p>
                      <a:pPr indent="0" lvl="0" marL="0" rtl="0" algn="ctr">
                        <a:spcBef>
                          <a:spcPts val="0"/>
                        </a:spcBef>
                        <a:spcAft>
                          <a:spcPts val="0"/>
                        </a:spcAft>
                        <a:buNone/>
                      </a:pPr>
                      <a:r>
                        <a:rPr lang="es-419" sz="1100">
                          <a:latin typeface="Roboto"/>
                          <a:ea typeface="Roboto"/>
                          <a:cs typeface="Roboto"/>
                          <a:sym typeface="Roboto"/>
                        </a:rPr>
                        <a:t>GCD</a:t>
                      </a:r>
                      <a:endParaRPr sz="1100">
                        <a:latin typeface="Roboto"/>
                        <a:ea typeface="Roboto"/>
                        <a:cs typeface="Roboto"/>
                        <a:sym typeface="Roboto"/>
                      </a:endParaRPr>
                    </a:p>
                  </a:txBody>
                  <a:tcPr marT="63500" marB="63500" marR="63500" marL="63500">
                    <a:solidFill>
                      <a:srgbClr val="FFFFFF"/>
                    </a:solidFill>
                  </a:tcPr>
                </a:tc>
                <a:tc>
                  <a:txBody>
                    <a:bodyPr/>
                    <a:lstStyle/>
                    <a:p>
                      <a:pPr indent="0" lvl="0" marL="0" rtl="0" algn="ctr">
                        <a:spcBef>
                          <a:spcPts val="0"/>
                        </a:spcBef>
                        <a:spcAft>
                          <a:spcPts val="0"/>
                        </a:spcAft>
                        <a:buNone/>
                      </a:pPr>
                      <a:r>
                        <a:rPr lang="es-419" sz="1100">
                          <a:latin typeface="Roboto"/>
                          <a:ea typeface="Roboto"/>
                          <a:cs typeface="Roboto"/>
                          <a:sym typeface="Roboto"/>
                        </a:rPr>
                        <a:t>0</a:t>
                      </a:r>
                      <a:endParaRPr sz="1100">
                        <a:latin typeface="Roboto"/>
                        <a:ea typeface="Roboto"/>
                        <a:cs typeface="Roboto"/>
                        <a:sym typeface="Roboto"/>
                      </a:endParaRPr>
                    </a:p>
                  </a:txBody>
                  <a:tcPr marT="63500" marB="63500" marR="63500" marL="63500">
                    <a:solidFill>
                      <a:srgbClr val="FFFFFF"/>
                    </a:solidFill>
                  </a:tcPr>
                </a:tc>
              </a:tr>
            </a:tbl>
          </a:graphicData>
        </a:graphic>
      </p:graphicFrame>
      <p:sp>
        <p:nvSpPr>
          <p:cNvPr id="198" name="Google Shape;198;p24"/>
          <p:cNvSpPr txBox="1"/>
          <p:nvPr/>
        </p:nvSpPr>
        <p:spPr>
          <a:xfrm>
            <a:off x="3703000" y="4181988"/>
            <a:ext cx="500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lt2"/>
                </a:solidFill>
                <a:latin typeface="Roboto"/>
                <a:ea typeface="Roboto"/>
                <a:cs typeface="Roboto"/>
                <a:sym typeface="Roboto"/>
              </a:rPr>
              <a:t>Entre otras como operaciones de matrices, </a:t>
            </a:r>
            <a:r>
              <a:rPr lang="es-419">
                <a:solidFill>
                  <a:schemeClr val="lt2"/>
                </a:solidFill>
                <a:latin typeface="Roboto"/>
                <a:ea typeface="Roboto"/>
                <a:cs typeface="Roboto"/>
                <a:sym typeface="Roboto"/>
              </a:rPr>
              <a:t>módulo ó </a:t>
            </a:r>
            <a:r>
              <a:rPr lang="es-419">
                <a:solidFill>
                  <a:schemeClr val="lt2"/>
                </a:solidFill>
                <a:latin typeface="Roboto"/>
                <a:ea typeface="Roboto"/>
                <a:cs typeface="Roboto"/>
                <a:sym typeface="Roboto"/>
              </a:rPr>
              <a:t>bitwise</a:t>
            </a:r>
            <a:endParaRPr>
              <a:solidFill>
                <a:schemeClr val="lt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Estructura y Representación</a:t>
            </a:r>
            <a:endParaRPr sz="2000"/>
          </a:p>
        </p:txBody>
      </p:sp>
      <p:sp>
        <p:nvSpPr>
          <p:cNvPr id="204" name="Google Shape;204;p2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205" name="Google Shape;205;p25"/>
          <p:cNvSpPr/>
          <p:nvPr/>
        </p:nvSpPr>
        <p:spPr>
          <a:xfrm>
            <a:off x="84925"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06" name="Google Shape;206;p25"/>
          <p:cNvSpPr/>
          <p:nvPr/>
        </p:nvSpPr>
        <p:spPr>
          <a:xfrm>
            <a:off x="1249857"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07" name="Google Shape;207;p25"/>
          <p:cNvSpPr/>
          <p:nvPr/>
        </p:nvSpPr>
        <p:spPr>
          <a:xfrm>
            <a:off x="2414789"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08" name="Google Shape;208;p25"/>
          <p:cNvSpPr/>
          <p:nvPr/>
        </p:nvSpPr>
        <p:spPr>
          <a:xfrm>
            <a:off x="3579722"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09" name="Google Shape;209;p25"/>
          <p:cNvSpPr/>
          <p:nvPr/>
        </p:nvSpPr>
        <p:spPr>
          <a:xfrm>
            <a:off x="4744654"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0" name="Google Shape;210;p25"/>
          <p:cNvSpPr/>
          <p:nvPr/>
        </p:nvSpPr>
        <p:spPr>
          <a:xfrm>
            <a:off x="5909586"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1" name="Google Shape;211;p25"/>
          <p:cNvSpPr/>
          <p:nvPr/>
        </p:nvSpPr>
        <p:spPr>
          <a:xfrm>
            <a:off x="7074518"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2" name="Google Shape;212;p25"/>
          <p:cNvSpPr/>
          <p:nvPr/>
        </p:nvSpPr>
        <p:spPr>
          <a:xfrm>
            <a:off x="8239450" y="387602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3" name="Google Shape;213;p25"/>
          <p:cNvSpPr/>
          <p:nvPr/>
        </p:nvSpPr>
        <p:spPr>
          <a:xfrm>
            <a:off x="703498" y="261648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4" name="Google Shape;214;p25"/>
          <p:cNvSpPr/>
          <p:nvPr/>
        </p:nvSpPr>
        <p:spPr>
          <a:xfrm>
            <a:off x="3033362" y="261648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5" name="Google Shape;215;p25"/>
          <p:cNvSpPr/>
          <p:nvPr/>
        </p:nvSpPr>
        <p:spPr>
          <a:xfrm>
            <a:off x="5363227" y="261648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6" name="Google Shape;216;p25"/>
          <p:cNvSpPr/>
          <p:nvPr/>
        </p:nvSpPr>
        <p:spPr>
          <a:xfrm>
            <a:off x="7693091" y="2616480"/>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7" name="Google Shape;217;p25"/>
          <p:cNvSpPr/>
          <p:nvPr/>
        </p:nvSpPr>
        <p:spPr>
          <a:xfrm>
            <a:off x="1847359" y="1613037"/>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8" name="Google Shape;218;p25"/>
          <p:cNvSpPr/>
          <p:nvPr/>
        </p:nvSpPr>
        <p:spPr>
          <a:xfrm>
            <a:off x="6507088" y="1613037"/>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2389"/>
          </a:p>
        </p:txBody>
      </p:sp>
      <p:sp>
        <p:nvSpPr>
          <p:cNvPr id="219" name="Google Shape;219;p25"/>
          <p:cNvSpPr/>
          <p:nvPr/>
        </p:nvSpPr>
        <p:spPr>
          <a:xfrm>
            <a:off x="4177223" y="793563"/>
            <a:ext cx="819600" cy="819600"/>
          </a:xfrm>
          <a:prstGeom prst="ellipse">
            <a:avLst/>
          </a:prstGeom>
          <a:solidFill>
            <a:srgbClr val="D9EAD3"/>
          </a:solidFill>
          <a:ln cap="flat" cmpd="sng" w="32500">
            <a:solidFill>
              <a:srgbClr val="00FF00"/>
            </a:solidFill>
            <a:prstDash val="solid"/>
            <a:round/>
            <a:headEnd len="sm" w="sm" type="none"/>
            <a:tailEnd len="sm" w="sm" type="none"/>
          </a:ln>
        </p:spPr>
        <p:txBody>
          <a:bodyPr anchorCtr="0" anchor="ctr" bIns="155975" lIns="155975" spcFirstLastPara="1" rIns="155975" wrap="square" tIns="155975">
            <a:noAutofit/>
          </a:bodyPr>
          <a:lstStyle/>
          <a:p>
            <a:pPr indent="0" lvl="0" marL="0" rtl="0" algn="l">
              <a:spcBef>
                <a:spcPts val="0"/>
              </a:spcBef>
              <a:spcAft>
                <a:spcPts val="0"/>
              </a:spcAft>
              <a:buNone/>
            </a:pPr>
            <a:r>
              <a:t/>
            </a:r>
            <a:endParaRPr sz="1024"/>
          </a:p>
        </p:txBody>
      </p:sp>
      <p:cxnSp>
        <p:nvCxnSpPr>
          <p:cNvPr id="220" name="Google Shape;220;p25"/>
          <p:cNvCxnSpPr>
            <a:stCxn id="219" idx="3"/>
            <a:endCxn id="217" idx="7"/>
          </p:cNvCxnSpPr>
          <p:nvPr/>
        </p:nvCxnSpPr>
        <p:spPr>
          <a:xfrm flipH="1">
            <a:off x="2547051" y="1493135"/>
            <a:ext cx="1750200" cy="240000"/>
          </a:xfrm>
          <a:prstGeom prst="straightConnector1">
            <a:avLst/>
          </a:prstGeom>
          <a:noFill/>
          <a:ln cap="flat" cmpd="sng" w="16250">
            <a:solidFill>
              <a:srgbClr val="000000"/>
            </a:solidFill>
            <a:prstDash val="solid"/>
            <a:round/>
            <a:headEnd len="med" w="med" type="none"/>
            <a:tailEnd len="med" w="med" type="none"/>
          </a:ln>
        </p:spPr>
      </p:cxnSp>
      <p:cxnSp>
        <p:nvCxnSpPr>
          <p:cNvPr id="221" name="Google Shape;221;p25"/>
          <p:cNvCxnSpPr>
            <a:stCxn id="219" idx="5"/>
            <a:endCxn id="218" idx="1"/>
          </p:cNvCxnSpPr>
          <p:nvPr/>
        </p:nvCxnSpPr>
        <p:spPr>
          <a:xfrm>
            <a:off x="4876796" y="1493135"/>
            <a:ext cx="1750200" cy="240000"/>
          </a:xfrm>
          <a:prstGeom prst="straightConnector1">
            <a:avLst/>
          </a:prstGeom>
          <a:noFill/>
          <a:ln cap="flat" cmpd="sng" w="16250">
            <a:solidFill>
              <a:srgbClr val="000000"/>
            </a:solidFill>
            <a:prstDash val="solid"/>
            <a:round/>
            <a:headEnd len="med" w="med" type="none"/>
            <a:tailEnd len="med" w="med" type="none"/>
          </a:ln>
        </p:spPr>
      </p:cxnSp>
      <p:cxnSp>
        <p:nvCxnSpPr>
          <p:cNvPr id="222" name="Google Shape;222;p25"/>
          <p:cNvCxnSpPr>
            <a:stCxn id="218" idx="5"/>
            <a:endCxn id="216" idx="1"/>
          </p:cNvCxnSpPr>
          <p:nvPr/>
        </p:nvCxnSpPr>
        <p:spPr>
          <a:xfrm>
            <a:off x="7206660" y="2312610"/>
            <a:ext cx="606600" cy="423900"/>
          </a:xfrm>
          <a:prstGeom prst="straightConnector1">
            <a:avLst/>
          </a:prstGeom>
          <a:noFill/>
          <a:ln cap="flat" cmpd="sng" w="16250">
            <a:solidFill>
              <a:srgbClr val="000000"/>
            </a:solidFill>
            <a:prstDash val="solid"/>
            <a:round/>
            <a:headEnd len="med" w="med" type="none"/>
            <a:tailEnd len="med" w="med" type="none"/>
          </a:ln>
        </p:spPr>
      </p:cxnSp>
      <p:cxnSp>
        <p:nvCxnSpPr>
          <p:cNvPr id="223" name="Google Shape;223;p25"/>
          <p:cNvCxnSpPr>
            <a:stCxn id="218" idx="3"/>
            <a:endCxn id="215" idx="7"/>
          </p:cNvCxnSpPr>
          <p:nvPr/>
        </p:nvCxnSpPr>
        <p:spPr>
          <a:xfrm flipH="1">
            <a:off x="6062815" y="2312610"/>
            <a:ext cx="564300" cy="423900"/>
          </a:xfrm>
          <a:prstGeom prst="straightConnector1">
            <a:avLst/>
          </a:prstGeom>
          <a:noFill/>
          <a:ln cap="flat" cmpd="sng" w="16250">
            <a:solidFill>
              <a:srgbClr val="000000"/>
            </a:solidFill>
            <a:prstDash val="solid"/>
            <a:round/>
            <a:headEnd len="med" w="med" type="none"/>
            <a:tailEnd len="med" w="med" type="none"/>
          </a:ln>
        </p:spPr>
      </p:cxnSp>
      <p:cxnSp>
        <p:nvCxnSpPr>
          <p:cNvPr id="224" name="Google Shape;224;p25"/>
          <p:cNvCxnSpPr>
            <a:stCxn id="215" idx="5"/>
            <a:endCxn id="210" idx="0"/>
          </p:cNvCxnSpPr>
          <p:nvPr/>
        </p:nvCxnSpPr>
        <p:spPr>
          <a:xfrm>
            <a:off x="6062799" y="3316053"/>
            <a:ext cx="256500" cy="560100"/>
          </a:xfrm>
          <a:prstGeom prst="straightConnector1">
            <a:avLst/>
          </a:prstGeom>
          <a:noFill/>
          <a:ln cap="flat" cmpd="sng" w="16250">
            <a:solidFill>
              <a:srgbClr val="000000"/>
            </a:solidFill>
            <a:prstDash val="solid"/>
            <a:round/>
            <a:headEnd len="med" w="med" type="none"/>
            <a:tailEnd len="med" w="med" type="none"/>
          </a:ln>
        </p:spPr>
      </p:cxnSp>
      <p:cxnSp>
        <p:nvCxnSpPr>
          <p:cNvPr id="225" name="Google Shape;225;p25"/>
          <p:cNvCxnSpPr>
            <a:stCxn id="215" idx="3"/>
            <a:endCxn id="209" idx="0"/>
          </p:cNvCxnSpPr>
          <p:nvPr/>
        </p:nvCxnSpPr>
        <p:spPr>
          <a:xfrm flipH="1">
            <a:off x="5154454" y="3316053"/>
            <a:ext cx="328800" cy="560100"/>
          </a:xfrm>
          <a:prstGeom prst="straightConnector1">
            <a:avLst/>
          </a:prstGeom>
          <a:noFill/>
          <a:ln cap="flat" cmpd="sng" w="16250">
            <a:solidFill>
              <a:srgbClr val="000000"/>
            </a:solidFill>
            <a:prstDash val="solid"/>
            <a:round/>
            <a:headEnd len="med" w="med" type="none"/>
            <a:tailEnd len="med" w="med" type="none"/>
          </a:ln>
        </p:spPr>
      </p:cxnSp>
      <p:cxnSp>
        <p:nvCxnSpPr>
          <p:cNvPr id="226" name="Google Shape;226;p25"/>
          <p:cNvCxnSpPr>
            <a:stCxn id="216" idx="3"/>
            <a:endCxn id="211" idx="0"/>
          </p:cNvCxnSpPr>
          <p:nvPr/>
        </p:nvCxnSpPr>
        <p:spPr>
          <a:xfrm flipH="1">
            <a:off x="7484319" y="3316053"/>
            <a:ext cx="328800" cy="560100"/>
          </a:xfrm>
          <a:prstGeom prst="straightConnector1">
            <a:avLst/>
          </a:prstGeom>
          <a:noFill/>
          <a:ln cap="flat" cmpd="sng" w="16250">
            <a:solidFill>
              <a:srgbClr val="000000"/>
            </a:solidFill>
            <a:prstDash val="solid"/>
            <a:round/>
            <a:headEnd len="med" w="med" type="none"/>
            <a:tailEnd len="med" w="med" type="none"/>
          </a:ln>
        </p:spPr>
      </p:cxnSp>
      <p:cxnSp>
        <p:nvCxnSpPr>
          <p:cNvPr id="227" name="Google Shape;227;p25"/>
          <p:cNvCxnSpPr>
            <a:stCxn id="216" idx="5"/>
            <a:endCxn id="212" idx="0"/>
          </p:cNvCxnSpPr>
          <p:nvPr/>
        </p:nvCxnSpPr>
        <p:spPr>
          <a:xfrm>
            <a:off x="8392663" y="3316053"/>
            <a:ext cx="256500" cy="560100"/>
          </a:xfrm>
          <a:prstGeom prst="straightConnector1">
            <a:avLst/>
          </a:prstGeom>
          <a:noFill/>
          <a:ln cap="flat" cmpd="sng" w="16250">
            <a:solidFill>
              <a:srgbClr val="000000"/>
            </a:solidFill>
            <a:prstDash val="solid"/>
            <a:round/>
            <a:headEnd len="med" w="med" type="none"/>
            <a:tailEnd len="med" w="med" type="none"/>
          </a:ln>
        </p:spPr>
      </p:cxnSp>
      <p:cxnSp>
        <p:nvCxnSpPr>
          <p:cNvPr id="228" name="Google Shape;228;p25"/>
          <p:cNvCxnSpPr>
            <a:stCxn id="217" idx="5"/>
            <a:endCxn id="214" idx="1"/>
          </p:cNvCxnSpPr>
          <p:nvPr/>
        </p:nvCxnSpPr>
        <p:spPr>
          <a:xfrm>
            <a:off x="2546931" y="2312610"/>
            <a:ext cx="606600" cy="423900"/>
          </a:xfrm>
          <a:prstGeom prst="straightConnector1">
            <a:avLst/>
          </a:prstGeom>
          <a:noFill/>
          <a:ln cap="flat" cmpd="sng" w="16250">
            <a:solidFill>
              <a:srgbClr val="000000"/>
            </a:solidFill>
            <a:prstDash val="solid"/>
            <a:round/>
            <a:headEnd len="med" w="med" type="none"/>
            <a:tailEnd len="med" w="med" type="none"/>
          </a:ln>
        </p:spPr>
      </p:cxnSp>
      <p:cxnSp>
        <p:nvCxnSpPr>
          <p:cNvPr id="229" name="Google Shape;229;p25"/>
          <p:cNvCxnSpPr>
            <a:stCxn id="217" idx="3"/>
            <a:endCxn id="213" idx="7"/>
          </p:cNvCxnSpPr>
          <p:nvPr/>
        </p:nvCxnSpPr>
        <p:spPr>
          <a:xfrm flipH="1">
            <a:off x="1403087" y="2312610"/>
            <a:ext cx="564300" cy="423900"/>
          </a:xfrm>
          <a:prstGeom prst="straightConnector1">
            <a:avLst/>
          </a:prstGeom>
          <a:noFill/>
          <a:ln cap="flat" cmpd="sng" w="16250">
            <a:solidFill>
              <a:srgbClr val="000000"/>
            </a:solidFill>
            <a:prstDash val="solid"/>
            <a:round/>
            <a:headEnd len="med" w="med" type="none"/>
            <a:tailEnd len="med" w="med" type="none"/>
          </a:ln>
        </p:spPr>
      </p:cxnSp>
      <p:cxnSp>
        <p:nvCxnSpPr>
          <p:cNvPr id="230" name="Google Shape;230;p25"/>
          <p:cNvCxnSpPr>
            <a:stCxn id="213" idx="3"/>
            <a:endCxn id="205" idx="0"/>
          </p:cNvCxnSpPr>
          <p:nvPr/>
        </p:nvCxnSpPr>
        <p:spPr>
          <a:xfrm flipH="1">
            <a:off x="494726" y="3316053"/>
            <a:ext cx="328800" cy="560100"/>
          </a:xfrm>
          <a:prstGeom prst="straightConnector1">
            <a:avLst/>
          </a:prstGeom>
          <a:noFill/>
          <a:ln cap="flat" cmpd="sng" w="16250">
            <a:solidFill>
              <a:srgbClr val="000000"/>
            </a:solidFill>
            <a:prstDash val="solid"/>
            <a:round/>
            <a:headEnd len="med" w="med" type="none"/>
            <a:tailEnd len="med" w="med" type="none"/>
          </a:ln>
        </p:spPr>
      </p:cxnSp>
      <p:cxnSp>
        <p:nvCxnSpPr>
          <p:cNvPr id="231" name="Google Shape;231;p25"/>
          <p:cNvCxnSpPr>
            <a:stCxn id="213" idx="5"/>
            <a:endCxn id="206" idx="0"/>
          </p:cNvCxnSpPr>
          <p:nvPr/>
        </p:nvCxnSpPr>
        <p:spPr>
          <a:xfrm>
            <a:off x="1403070" y="3316053"/>
            <a:ext cx="256500" cy="560100"/>
          </a:xfrm>
          <a:prstGeom prst="straightConnector1">
            <a:avLst/>
          </a:prstGeom>
          <a:noFill/>
          <a:ln cap="flat" cmpd="sng" w="16250">
            <a:solidFill>
              <a:srgbClr val="000000"/>
            </a:solidFill>
            <a:prstDash val="solid"/>
            <a:round/>
            <a:headEnd len="med" w="med" type="none"/>
            <a:tailEnd len="med" w="med" type="none"/>
          </a:ln>
        </p:spPr>
      </p:cxnSp>
      <p:cxnSp>
        <p:nvCxnSpPr>
          <p:cNvPr id="232" name="Google Shape;232;p25"/>
          <p:cNvCxnSpPr>
            <a:stCxn id="214" idx="3"/>
            <a:endCxn id="207" idx="0"/>
          </p:cNvCxnSpPr>
          <p:nvPr/>
        </p:nvCxnSpPr>
        <p:spPr>
          <a:xfrm flipH="1">
            <a:off x="2824590" y="3316053"/>
            <a:ext cx="328800" cy="560100"/>
          </a:xfrm>
          <a:prstGeom prst="straightConnector1">
            <a:avLst/>
          </a:prstGeom>
          <a:noFill/>
          <a:ln cap="flat" cmpd="sng" w="16250">
            <a:solidFill>
              <a:srgbClr val="000000"/>
            </a:solidFill>
            <a:prstDash val="solid"/>
            <a:round/>
            <a:headEnd len="med" w="med" type="none"/>
            <a:tailEnd len="med" w="med" type="none"/>
          </a:ln>
        </p:spPr>
      </p:cxnSp>
      <p:cxnSp>
        <p:nvCxnSpPr>
          <p:cNvPr id="233" name="Google Shape;233;p25"/>
          <p:cNvCxnSpPr>
            <a:stCxn id="214" idx="5"/>
            <a:endCxn id="208" idx="0"/>
          </p:cNvCxnSpPr>
          <p:nvPr/>
        </p:nvCxnSpPr>
        <p:spPr>
          <a:xfrm>
            <a:off x="3732935" y="3316053"/>
            <a:ext cx="256500" cy="560100"/>
          </a:xfrm>
          <a:prstGeom prst="straightConnector1">
            <a:avLst/>
          </a:prstGeom>
          <a:noFill/>
          <a:ln cap="flat" cmpd="sng" w="16250">
            <a:solidFill>
              <a:srgbClr val="000000"/>
            </a:solidFill>
            <a:prstDash val="solid"/>
            <a:round/>
            <a:headEnd len="med" w="med" type="none"/>
            <a:tailEnd len="med" w="med" type="none"/>
          </a:ln>
        </p:spPr>
      </p:cxnSp>
      <p:sp>
        <p:nvSpPr>
          <p:cNvPr id="234" name="Google Shape;234;p25"/>
          <p:cNvSpPr txBox="1"/>
          <p:nvPr/>
        </p:nvSpPr>
        <p:spPr>
          <a:xfrm>
            <a:off x="4177223" y="888255"/>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[1;8]</a:t>
            </a:r>
            <a:endParaRPr sz="2047">
              <a:latin typeface="Book Antiqua"/>
              <a:ea typeface="Book Antiqua"/>
              <a:cs typeface="Book Antiqua"/>
              <a:sym typeface="Book Antiqua"/>
            </a:endParaRPr>
          </a:p>
        </p:txBody>
      </p:sp>
      <p:sp>
        <p:nvSpPr>
          <p:cNvPr id="235" name="Google Shape;235;p25"/>
          <p:cNvSpPr txBox="1"/>
          <p:nvPr/>
        </p:nvSpPr>
        <p:spPr>
          <a:xfrm>
            <a:off x="1847359" y="1707730"/>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[1;4]</a:t>
            </a:r>
            <a:endParaRPr sz="2047">
              <a:latin typeface="Book Antiqua"/>
              <a:ea typeface="Book Antiqua"/>
              <a:cs typeface="Book Antiqua"/>
              <a:sym typeface="Book Antiqua"/>
            </a:endParaRPr>
          </a:p>
        </p:txBody>
      </p:sp>
      <p:sp>
        <p:nvSpPr>
          <p:cNvPr id="236" name="Google Shape;236;p25"/>
          <p:cNvSpPr txBox="1"/>
          <p:nvPr/>
        </p:nvSpPr>
        <p:spPr>
          <a:xfrm>
            <a:off x="6507088" y="1707730"/>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[5;8]</a:t>
            </a:r>
            <a:endParaRPr sz="2047">
              <a:latin typeface="Book Antiqua"/>
              <a:ea typeface="Book Antiqua"/>
              <a:cs typeface="Book Antiqua"/>
              <a:sym typeface="Book Antiqua"/>
            </a:endParaRPr>
          </a:p>
        </p:txBody>
      </p:sp>
      <p:sp>
        <p:nvSpPr>
          <p:cNvPr id="237" name="Google Shape;237;p25"/>
          <p:cNvSpPr txBox="1"/>
          <p:nvPr/>
        </p:nvSpPr>
        <p:spPr>
          <a:xfrm>
            <a:off x="703498" y="2711173"/>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[1;2]</a:t>
            </a:r>
            <a:endParaRPr sz="2047">
              <a:latin typeface="Book Antiqua"/>
              <a:ea typeface="Book Antiqua"/>
              <a:cs typeface="Book Antiqua"/>
              <a:sym typeface="Book Antiqua"/>
            </a:endParaRPr>
          </a:p>
        </p:txBody>
      </p:sp>
      <p:sp>
        <p:nvSpPr>
          <p:cNvPr id="238" name="Google Shape;238;p25"/>
          <p:cNvSpPr txBox="1"/>
          <p:nvPr/>
        </p:nvSpPr>
        <p:spPr>
          <a:xfrm>
            <a:off x="3033362" y="2685708"/>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[3;4]</a:t>
            </a:r>
            <a:endParaRPr sz="2047">
              <a:latin typeface="Book Antiqua"/>
              <a:ea typeface="Book Antiqua"/>
              <a:cs typeface="Book Antiqua"/>
              <a:sym typeface="Book Antiqua"/>
            </a:endParaRPr>
          </a:p>
        </p:txBody>
      </p:sp>
      <p:sp>
        <p:nvSpPr>
          <p:cNvPr id="239" name="Google Shape;239;p25"/>
          <p:cNvSpPr txBox="1"/>
          <p:nvPr/>
        </p:nvSpPr>
        <p:spPr>
          <a:xfrm>
            <a:off x="5363227" y="2685708"/>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[5;6]</a:t>
            </a:r>
            <a:endParaRPr sz="2047">
              <a:latin typeface="Book Antiqua"/>
              <a:ea typeface="Book Antiqua"/>
              <a:cs typeface="Book Antiqua"/>
              <a:sym typeface="Book Antiqua"/>
            </a:endParaRPr>
          </a:p>
        </p:txBody>
      </p:sp>
      <p:sp>
        <p:nvSpPr>
          <p:cNvPr id="240" name="Google Shape;240;p25"/>
          <p:cNvSpPr txBox="1"/>
          <p:nvPr/>
        </p:nvSpPr>
        <p:spPr>
          <a:xfrm>
            <a:off x="7693091" y="2711173"/>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[7;8]</a:t>
            </a:r>
            <a:endParaRPr sz="2047">
              <a:latin typeface="Book Antiqua"/>
              <a:ea typeface="Book Antiqua"/>
              <a:cs typeface="Book Antiqua"/>
              <a:sym typeface="Book Antiqua"/>
            </a:endParaRPr>
          </a:p>
        </p:txBody>
      </p:sp>
      <p:sp>
        <p:nvSpPr>
          <p:cNvPr id="241" name="Google Shape;241;p25"/>
          <p:cNvSpPr txBox="1"/>
          <p:nvPr/>
        </p:nvSpPr>
        <p:spPr>
          <a:xfrm>
            <a:off x="8239450"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[8]</a:t>
            </a:r>
            <a:endParaRPr sz="2047">
              <a:latin typeface="Book Antiqua"/>
              <a:ea typeface="Book Antiqua"/>
              <a:cs typeface="Book Antiqua"/>
              <a:sym typeface="Book Antiqua"/>
            </a:endParaRPr>
          </a:p>
        </p:txBody>
      </p:sp>
      <p:sp>
        <p:nvSpPr>
          <p:cNvPr id="242" name="Google Shape;242;p25"/>
          <p:cNvSpPr txBox="1"/>
          <p:nvPr/>
        </p:nvSpPr>
        <p:spPr>
          <a:xfrm>
            <a:off x="7074518"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[7]</a:t>
            </a:r>
            <a:endParaRPr sz="2047">
              <a:latin typeface="Book Antiqua"/>
              <a:ea typeface="Book Antiqua"/>
              <a:cs typeface="Book Antiqua"/>
              <a:sym typeface="Book Antiqua"/>
            </a:endParaRPr>
          </a:p>
        </p:txBody>
      </p:sp>
      <p:sp>
        <p:nvSpPr>
          <p:cNvPr id="243" name="Google Shape;243;p25"/>
          <p:cNvSpPr txBox="1"/>
          <p:nvPr/>
        </p:nvSpPr>
        <p:spPr>
          <a:xfrm>
            <a:off x="5909586"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[6]</a:t>
            </a:r>
            <a:endParaRPr sz="2047">
              <a:latin typeface="Book Antiqua"/>
              <a:ea typeface="Book Antiqua"/>
              <a:cs typeface="Book Antiqua"/>
              <a:sym typeface="Book Antiqua"/>
            </a:endParaRPr>
          </a:p>
        </p:txBody>
      </p:sp>
      <p:sp>
        <p:nvSpPr>
          <p:cNvPr id="244" name="Google Shape;244;p25"/>
          <p:cNvSpPr txBox="1"/>
          <p:nvPr/>
        </p:nvSpPr>
        <p:spPr>
          <a:xfrm>
            <a:off x="4744654"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[5]</a:t>
            </a:r>
            <a:endParaRPr sz="2047">
              <a:latin typeface="Book Antiqua"/>
              <a:ea typeface="Book Antiqua"/>
              <a:cs typeface="Book Antiqua"/>
              <a:sym typeface="Book Antiqua"/>
            </a:endParaRPr>
          </a:p>
        </p:txBody>
      </p:sp>
      <p:sp>
        <p:nvSpPr>
          <p:cNvPr id="245" name="Google Shape;245;p25"/>
          <p:cNvSpPr txBox="1"/>
          <p:nvPr/>
        </p:nvSpPr>
        <p:spPr>
          <a:xfrm>
            <a:off x="3579722"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[4]</a:t>
            </a:r>
            <a:endParaRPr sz="2047">
              <a:latin typeface="Book Antiqua"/>
              <a:ea typeface="Book Antiqua"/>
              <a:cs typeface="Book Antiqua"/>
              <a:sym typeface="Book Antiqua"/>
            </a:endParaRPr>
          </a:p>
        </p:txBody>
      </p:sp>
      <p:sp>
        <p:nvSpPr>
          <p:cNvPr id="246" name="Google Shape;246;p25"/>
          <p:cNvSpPr txBox="1"/>
          <p:nvPr/>
        </p:nvSpPr>
        <p:spPr>
          <a:xfrm>
            <a:off x="2414789"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[3]</a:t>
            </a:r>
            <a:endParaRPr sz="2047">
              <a:latin typeface="Book Antiqua"/>
              <a:ea typeface="Book Antiqua"/>
              <a:cs typeface="Book Antiqua"/>
              <a:sym typeface="Book Antiqua"/>
            </a:endParaRPr>
          </a:p>
        </p:txBody>
      </p:sp>
      <p:sp>
        <p:nvSpPr>
          <p:cNvPr id="247" name="Google Shape;247;p25"/>
          <p:cNvSpPr txBox="1"/>
          <p:nvPr/>
        </p:nvSpPr>
        <p:spPr>
          <a:xfrm>
            <a:off x="1249857"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[2]</a:t>
            </a:r>
            <a:endParaRPr sz="2047">
              <a:latin typeface="Book Antiqua"/>
              <a:ea typeface="Book Antiqua"/>
              <a:cs typeface="Book Antiqua"/>
              <a:sym typeface="Book Antiqua"/>
            </a:endParaRPr>
          </a:p>
        </p:txBody>
      </p:sp>
      <p:sp>
        <p:nvSpPr>
          <p:cNvPr id="248" name="Google Shape;248;p25"/>
          <p:cNvSpPr txBox="1"/>
          <p:nvPr/>
        </p:nvSpPr>
        <p:spPr>
          <a:xfrm>
            <a:off x="84925" y="3970712"/>
            <a:ext cx="819600" cy="630000"/>
          </a:xfrm>
          <a:prstGeom prst="rect">
            <a:avLst/>
          </a:prstGeom>
          <a:noFill/>
          <a:ln>
            <a:noFill/>
          </a:ln>
        </p:spPr>
        <p:txBody>
          <a:bodyPr anchorCtr="0" anchor="ctr" bIns="155975" lIns="155975" spcFirstLastPara="1" rIns="155975" wrap="square" tIns="155975">
            <a:noAutofit/>
          </a:bodyPr>
          <a:lstStyle/>
          <a:p>
            <a:pPr indent="0" lvl="0" marL="0" rtl="0" algn="ctr">
              <a:spcBef>
                <a:spcPts val="0"/>
              </a:spcBef>
              <a:spcAft>
                <a:spcPts val="0"/>
              </a:spcAft>
              <a:buNone/>
            </a:pPr>
            <a:r>
              <a:rPr lang="es-419" sz="2047">
                <a:latin typeface="Book Antiqua"/>
                <a:ea typeface="Book Antiqua"/>
                <a:cs typeface="Book Antiqua"/>
                <a:sym typeface="Book Antiqua"/>
              </a:rPr>
              <a:t>[1]</a:t>
            </a:r>
            <a:endParaRPr sz="2047">
              <a:latin typeface="Book Antiqua"/>
              <a:ea typeface="Book Antiqua"/>
              <a:cs typeface="Book Antiqua"/>
              <a:sym typeface="Book Antiqu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Estructura y Representación</a:t>
            </a:r>
            <a:endParaRPr sz="2000"/>
          </a:p>
        </p:txBody>
      </p:sp>
      <p:sp>
        <p:nvSpPr>
          <p:cNvPr id="254" name="Google Shape;254;p2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graphicFrame>
        <p:nvGraphicFramePr>
          <p:cNvPr id="255" name="Google Shape;255;p26"/>
          <p:cNvGraphicFramePr/>
          <p:nvPr/>
        </p:nvGraphicFramePr>
        <p:xfrm>
          <a:off x="851766" y="1156940"/>
          <a:ext cx="3000000" cy="3000000"/>
        </p:xfrm>
        <a:graphic>
          <a:graphicData uri="http://schemas.openxmlformats.org/drawingml/2006/table">
            <a:tbl>
              <a:tblPr>
                <a:noFill/>
                <a:tableStyleId>{82B1C205-92B4-459F-ACDD-4BC05602446F}</a:tableStyleId>
              </a:tblPr>
              <a:tblGrid>
                <a:gridCol w="537850"/>
                <a:gridCol w="537850"/>
                <a:gridCol w="537850"/>
                <a:gridCol w="537850"/>
                <a:gridCol w="537850"/>
                <a:gridCol w="537850"/>
                <a:gridCol w="537850"/>
                <a:gridCol w="537850"/>
              </a:tblGrid>
              <a:tr h="490650">
                <a:tc>
                  <a:txBody>
                    <a:bodyPr/>
                    <a:lstStyle/>
                    <a:p>
                      <a:pPr indent="0" lvl="0" marL="0" rtl="0" algn="ctr">
                        <a:spcBef>
                          <a:spcPts val="0"/>
                        </a:spcBef>
                        <a:spcAft>
                          <a:spcPts val="0"/>
                        </a:spcAft>
                        <a:buNone/>
                      </a:pPr>
                      <a:r>
                        <a:rPr lang="es-419"/>
                        <a: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s-419"/>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s-419"/>
                        <a:t>2</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s-419"/>
                        <a:t>3</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s-419"/>
                        <a:t>4</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s-419"/>
                        <a:t>5</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s-419"/>
                        <a:t>6</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s-419"/>
                        <a:t>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6" name="Google Shape;256;p26"/>
          <p:cNvSpPr/>
          <p:nvPr/>
        </p:nvSpPr>
        <p:spPr>
          <a:xfrm>
            <a:off x="2588277" y="1838642"/>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1</a:t>
            </a:r>
            <a:endParaRPr sz="2001">
              <a:solidFill>
                <a:schemeClr val="dk2"/>
              </a:solidFill>
              <a:latin typeface="Roboto"/>
              <a:ea typeface="Roboto"/>
              <a:cs typeface="Roboto"/>
              <a:sym typeface="Roboto"/>
            </a:endParaRPr>
          </a:p>
        </p:txBody>
      </p:sp>
      <p:sp>
        <p:nvSpPr>
          <p:cNvPr id="257" name="Google Shape;257;p26"/>
          <p:cNvSpPr/>
          <p:nvPr/>
        </p:nvSpPr>
        <p:spPr>
          <a:xfrm>
            <a:off x="3793300" y="2886611"/>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3</a:t>
            </a:r>
            <a:endParaRPr sz="2001">
              <a:solidFill>
                <a:schemeClr val="dk2"/>
              </a:solidFill>
              <a:latin typeface="Roboto"/>
              <a:ea typeface="Roboto"/>
              <a:cs typeface="Roboto"/>
              <a:sym typeface="Roboto"/>
            </a:endParaRPr>
          </a:p>
        </p:txBody>
      </p:sp>
      <p:sp>
        <p:nvSpPr>
          <p:cNvPr id="258" name="Google Shape;258;p26"/>
          <p:cNvSpPr/>
          <p:nvPr/>
        </p:nvSpPr>
        <p:spPr>
          <a:xfrm>
            <a:off x="1380646" y="2886611"/>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2</a:t>
            </a:r>
            <a:endParaRPr sz="2001">
              <a:solidFill>
                <a:schemeClr val="dk2"/>
              </a:solidFill>
              <a:latin typeface="Roboto"/>
              <a:ea typeface="Roboto"/>
              <a:cs typeface="Roboto"/>
              <a:sym typeface="Roboto"/>
            </a:endParaRPr>
          </a:p>
        </p:txBody>
      </p:sp>
      <p:sp>
        <p:nvSpPr>
          <p:cNvPr id="259" name="Google Shape;259;p26"/>
          <p:cNvSpPr/>
          <p:nvPr/>
        </p:nvSpPr>
        <p:spPr>
          <a:xfrm>
            <a:off x="4395780" y="39867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7</a:t>
            </a:r>
            <a:endParaRPr sz="2001">
              <a:solidFill>
                <a:schemeClr val="dk2"/>
              </a:solidFill>
              <a:latin typeface="Roboto"/>
              <a:ea typeface="Roboto"/>
              <a:cs typeface="Roboto"/>
              <a:sym typeface="Roboto"/>
            </a:endParaRPr>
          </a:p>
        </p:txBody>
      </p:sp>
      <p:sp>
        <p:nvSpPr>
          <p:cNvPr id="260" name="Google Shape;260;p26"/>
          <p:cNvSpPr/>
          <p:nvPr/>
        </p:nvSpPr>
        <p:spPr>
          <a:xfrm>
            <a:off x="3190778" y="39867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6</a:t>
            </a:r>
            <a:endParaRPr sz="2001">
              <a:solidFill>
                <a:schemeClr val="dk2"/>
              </a:solidFill>
              <a:latin typeface="Roboto"/>
              <a:ea typeface="Roboto"/>
              <a:cs typeface="Roboto"/>
              <a:sym typeface="Roboto"/>
            </a:endParaRPr>
          </a:p>
        </p:txBody>
      </p:sp>
      <p:sp>
        <p:nvSpPr>
          <p:cNvPr id="261" name="Google Shape;261;p26"/>
          <p:cNvSpPr/>
          <p:nvPr/>
        </p:nvSpPr>
        <p:spPr>
          <a:xfrm>
            <a:off x="1985777" y="39867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5</a:t>
            </a:r>
            <a:endParaRPr sz="2001">
              <a:solidFill>
                <a:schemeClr val="dk2"/>
              </a:solidFill>
              <a:latin typeface="Roboto"/>
              <a:ea typeface="Roboto"/>
              <a:cs typeface="Roboto"/>
              <a:sym typeface="Roboto"/>
            </a:endParaRPr>
          </a:p>
        </p:txBody>
      </p:sp>
      <p:sp>
        <p:nvSpPr>
          <p:cNvPr id="262" name="Google Shape;262;p26"/>
          <p:cNvSpPr/>
          <p:nvPr/>
        </p:nvSpPr>
        <p:spPr>
          <a:xfrm>
            <a:off x="780775" y="39867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4</a:t>
            </a:r>
            <a:endParaRPr sz="2001">
              <a:solidFill>
                <a:schemeClr val="dk2"/>
              </a:solidFill>
              <a:latin typeface="Roboto"/>
              <a:ea typeface="Roboto"/>
              <a:cs typeface="Roboto"/>
              <a:sym typeface="Roboto"/>
            </a:endParaRPr>
          </a:p>
        </p:txBody>
      </p:sp>
      <p:cxnSp>
        <p:nvCxnSpPr>
          <p:cNvPr id="263" name="Google Shape;263;p26"/>
          <p:cNvCxnSpPr>
            <a:stCxn id="256" idx="3"/>
            <a:endCxn id="258" idx="7"/>
          </p:cNvCxnSpPr>
          <p:nvPr/>
        </p:nvCxnSpPr>
        <p:spPr>
          <a:xfrm flipH="1">
            <a:off x="1985593" y="2443726"/>
            <a:ext cx="706500" cy="546600"/>
          </a:xfrm>
          <a:prstGeom prst="straightConnector1">
            <a:avLst/>
          </a:prstGeom>
          <a:noFill/>
          <a:ln cap="flat" cmpd="sng" w="15650">
            <a:solidFill>
              <a:schemeClr val="dk2"/>
            </a:solidFill>
            <a:prstDash val="solid"/>
            <a:round/>
            <a:headEnd len="med" w="med" type="none"/>
            <a:tailEnd len="med" w="med" type="none"/>
          </a:ln>
        </p:spPr>
      </p:cxnSp>
      <p:cxnSp>
        <p:nvCxnSpPr>
          <p:cNvPr id="264" name="Google Shape;264;p26"/>
          <p:cNvCxnSpPr>
            <a:stCxn id="256" idx="5"/>
            <a:endCxn id="257" idx="1"/>
          </p:cNvCxnSpPr>
          <p:nvPr/>
        </p:nvCxnSpPr>
        <p:spPr>
          <a:xfrm>
            <a:off x="3193361" y="2443726"/>
            <a:ext cx="703800" cy="546600"/>
          </a:xfrm>
          <a:prstGeom prst="straightConnector1">
            <a:avLst/>
          </a:prstGeom>
          <a:noFill/>
          <a:ln cap="flat" cmpd="sng" w="15650">
            <a:solidFill>
              <a:schemeClr val="dk2"/>
            </a:solidFill>
            <a:prstDash val="solid"/>
            <a:round/>
            <a:headEnd len="med" w="med" type="none"/>
            <a:tailEnd len="med" w="med" type="none"/>
          </a:ln>
        </p:spPr>
      </p:cxnSp>
      <p:cxnSp>
        <p:nvCxnSpPr>
          <p:cNvPr id="265" name="Google Shape;265;p26"/>
          <p:cNvCxnSpPr>
            <a:stCxn id="258" idx="3"/>
            <a:endCxn id="262" idx="0"/>
          </p:cNvCxnSpPr>
          <p:nvPr/>
        </p:nvCxnSpPr>
        <p:spPr>
          <a:xfrm flipH="1">
            <a:off x="1135262" y="3491695"/>
            <a:ext cx="349200" cy="495000"/>
          </a:xfrm>
          <a:prstGeom prst="straightConnector1">
            <a:avLst/>
          </a:prstGeom>
          <a:noFill/>
          <a:ln cap="flat" cmpd="sng" w="15650">
            <a:solidFill>
              <a:schemeClr val="dk2"/>
            </a:solidFill>
            <a:prstDash val="solid"/>
            <a:round/>
            <a:headEnd len="med" w="med" type="none"/>
            <a:tailEnd len="med" w="med" type="none"/>
          </a:ln>
        </p:spPr>
      </p:cxnSp>
      <p:cxnSp>
        <p:nvCxnSpPr>
          <p:cNvPr id="266" name="Google Shape;266;p26"/>
          <p:cNvCxnSpPr>
            <a:stCxn id="258" idx="5"/>
            <a:endCxn id="261" idx="0"/>
          </p:cNvCxnSpPr>
          <p:nvPr/>
        </p:nvCxnSpPr>
        <p:spPr>
          <a:xfrm>
            <a:off x="1985730" y="3491695"/>
            <a:ext cx="354600" cy="495000"/>
          </a:xfrm>
          <a:prstGeom prst="straightConnector1">
            <a:avLst/>
          </a:prstGeom>
          <a:noFill/>
          <a:ln cap="flat" cmpd="sng" w="15650">
            <a:solidFill>
              <a:schemeClr val="dk2"/>
            </a:solidFill>
            <a:prstDash val="solid"/>
            <a:round/>
            <a:headEnd len="med" w="med" type="none"/>
            <a:tailEnd len="med" w="med" type="none"/>
          </a:ln>
        </p:spPr>
      </p:cxnSp>
      <p:cxnSp>
        <p:nvCxnSpPr>
          <p:cNvPr id="267" name="Google Shape;267;p26"/>
          <p:cNvCxnSpPr>
            <a:stCxn id="257" idx="3"/>
            <a:endCxn id="260" idx="0"/>
          </p:cNvCxnSpPr>
          <p:nvPr/>
        </p:nvCxnSpPr>
        <p:spPr>
          <a:xfrm flipH="1">
            <a:off x="3545216" y="3491695"/>
            <a:ext cx="351900" cy="495000"/>
          </a:xfrm>
          <a:prstGeom prst="straightConnector1">
            <a:avLst/>
          </a:prstGeom>
          <a:noFill/>
          <a:ln cap="flat" cmpd="sng" w="15650">
            <a:solidFill>
              <a:schemeClr val="dk2"/>
            </a:solidFill>
            <a:prstDash val="solid"/>
            <a:round/>
            <a:headEnd len="med" w="med" type="none"/>
            <a:tailEnd len="med" w="med" type="none"/>
          </a:ln>
        </p:spPr>
      </p:cxnSp>
      <p:cxnSp>
        <p:nvCxnSpPr>
          <p:cNvPr id="268" name="Google Shape;268;p26"/>
          <p:cNvCxnSpPr>
            <a:stCxn id="257" idx="5"/>
            <a:endCxn id="259" idx="0"/>
          </p:cNvCxnSpPr>
          <p:nvPr/>
        </p:nvCxnSpPr>
        <p:spPr>
          <a:xfrm>
            <a:off x="4398384" y="3491695"/>
            <a:ext cx="351900" cy="495000"/>
          </a:xfrm>
          <a:prstGeom prst="straightConnector1">
            <a:avLst/>
          </a:prstGeom>
          <a:noFill/>
          <a:ln cap="flat" cmpd="sng" w="15650">
            <a:solidFill>
              <a:schemeClr val="dk2"/>
            </a:solidFill>
            <a:prstDash val="solid"/>
            <a:round/>
            <a:headEnd len="med" w="med" type="none"/>
            <a:tailEnd len="med" w="med" type="none"/>
          </a:ln>
        </p:spPr>
      </p:cxnSp>
      <p:graphicFrame>
        <p:nvGraphicFramePr>
          <p:cNvPr id="269" name="Google Shape;269;p26"/>
          <p:cNvGraphicFramePr/>
          <p:nvPr/>
        </p:nvGraphicFramePr>
        <p:xfrm>
          <a:off x="851766" y="909865"/>
          <a:ext cx="3000000" cy="3000000"/>
        </p:xfrm>
        <a:graphic>
          <a:graphicData uri="http://schemas.openxmlformats.org/drawingml/2006/table">
            <a:tbl>
              <a:tblPr>
                <a:noFill/>
                <a:tableStyleId>{82B1C205-92B4-459F-ACDD-4BC05602446F}</a:tableStyleId>
              </a:tblPr>
              <a:tblGrid>
                <a:gridCol w="537850"/>
                <a:gridCol w="537850"/>
                <a:gridCol w="537850"/>
                <a:gridCol w="537850"/>
                <a:gridCol w="537850"/>
                <a:gridCol w="537850"/>
                <a:gridCol w="537850"/>
                <a:gridCol w="537850"/>
              </a:tblGrid>
              <a:tr h="303100">
                <a:tc>
                  <a:txBody>
                    <a:bodyPr/>
                    <a:lstStyle/>
                    <a:p>
                      <a:pPr indent="0" lvl="0" marL="0" rtl="0" algn="ctr">
                        <a:spcBef>
                          <a:spcPts val="0"/>
                        </a:spcBef>
                        <a:spcAft>
                          <a:spcPts val="0"/>
                        </a:spcAft>
                        <a:buNone/>
                      </a:pPr>
                      <a:r>
                        <a:rPr b="1" lang="es-419" sz="800"/>
                        <a:t>0</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419" sz="800"/>
                        <a:t>1</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419" sz="800"/>
                        <a:t>2</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419" sz="800"/>
                        <a:t>3</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419" sz="800"/>
                        <a:t>4</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419" sz="800"/>
                        <a:t>5</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419" sz="800"/>
                        <a:t>6</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419" sz="800"/>
                        <a:t>7</a:t>
                      </a:r>
                      <a:endParaRPr b="1" sz="8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70" name="Google Shape;270;p26"/>
          <p:cNvSpPr txBox="1"/>
          <p:nvPr/>
        </p:nvSpPr>
        <p:spPr>
          <a:xfrm>
            <a:off x="5914600" y="2443725"/>
            <a:ext cx="2599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Donde:</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419" sz="1800">
                <a:solidFill>
                  <a:schemeClr val="lt2"/>
                </a:solidFill>
                <a:latin typeface="Roboto"/>
                <a:ea typeface="Roboto"/>
                <a:cs typeface="Roboto"/>
                <a:sym typeface="Roboto"/>
              </a:rPr>
              <a:t>Raíz</a:t>
            </a:r>
            <a:r>
              <a:rPr lang="es-419" sz="1800">
                <a:solidFill>
                  <a:schemeClr val="lt2"/>
                </a:solidFill>
                <a:latin typeface="Roboto"/>
                <a:ea typeface="Roboto"/>
                <a:cs typeface="Roboto"/>
                <a:sym typeface="Roboto"/>
              </a:rPr>
              <a:t> → pos (i)</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419" sz="1800">
                <a:solidFill>
                  <a:schemeClr val="lt2"/>
                </a:solidFill>
                <a:latin typeface="Roboto"/>
                <a:ea typeface="Roboto"/>
                <a:cs typeface="Roboto"/>
                <a:sym typeface="Roboto"/>
              </a:rPr>
              <a:t>HI → pos (i*2)</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419" sz="1800">
                <a:solidFill>
                  <a:schemeClr val="lt2"/>
                </a:solidFill>
                <a:latin typeface="Roboto"/>
                <a:ea typeface="Roboto"/>
                <a:cs typeface="Roboto"/>
                <a:sym typeface="Roboto"/>
              </a:rPr>
              <a:t>HD → pos (i*2)+1</a:t>
            </a:r>
            <a:endParaRPr sz="1800">
              <a:solidFill>
                <a:schemeClr val="lt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Estructura y Representación</a:t>
            </a:r>
            <a:endParaRPr sz="2000"/>
          </a:p>
        </p:txBody>
      </p:sp>
      <p:sp>
        <p:nvSpPr>
          <p:cNvPr id="276" name="Google Shape;276;p2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277" name="Google Shape;277;p27"/>
          <p:cNvSpPr/>
          <p:nvPr/>
        </p:nvSpPr>
        <p:spPr>
          <a:xfrm>
            <a:off x="84938"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78" name="Google Shape;278;p27"/>
          <p:cNvSpPr/>
          <p:nvPr/>
        </p:nvSpPr>
        <p:spPr>
          <a:xfrm>
            <a:off x="739097"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79" name="Google Shape;279;p27"/>
          <p:cNvSpPr/>
          <p:nvPr/>
        </p:nvSpPr>
        <p:spPr>
          <a:xfrm>
            <a:off x="1393257"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0" name="Google Shape;280;p27"/>
          <p:cNvSpPr/>
          <p:nvPr/>
        </p:nvSpPr>
        <p:spPr>
          <a:xfrm>
            <a:off x="2047417"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1" name="Google Shape;281;p27"/>
          <p:cNvSpPr/>
          <p:nvPr/>
        </p:nvSpPr>
        <p:spPr>
          <a:xfrm>
            <a:off x="2701576" y="2049313"/>
            <a:ext cx="460200" cy="460200"/>
          </a:xfrm>
          <a:prstGeom prst="ellipse">
            <a:avLst/>
          </a:prstGeom>
          <a:solidFill>
            <a:srgbClr val="FCE5CD"/>
          </a:solidFill>
          <a:ln cap="flat" cmpd="sng" w="18250">
            <a:solidFill>
              <a:srgbClr val="FF99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2" name="Google Shape;282;p27"/>
          <p:cNvSpPr/>
          <p:nvPr/>
        </p:nvSpPr>
        <p:spPr>
          <a:xfrm rot="-5400000">
            <a:off x="1238568" y="1365297"/>
            <a:ext cx="124800" cy="2412900"/>
          </a:xfrm>
          <a:prstGeom prst="leftBracket">
            <a:avLst>
              <a:gd fmla="val 8333" name="adj"/>
            </a:avLst>
          </a:prstGeom>
          <a:noFill/>
          <a:ln cap="flat" cmpd="sng" w="9125">
            <a:solidFill>
              <a:srgbClr val="0000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3" name="Google Shape;283;p27"/>
          <p:cNvSpPr txBox="1"/>
          <p:nvPr/>
        </p:nvSpPr>
        <p:spPr>
          <a:xfrm>
            <a:off x="1027794" y="2634147"/>
            <a:ext cx="546300" cy="393300"/>
          </a:xfrm>
          <a:prstGeom prst="rect">
            <a:avLst/>
          </a:prstGeom>
          <a:noFill/>
          <a:ln>
            <a:noFill/>
          </a:ln>
        </p:spPr>
        <p:txBody>
          <a:bodyPr anchorCtr="0" anchor="ctr" bIns="87600" lIns="87600" spcFirstLastPara="1" rIns="87600" wrap="square" tIns="87600">
            <a:noAutofit/>
          </a:bodyPr>
          <a:lstStyle/>
          <a:p>
            <a:pPr indent="0" lvl="0" marL="0" rtl="0" algn="ctr">
              <a:spcBef>
                <a:spcPts val="0"/>
              </a:spcBef>
              <a:spcAft>
                <a:spcPts val="0"/>
              </a:spcAft>
              <a:buNone/>
            </a:pPr>
            <a:r>
              <a:rPr lang="es-419" sz="1341">
                <a:latin typeface="Book Antiqua"/>
                <a:ea typeface="Book Antiqua"/>
                <a:cs typeface="Book Antiqua"/>
                <a:sym typeface="Book Antiqua"/>
              </a:rPr>
              <a:t>2²=4</a:t>
            </a:r>
            <a:endParaRPr sz="1341">
              <a:latin typeface="Book Antiqua"/>
              <a:ea typeface="Book Antiqua"/>
              <a:cs typeface="Book Antiqua"/>
              <a:sym typeface="Book Antiqua"/>
            </a:endParaRPr>
          </a:p>
        </p:txBody>
      </p:sp>
      <p:sp>
        <p:nvSpPr>
          <p:cNvPr id="284" name="Google Shape;284;p27"/>
          <p:cNvSpPr/>
          <p:nvPr/>
        </p:nvSpPr>
        <p:spPr>
          <a:xfrm rot="-5400000">
            <a:off x="1575768" y="1375448"/>
            <a:ext cx="124800" cy="3087300"/>
          </a:xfrm>
          <a:prstGeom prst="leftBracket">
            <a:avLst>
              <a:gd fmla="val 8333" name="adj"/>
            </a:avLst>
          </a:prstGeom>
          <a:noFill/>
          <a:ln cap="flat" cmpd="sng" w="9125">
            <a:solidFill>
              <a:srgbClr val="0000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5" name="Google Shape;285;p27"/>
          <p:cNvSpPr txBox="1"/>
          <p:nvPr/>
        </p:nvSpPr>
        <p:spPr>
          <a:xfrm>
            <a:off x="1157567" y="2981498"/>
            <a:ext cx="960900" cy="393300"/>
          </a:xfrm>
          <a:prstGeom prst="rect">
            <a:avLst/>
          </a:prstGeom>
          <a:noFill/>
          <a:ln>
            <a:noFill/>
          </a:ln>
        </p:spPr>
        <p:txBody>
          <a:bodyPr anchorCtr="0" anchor="ctr" bIns="87600" lIns="87600" spcFirstLastPara="1" rIns="87600" wrap="square" tIns="87600">
            <a:noAutofit/>
          </a:bodyPr>
          <a:lstStyle/>
          <a:p>
            <a:pPr indent="0" lvl="0" marL="0" rtl="0" algn="ctr">
              <a:spcBef>
                <a:spcPts val="0"/>
              </a:spcBef>
              <a:spcAft>
                <a:spcPts val="0"/>
              </a:spcAft>
              <a:buNone/>
            </a:pPr>
            <a:r>
              <a:rPr lang="es-419" sz="1341">
                <a:latin typeface="Book Antiqua"/>
                <a:ea typeface="Book Antiqua"/>
                <a:cs typeface="Book Antiqua"/>
                <a:sym typeface="Book Antiqua"/>
              </a:rPr>
              <a:t>N=2²+1=5</a:t>
            </a:r>
            <a:endParaRPr sz="1341">
              <a:latin typeface="Book Antiqua"/>
              <a:ea typeface="Book Antiqua"/>
              <a:cs typeface="Book Antiqua"/>
              <a:sym typeface="Book Antiqua"/>
            </a:endParaRPr>
          </a:p>
        </p:txBody>
      </p:sp>
      <p:sp>
        <p:nvSpPr>
          <p:cNvPr id="286" name="Google Shape;286;p27"/>
          <p:cNvSpPr/>
          <p:nvPr/>
        </p:nvSpPr>
        <p:spPr>
          <a:xfrm>
            <a:off x="3355736" y="2217024"/>
            <a:ext cx="460200" cy="124800"/>
          </a:xfrm>
          <a:prstGeom prst="rightArrow">
            <a:avLst>
              <a:gd fmla="val 50000" name="adj1"/>
              <a:gd fmla="val 50000" name="adj2"/>
            </a:avLst>
          </a:prstGeom>
          <a:solidFill>
            <a:srgbClr val="00FF00"/>
          </a:solidFill>
          <a:ln cap="flat" cmpd="sng" w="9125">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7" name="Google Shape;287;p27"/>
          <p:cNvSpPr/>
          <p:nvPr/>
        </p:nvSpPr>
        <p:spPr>
          <a:xfrm>
            <a:off x="4009896"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8" name="Google Shape;288;p27"/>
          <p:cNvSpPr/>
          <p:nvPr/>
        </p:nvSpPr>
        <p:spPr>
          <a:xfrm>
            <a:off x="4664056"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89" name="Google Shape;289;p27"/>
          <p:cNvSpPr/>
          <p:nvPr/>
        </p:nvSpPr>
        <p:spPr>
          <a:xfrm>
            <a:off x="5318215"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90" name="Google Shape;290;p27"/>
          <p:cNvSpPr/>
          <p:nvPr/>
        </p:nvSpPr>
        <p:spPr>
          <a:xfrm>
            <a:off x="5972375"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91" name="Google Shape;291;p27"/>
          <p:cNvSpPr/>
          <p:nvPr/>
        </p:nvSpPr>
        <p:spPr>
          <a:xfrm>
            <a:off x="6626535" y="2049313"/>
            <a:ext cx="460200" cy="460200"/>
          </a:xfrm>
          <a:prstGeom prst="ellipse">
            <a:avLst/>
          </a:prstGeom>
          <a:solidFill>
            <a:srgbClr val="D9EAD3"/>
          </a:solidFill>
          <a:ln cap="flat" cmpd="sng" w="18250">
            <a:solidFill>
              <a:srgbClr val="00FF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92" name="Google Shape;292;p27"/>
          <p:cNvSpPr/>
          <p:nvPr/>
        </p:nvSpPr>
        <p:spPr>
          <a:xfrm>
            <a:off x="7280695" y="2049313"/>
            <a:ext cx="460200" cy="460200"/>
          </a:xfrm>
          <a:prstGeom prst="ellipse">
            <a:avLst/>
          </a:prstGeom>
          <a:solidFill>
            <a:srgbClr val="CFE2F3"/>
          </a:solidFill>
          <a:ln cap="flat" cmpd="sng" w="18250">
            <a:solidFill>
              <a:srgbClr val="9FC5E8"/>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93" name="Google Shape;293;p27"/>
          <p:cNvSpPr/>
          <p:nvPr/>
        </p:nvSpPr>
        <p:spPr>
          <a:xfrm>
            <a:off x="7934854" y="2049313"/>
            <a:ext cx="460200" cy="460200"/>
          </a:xfrm>
          <a:prstGeom prst="ellipse">
            <a:avLst/>
          </a:prstGeom>
          <a:solidFill>
            <a:srgbClr val="CFE2F3"/>
          </a:solidFill>
          <a:ln cap="flat" cmpd="sng" w="18250">
            <a:solidFill>
              <a:srgbClr val="9FC5E8"/>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94" name="Google Shape;294;p27"/>
          <p:cNvSpPr/>
          <p:nvPr/>
        </p:nvSpPr>
        <p:spPr>
          <a:xfrm>
            <a:off x="8589014" y="2049313"/>
            <a:ext cx="460200" cy="460200"/>
          </a:xfrm>
          <a:prstGeom prst="ellipse">
            <a:avLst/>
          </a:prstGeom>
          <a:solidFill>
            <a:srgbClr val="CFE2F3"/>
          </a:solidFill>
          <a:ln cap="flat" cmpd="sng" w="18250">
            <a:solidFill>
              <a:srgbClr val="9FC5E8"/>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95" name="Google Shape;295;p27"/>
          <p:cNvSpPr/>
          <p:nvPr/>
        </p:nvSpPr>
        <p:spPr>
          <a:xfrm rot="-5400000">
            <a:off x="6469474" y="391898"/>
            <a:ext cx="124800" cy="5054400"/>
          </a:xfrm>
          <a:prstGeom prst="leftBracket">
            <a:avLst>
              <a:gd fmla="val 8333" name="adj"/>
            </a:avLst>
          </a:prstGeom>
          <a:noFill/>
          <a:ln cap="flat" cmpd="sng" w="9125">
            <a:solidFill>
              <a:srgbClr val="000000"/>
            </a:solidFill>
            <a:prstDash val="solid"/>
            <a:round/>
            <a:headEnd len="sm" w="sm" type="none"/>
            <a:tailEnd len="sm" w="sm" type="none"/>
          </a:ln>
        </p:spPr>
        <p:txBody>
          <a:bodyPr anchorCtr="0" anchor="ctr" bIns="87600" lIns="87600" spcFirstLastPara="1" rIns="87600" wrap="square" tIns="87600">
            <a:noAutofit/>
          </a:bodyPr>
          <a:lstStyle/>
          <a:p>
            <a:pPr indent="0" lvl="0" marL="0" rtl="0" algn="ctr">
              <a:spcBef>
                <a:spcPts val="0"/>
              </a:spcBef>
              <a:spcAft>
                <a:spcPts val="0"/>
              </a:spcAft>
              <a:buNone/>
            </a:pPr>
            <a:r>
              <a:t/>
            </a:r>
            <a:endParaRPr sz="1341"/>
          </a:p>
        </p:txBody>
      </p:sp>
      <p:sp>
        <p:nvSpPr>
          <p:cNvPr id="296" name="Google Shape;296;p27"/>
          <p:cNvSpPr txBox="1"/>
          <p:nvPr/>
        </p:nvSpPr>
        <p:spPr>
          <a:xfrm>
            <a:off x="6102891" y="2981498"/>
            <a:ext cx="858000" cy="393300"/>
          </a:xfrm>
          <a:prstGeom prst="rect">
            <a:avLst/>
          </a:prstGeom>
          <a:noFill/>
          <a:ln>
            <a:noFill/>
          </a:ln>
        </p:spPr>
        <p:txBody>
          <a:bodyPr anchorCtr="0" anchor="ctr" bIns="87600" lIns="87600" spcFirstLastPara="1" rIns="87600" wrap="square" tIns="87600">
            <a:noAutofit/>
          </a:bodyPr>
          <a:lstStyle/>
          <a:p>
            <a:pPr indent="0" lvl="0" marL="0" rtl="0" algn="ctr">
              <a:spcBef>
                <a:spcPts val="0"/>
              </a:spcBef>
              <a:spcAft>
                <a:spcPts val="0"/>
              </a:spcAft>
              <a:buNone/>
            </a:pPr>
            <a:r>
              <a:rPr lang="es-419" sz="1341">
                <a:latin typeface="Book Antiqua"/>
                <a:ea typeface="Book Antiqua"/>
                <a:cs typeface="Book Antiqua"/>
                <a:sym typeface="Book Antiqua"/>
              </a:rPr>
              <a:t>2N≈2³=8</a:t>
            </a:r>
            <a:endParaRPr sz="1341">
              <a:latin typeface="Book Antiqua"/>
              <a:ea typeface="Book Antiqua"/>
              <a:cs typeface="Book Antiqua"/>
              <a:sym typeface="Book Antiqua"/>
            </a:endParaRPr>
          </a:p>
        </p:txBody>
      </p:sp>
      <p:sp>
        <p:nvSpPr>
          <p:cNvPr id="297" name="Google Shape;297;p27"/>
          <p:cNvSpPr txBox="1"/>
          <p:nvPr/>
        </p:nvSpPr>
        <p:spPr>
          <a:xfrm>
            <a:off x="98250" y="1173488"/>
            <a:ext cx="646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Es necesario que el tamaño del arreglo sea una potencia de 2</a:t>
            </a:r>
            <a:endParaRPr sz="1800">
              <a:solidFill>
                <a:schemeClr val="lt2"/>
              </a:solidFill>
              <a:latin typeface="Roboto"/>
              <a:ea typeface="Roboto"/>
              <a:cs typeface="Roboto"/>
              <a:sym typeface="Roboto"/>
            </a:endParaRPr>
          </a:p>
        </p:txBody>
      </p:sp>
      <p:sp>
        <p:nvSpPr>
          <p:cNvPr id="298" name="Google Shape;298;p27"/>
          <p:cNvSpPr txBox="1"/>
          <p:nvPr/>
        </p:nvSpPr>
        <p:spPr>
          <a:xfrm>
            <a:off x="98250" y="3508300"/>
            <a:ext cx="37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Se completa con valores neutros</a:t>
            </a:r>
            <a:endParaRPr sz="1800">
              <a:solidFill>
                <a:schemeClr val="lt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Estructura y Representación</a:t>
            </a:r>
            <a:endParaRPr sz="2000"/>
          </a:p>
        </p:txBody>
      </p:sp>
      <p:sp>
        <p:nvSpPr>
          <p:cNvPr id="304" name="Google Shape;304;p2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05" name="Google Shape;305;p28"/>
          <p:cNvSpPr/>
          <p:nvPr/>
        </p:nvSpPr>
        <p:spPr>
          <a:xfrm>
            <a:off x="620750" y="3616783"/>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06" name="Google Shape;306;p28"/>
          <p:cNvSpPr/>
          <p:nvPr/>
        </p:nvSpPr>
        <p:spPr>
          <a:xfrm>
            <a:off x="1608527" y="3616783"/>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07" name="Google Shape;307;p28"/>
          <p:cNvSpPr/>
          <p:nvPr/>
        </p:nvSpPr>
        <p:spPr>
          <a:xfrm>
            <a:off x="2596304" y="3616783"/>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08" name="Google Shape;308;p28"/>
          <p:cNvSpPr/>
          <p:nvPr/>
        </p:nvSpPr>
        <p:spPr>
          <a:xfrm>
            <a:off x="3584082" y="3616783"/>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09" name="Google Shape;309;p28"/>
          <p:cNvSpPr/>
          <p:nvPr/>
        </p:nvSpPr>
        <p:spPr>
          <a:xfrm>
            <a:off x="4571859" y="3616783"/>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0" name="Google Shape;310;p28"/>
          <p:cNvSpPr/>
          <p:nvPr/>
        </p:nvSpPr>
        <p:spPr>
          <a:xfrm>
            <a:off x="5559636" y="3616783"/>
            <a:ext cx="694800" cy="694800"/>
          </a:xfrm>
          <a:prstGeom prst="ellipse">
            <a:avLst/>
          </a:prstGeom>
          <a:solidFill>
            <a:srgbClr val="CFE2F3"/>
          </a:solidFill>
          <a:ln cap="flat" cmpd="sng" w="27550">
            <a:solidFill>
              <a:srgbClr val="9FC5E8"/>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1" name="Google Shape;311;p28"/>
          <p:cNvSpPr/>
          <p:nvPr/>
        </p:nvSpPr>
        <p:spPr>
          <a:xfrm>
            <a:off x="6547413" y="3616783"/>
            <a:ext cx="694800" cy="694800"/>
          </a:xfrm>
          <a:prstGeom prst="ellipse">
            <a:avLst/>
          </a:prstGeom>
          <a:solidFill>
            <a:srgbClr val="CFE2F3"/>
          </a:solidFill>
          <a:ln cap="flat" cmpd="sng" w="27550">
            <a:solidFill>
              <a:srgbClr val="9FC5E8"/>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2" name="Google Shape;312;p28"/>
          <p:cNvSpPr/>
          <p:nvPr/>
        </p:nvSpPr>
        <p:spPr>
          <a:xfrm>
            <a:off x="7535191" y="3616783"/>
            <a:ext cx="694800" cy="694800"/>
          </a:xfrm>
          <a:prstGeom prst="ellipse">
            <a:avLst/>
          </a:prstGeom>
          <a:solidFill>
            <a:srgbClr val="CFE2F3"/>
          </a:solidFill>
          <a:ln cap="flat" cmpd="sng" w="27550">
            <a:solidFill>
              <a:srgbClr val="9FC5E8"/>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3" name="Google Shape;313;p28"/>
          <p:cNvSpPr/>
          <p:nvPr/>
        </p:nvSpPr>
        <p:spPr>
          <a:xfrm>
            <a:off x="1145255" y="2548787"/>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4" name="Google Shape;314;p28"/>
          <p:cNvSpPr/>
          <p:nvPr/>
        </p:nvSpPr>
        <p:spPr>
          <a:xfrm>
            <a:off x="3120809" y="2548787"/>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5" name="Google Shape;315;p28"/>
          <p:cNvSpPr/>
          <p:nvPr/>
        </p:nvSpPr>
        <p:spPr>
          <a:xfrm>
            <a:off x="5096364" y="2548787"/>
            <a:ext cx="694800" cy="694800"/>
          </a:xfrm>
          <a:prstGeom prst="ellipse">
            <a:avLst/>
          </a:prstGeom>
          <a:solidFill>
            <a:srgbClr val="FCE5CD"/>
          </a:solidFill>
          <a:ln cap="flat" cmpd="sng" w="27550">
            <a:solidFill>
              <a:srgbClr val="FF99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6" name="Google Shape;316;p28"/>
          <p:cNvSpPr/>
          <p:nvPr/>
        </p:nvSpPr>
        <p:spPr>
          <a:xfrm>
            <a:off x="7071918" y="2548787"/>
            <a:ext cx="694800" cy="694800"/>
          </a:xfrm>
          <a:prstGeom prst="ellipse">
            <a:avLst/>
          </a:prstGeom>
          <a:solidFill>
            <a:srgbClr val="CFE2F3"/>
          </a:solidFill>
          <a:ln cap="flat" cmpd="sng" w="27550">
            <a:solidFill>
              <a:srgbClr val="9FC5E8"/>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7" name="Google Shape;317;p28"/>
          <p:cNvSpPr/>
          <p:nvPr/>
        </p:nvSpPr>
        <p:spPr>
          <a:xfrm>
            <a:off x="2115165" y="1697942"/>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8" name="Google Shape;318;p28"/>
          <p:cNvSpPr/>
          <p:nvPr/>
        </p:nvSpPr>
        <p:spPr>
          <a:xfrm>
            <a:off x="6066274" y="1697942"/>
            <a:ext cx="694800" cy="694800"/>
          </a:xfrm>
          <a:prstGeom prst="ellipse">
            <a:avLst/>
          </a:prstGeom>
          <a:solidFill>
            <a:srgbClr val="FCE5CD"/>
          </a:solidFill>
          <a:ln cap="flat" cmpd="sng" w="27550">
            <a:solidFill>
              <a:srgbClr val="FF99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19" name="Google Shape;319;p28"/>
          <p:cNvSpPr/>
          <p:nvPr/>
        </p:nvSpPr>
        <p:spPr>
          <a:xfrm>
            <a:off x="4090719" y="1003088"/>
            <a:ext cx="694800" cy="694800"/>
          </a:xfrm>
          <a:prstGeom prst="ellipse">
            <a:avLst/>
          </a:prstGeom>
          <a:solidFill>
            <a:srgbClr val="D9EAD3"/>
          </a:solidFill>
          <a:ln cap="flat" cmpd="sng" w="27550">
            <a:solidFill>
              <a:srgbClr val="00FF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cxnSp>
        <p:nvCxnSpPr>
          <p:cNvPr id="320" name="Google Shape;320;p28"/>
          <p:cNvCxnSpPr>
            <a:stCxn id="319" idx="3"/>
            <a:endCxn id="317" idx="7"/>
          </p:cNvCxnSpPr>
          <p:nvPr/>
        </p:nvCxnSpPr>
        <p:spPr>
          <a:xfrm flipH="1">
            <a:off x="2708071" y="1596136"/>
            <a:ext cx="1484400" cy="203700"/>
          </a:xfrm>
          <a:prstGeom prst="straightConnector1">
            <a:avLst/>
          </a:prstGeom>
          <a:noFill/>
          <a:ln cap="flat" cmpd="sng" w="13775">
            <a:solidFill>
              <a:srgbClr val="000000"/>
            </a:solidFill>
            <a:prstDash val="solid"/>
            <a:round/>
            <a:headEnd len="med" w="med" type="none"/>
            <a:tailEnd len="med" w="med" type="none"/>
          </a:ln>
        </p:spPr>
      </p:cxnSp>
      <p:cxnSp>
        <p:nvCxnSpPr>
          <p:cNvPr id="321" name="Google Shape;321;p28"/>
          <p:cNvCxnSpPr>
            <a:stCxn id="319" idx="5"/>
            <a:endCxn id="318" idx="1"/>
          </p:cNvCxnSpPr>
          <p:nvPr/>
        </p:nvCxnSpPr>
        <p:spPr>
          <a:xfrm>
            <a:off x="4683768" y="1596136"/>
            <a:ext cx="1484400" cy="203700"/>
          </a:xfrm>
          <a:prstGeom prst="straightConnector1">
            <a:avLst/>
          </a:prstGeom>
          <a:noFill/>
          <a:ln cap="flat" cmpd="sng" w="13775">
            <a:solidFill>
              <a:srgbClr val="000000"/>
            </a:solidFill>
            <a:prstDash val="solid"/>
            <a:round/>
            <a:headEnd len="med" w="med" type="none"/>
            <a:tailEnd len="med" w="med" type="none"/>
          </a:ln>
        </p:spPr>
      </p:cxnSp>
      <p:cxnSp>
        <p:nvCxnSpPr>
          <p:cNvPr id="322" name="Google Shape;322;p28"/>
          <p:cNvCxnSpPr>
            <a:stCxn id="318" idx="5"/>
            <a:endCxn id="316" idx="1"/>
          </p:cNvCxnSpPr>
          <p:nvPr/>
        </p:nvCxnSpPr>
        <p:spPr>
          <a:xfrm>
            <a:off x="6659323" y="2290990"/>
            <a:ext cx="514200" cy="359400"/>
          </a:xfrm>
          <a:prstGeom prst="straightConnector1">
            <a:avLst/>
          </a:prstGeom>
          <a:noFill/>
          <a:ln cap="flat" cmpd="sng" w="13775">
            <a:solidFill>
              <a:srgbClr val="000000"/>
            </a:solidFill>
            <a:prstDash val="solid"/>
            <a:round/>
            <a:headEnd len="med" w="med" type="none"/>
            <a:tailEnd len="med" w="med" type="none"/>
          </a:ln>
        </p:spPr>
      </p:cxnSp>
      <p:cxnSp>
        <p:nvCxnSpPr>
          <p:cNvPr id="323" name="Google Shape;323;p28"/>
          <p:cNvCxnSpPr>
            <a:stCxn id="318" idx="3"/>
            <a:endCxn id="315" idx="7"/>
          </p:cNvCxnSpPr>
          <p:nvPr/>
        </p:nvCxnSpPr>
        <p:spPr>
          <a:xfrm flipH="1">
            <a:off x="5689525" y="2290990"/>
            <a:ext cx="478500" cy="359400"/>
          </a:xfrm>
          <a:prstGeom prst="straightConnector1">
            <a:avLst/>
          </a:prstGeom>
          <a:noFill/>
          <a:ln cap="flat" cmpd="sng" w="13775">
            <a:solidFill>
              <a:srgbClr val="000000"/>
            </a:solidFill>
            <a:prstDash val="solid"/>
            <a:round/>
            <a:headEnd len="med" w="med" type="none"/>
            <a:tailEnd len="med" w="med" type="none"/>
          </a:ln>
        </p:spPr>
      </p:cxnSp>
      <p:cxnSp>
        <p:nvCxnSpPr>
          <p:cNvPr id="324" name="Google Shape;324;p28"/>
          <p:cNvCxnSpPr>
            <a:stCxn id="315" idx="5"/>
            <a:endCxn id="310" idx="0"/>
          </p:cNvCxnSpPr>
          <p:nvPr/>
        </p:nvCxnSpPr>
        <p:spPr>
          <a:xfrm>
            <a:off x="5689412" y="3141836"/>
            <a:ext cx="217500" cy="474900"/>
          </a:xfrm>
          <a:prstGeom prst="straightConnector1">
            <a:avLst/>
          </a:prstGeom>
          <a:noFill/>
          <a:ln cap="flat" cmpd="sng" w="13775">
            <a:solidFill>
              <a:srgbClr val="000000"/>
            </a:solidFill>
            <a:prstDash val="solid"/>
            <a:round/>
            <a:headEnd len="med" w="med" type="none"/>
            <a:tailEnd len="med" w="med" type="none"/>
          </a:ln>
        </p:spPr>
      </p:cxnSp>
      <p:cxnSp>
        <p:nvCxnSpPr>
          <p:cNvPr id="325" name="Google Shape;325;p28"/>
          <p:cNvCxnSpPr>
            <a:stCxn id="315" idx="3"/>
            <a:endCxn id="309" idx="0"/>
          </p:cNvCxnSpPr>
          <p:nvPr/>
        </p:nvCxnSpPr>
        <p:spPr>
          <a:xfrm flipH="1">
            <a:off x="4919115" y="3141836"/>
            <a:ext cx="279000" cy="474900"/>
          </a:xfrm>
          <a:prstGeom prst="straightConnector1">
            <a:avLst/>
          </a:prstGeom>
          <a:noFill/>
          <a:ln cap="flat" cmpd="sng" w="13775">
            <a:solidFill>
              <a:srgbClr val="000000"/>
            </a:solidFill>
            <a:prstDash val="solid"/>
            <a:round/>
            <a:headEnd len="med" w="med" type="none"/>
            <a:tailEnd len="med" w="med" type="none"/>
          </a:ln>
        </p:spPr>
      </p:cxnSp>
      <p:cxnSp>
        <p:nvCxnSpPr>
          <p:cNvPr id="326" name="Google Shape;326;p28"/>
          <p:cNvCxnSpPr>
            <a:stCxn id="316" idx="3"/>
            <a:endCxn id="311" idx="0"/>
          </p:cNvCxnSpPr>
          <p:nvPr/>
        </p:nvCxnSpPr>
        <p:spPr>
          <a:xfrm flipH="1">
            <a:off x="6894669" y="3141836"/>
            <a:ext cx="279000" cy="474900"/>
          </a:xfrm>
          <a:prstGeom prst="straightConnector1">
            <a:avLst/>
          </a:prstGeom>
          <a:noFill/>
          <a:ln cap="flat" cmpd="sng" w="13775">
            <a:solidFill>
              <a:srgbClr val="000000"/>
            </a:solidFill>
            <a:prstDash val="solid"/>
            <a:round/>
            <a:headEnd len="med" w="med" type="none"/>
            <a:tailEnd len="med" w="med" type="none"/>
          </a:ln>
        </p:spPr>
      </p:cxnSp>
      <p:cxnSp>
        <p:nvCxnSpPr>
          <p:cNvPr id="327" name="Google Shape;327;p28"/>
          <p:cNvCxnSpPr>
            <a:stCxn id="316" idx="5"/>
            <a:endCxn id="312" idx="0"/>
          </p:cNvCxnSpPr>
          <p:nvPr/>
        </p:nvCxnSpPr>
        <p:spPr>
          <a:xfrm>
            <a:off x="7664967" y="3141836"/>
            <a:ext cx="217500" cy="474900"/>
          </a:xfrm>
          <a:prstGeom prst="straightConnector1">
            <a:avLst/>
          </a:prstGeom>
          <a:noFill/>
          <a:ln cap="flat" cmpd="sng" w="13775">
            <a:solidFill>
              <a:srgbClr val="000000"/>
            </a:solidFill>
            <a:prstDash val="solid"/>
            <a:round/>
            <a:headEnd len="med" w="med" type="none"/>
            <a:tailEnd len="med" w="med" type="none"/>
          </a:ln>
        </p:spPr>
      </p:cxnSp>
      <p:cxnSp>
        <p:nvCxnSpPr>
          <p:cNvPr id="328" name="Google Shape;328;p28"/>
          <p:cNvCxnSpPr>
            <a:stCxn id="317" idx="5"/>
            <a:endCxn id="314" idx="1"/>
          </p:cNvCxnSpPr>
          <p:nvPr/>
        </p:nvCxnSpPr>
        <p:spPr>
          <a:xfrm>
            <a:off x="2708214" y="2290990"/>
            <a:ext cx="514200" cy="359400"/>
          </a:xfrm>
          <a:prstGeom prst="straightConnector1">
            <a:avLst/>
          </a:prstGeom>
          <a:noFill/>
          <a:ln cap="flat" cmpd="sng" w="13775">
            <a:solidFill>
              <a:srgbClr val="000000"/>
            </a:solidFill>
            <a:prstDash val="solid"/>
            <a:round/>
            <a:headEnd len="med" w="med" type="none"/>
            <a:tailEnd len="med" w="med" type="none"/>
          </a:ln>
        </p:spPr>
      </p:cxnSp>
      <p:cxnSp>
        <p:nvCxnSpPr>
          <p:cNvPr id="329" name="Google Shape;329;p28"/>
          <p:cNvCxnSpPr>
            <a:stCxn id="317" idx="3"/>
            <a:endCxn id="313" idx="7"/>
          </p:cNvCxnSpPr>
          <p:nvPr/>
        </p:nvCxnSpPr>
        <p:spPr>
          <a:xfrm flipH="1">
            <a:off x="1738416" y="2290990"/>
            <a:ext cx="478500" cy="359400"/>
          </a:xfrm>
          <a:prstGeom prst="straightConnector1">
            <a:avLst/>
          </a:prstGeom>
          <a:noFill/>
          <a:ln cap="flat" cmpd="sng" w="13775">
            <a:solidFill>
              <a:srgbClr val="000000"/>
            </a:solidFill>
            <a:prstDash val="solid"/>
            <a:round/>
            <a:headEnd len="med" w="med" type="none"/>
            <a:tailEnd len="med" w="med" type="none"/>
          </a:ln>
        </p:spPr>
      </p:cxnSp>
      <p:cxnSp>
        <p:nvCxnSpPr>
          <p:cNvPr id="330" name="Google Shape;330;p28"/>
          <p:cNvCxnSpPr>
            <a:stCxn id="313" idx="3"/>
            <a:endCxn id="305" idx="0"/>
          </p:cNvCxnSpPr>
          <p:nvPr/>
        </p:nvCxnSpPr>
        <p:spPr>
          <a:xfrm flipH="1">
            <a:off x="968006" y="3141836"/>
            <a:ext cx="279000" cy="474900"/>
          </a:xfrm>
          <a:prstGeom prst="straightConnector1">
            <a:avLst/>
          </a:prstGeom>
          <a:noFill/>
          <a:ln cap="flat" cmpd="sng" w="13775">
            <a:solidFill>
              <a:srgbClr val="000000"/>
            </a:solidFill>
            <a:prstDash val="solid"/>
            <a:round/>
            <a:headEnd len="med" w="med" type="none"/>
            <a:tailEnd len="med" w="med" type="none"/>
          </a:ln>
        </p:spPr>
      </p:cxnSp>
      <p:cxnSp>
        <p:nvCxnSpPr>
          <p:cNvPr id="331" name="Google Shape;331;p28"/>
          <p:cNvCxnSpPr>
            <a:stCxn id="313" idx="5"/>
            <a:endCxn id="306" idx="0"/>
          </p:cNvCxnSpPr>
          <p:nvPr/>
        </p:nvCxnSpPr>
        <p:spPr>
          <a:xfrm>
            <a:off x="1738304" y="3141836"/>
            <a:ext cx="217500" cy="474900"/>
          </a:xfrm>
          <a:prstGeom prst="straightConnector1">
            <a:avLst/>
          </a:prstGeom>
          <a:noFill/>
          <a:ln cap="flat" cmpd="sng" w="13775">
            <a:solidFill>
              <a:srgbClr val="000000"/>
            </a:solidFill>
            <a:prstDash val="solid"/>
            <a:round/>
            <a:headEnd len="med" w="med" type="none"/>
            <a:tailEnd len="med" w="med" type="none"/>
          </a:ln>
        </p:spPr>
      </p:cxnSp>
      <p:cxnSp>
        <p:nvCxnSpPr>
          <p:cNvPr id="332" name="Google Shape;332;p28"/>
          <p:cNvCxnSpPr>
            <a:stCxn id="314" idx="3"/>
            <a:endCxn id="307" idx="0"/>
          </p:cNvCxnSpPr>
          <p:nvPr/>
        </p:nvCxnSpPr>
        <p:spPr>
          <a:xfrm flipH="1">
            <a:off x="2943560" y="3141836"/>
            <a:ext cx="279000" cy="474900"/>
          </a:xfrm>
          <a:prstGeom prst="straightConnector1">
            <a:avLst/>
          </a:prstGeom>
          <a:noFill/>
          <a:ln cap="flat" cmpd="sng" w="13775">
            <a:solidFill>
              <a:srgbClr val="000000"/>
            </a:solidFill>
            <a:prstDash val="solid"/>
            <a:round/>
            <a:headEnd len="med" w="med" type="none"/>
            <a:tailEnd len="med" w="med" type="none"/>
          </a:ln>
        </p:spPr>
      </p:cxnSp>
      <p:cxnSp>
        <p:nvCxnSpPr>
          <p:cNvPr id="333" name="Google Shape;333;p28"/>
          <p:cNvCxnSpPr>
            <a:stCxn id="314" idx="5"/>
            <a:endCxn id="308" idx="0"/>
          </p:cNvCxnSpPr>
          <p:nvPr/>
        </p:nvCxnSpPr>
        <p:spPr>
          <a:xfrm>
            <a:off x="3713858" y="3141836"/>
            <a:ext cx="217500" cy="474900"/>
          </a:xfrm>
          <a:prstGeom prst="straightConnector1">
            <a:avLst/>
          </a:prstGeom>
          <a:noFill/>
          <a:ln cap="flat" cmpd="sng" w="13775">
            <a:solidFill>
              <a:srgbClr val="000000"/>
            </a:solidFill>
            <a:prstDash val="solid"/>
            <a:round/>
            <a:headEnd len="med" w="med" type="none"/>
            <a:tailEnd len="med" w="med" type="none"/>
          </a:ln>
        </p:spPr>
      </p:cxnSp>
      <p:sp>
        <p:nvSpPr>
          <p:cNvPr id="334" name="Google Shape;334;p28"/>
          <p:cNvSpPr txBox="1"/>
          <p:nvPr/>
        </p:nvSpPr>
        <p:spPr>
          <a:xfrm>
            <a:off x="8230045" y="3674724"/>
            <a:ext cx="478800" cy="579000"/>
          </a:xfrm>
          <a:prstGeom prst="rect">
            <a:avLst/>
          </a:prstGeom>
          <a:noFill/>
          <a:ln>
            <a:noFill/>
          </a:ln>
        </p:spPr>
        <p:txBody>
          <a:bodyPr anchorCtr="0" anchor="t" bIns="132275" lIns="132275" spcFirstLastPara="1" rIns="132275" wrap="square" tIns="132275">
            <a:spAutoFit/>
          </a:bodyPr>
          <a:lstStyle/>
          <a:p>
            <a:pPr indent="0" lvl="0" marL="0" rtl="0" algn="l">
              <a:spcBef>
                <a:spcPts val="0"/>
              </a:spcBef>
              <a:spcAft>
                <a:spcPts val="0"/>
              </a:spcAft>
              <a:buNone/>
            </a:pPr>
            <a:r>
              <a:rPr lang="es-419" sz="2025">
                <a:latin typeface="Book Antiqua"/>
                <a:ea typeface="Book Antiqua"/>
                <a:cs typeface="Book Antiqua"/>
                <a:sym typeface="Book Antiqua"/>
              </a:rPr>
              <a:t>N</a:t>
            </a:r>
            <a:endParaRPr sz="2025">
              <a:latin typeface="Book Antiqua"/>
              <a:ea typeface="Book Antiqua"/>
              <a:cs typeface="Book Antiqua"/>
              <a:sym typeface="Book Antiqua"/>
            </a:endParaRPr>
          </a:p>
        </p:txBody>
      </p:sp>
      <p:sp>
        <p:nvSpPr>
          <p:cNvPr id="335" name="Google Shape;335;p28"/>
          <p:cNvSpPr txBox="1"/>
          <p:nvPr/>
        </p:nvSpPr>
        <p:spPr>
          <a:xfrm>
            <a:off x="8230045" y="1833788"/>
            <a:ext cx="694800" cy="579000"/>
          </a:xfrm>
          <a:prstGeom prst="rect">
            <a:avLst/>
          </a:prstGeom>
          <a:noFill/>
          <a:ln>
            <a:noFill/>
          </a:ln>
        </p:spPr>
        <p:txBody>
          <a:bodyPr anchorCtr="0" anchor="t" bIns="132275" lIns="132275" spcFirstLastPara="1" rIns="132275" wrap="square" tIns="132275">
            <a:spAutoFit/>
          </a:bodyPr>
          <a:lstStyle/>
          <a:p>
            <a:pPr indent="0" lvl="0" marL="0" rtl="0" algn="l">
              <a:spcBef>
                <a:spcPts val="0"/>
              </a:spcBef>
              <a:spcAft>
                <a:spcPts val="0"/>
              </a:spcAft>
              <a:buNone/>
            </a:pPr>
            <a:r>
              <a:rPr lang="es-419" sz="2025">
                <a:latin typeface="Book Antiqua"/>
                <a:ea typeface="Book Antiqua"/>
                <a:cs typeface="Book Antiqua"/>
                <a:sym typeface="Book Antiqua"/>
              </a:rPr>
              <a:t>N-1</a:t>
            </a:r>
            <a:endParaRPr sz="2025">
              <a:latin typeface="Book Antiqua"/>
              <a:ea typeface="Book Antiqua"/>
              <a:cs typeface="Book Antiqua"/>
              <a:sym typeface="Book Antiqua"/>
            </a:endParaRPr>
          </a:p>
        </p:txBody>
      </p:sp>
      <p:sp>
        <p:nvSpPr>
          <p:cNvPr id="336" name="Google Shape;336;p28"/>
          <p:cNvSpPr/>
          <p:nvPr/>
        </p:nvSpPr>
        <p:spPr>
          <a:xfrm>
            <a:off x="620750" y="1003088"/>
            <a:ext cx="7609200" cy="2240400"/>
          </a:xfrm>
          <a:prstGeom prst="roundRect">
            <a:avLst>
              <a:gd fmla="val 16667" name="adj"/>
            </a:avLst>
          </a:prstGeom>
          <a:noFill/>
          <a:ln cap="flat" cmpd="sng" w="27550">
            <a:solidFill>
              <a:srgbClr val="A2C4C9"/>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
        <p:nvSpPr>
          <p:cNvPr id="337" name="Google Shape;337;p28"/>
          <p:cNvSpPr/>
          <p:nvPr/>
        </p:nvSpPr>
        <p:spPr>
          <a:xfrm>
            <a:off x="620750" y="3616675"/>
            <a:ext cx="7609200" cy="694800"/>
          </a:xfrm>
          <a:prstGeom prst="roundRect">
            <a:avLst>
              <a:gd fmla="val 16667" name="adj"/>
            </a:avLst>
          </a:prstGeom>
          <a:noFill/>
          <a:ln cap="flat" cmpd="sng" w="27550">
            <a:solidFill>
              <a:srgbClr val="FF9900"/>
            </a:solidFill>
            <a:prstDash val="solid"/>
            <a:round/>
            <a:headEnd len="sm" w="sm" type="none"/>
            <a:tailEnd len="sm" w="sm" type="none"/>
          </a:ln>
        </p:spPr>
        <p:txBody>
          <a:bodyPr anchorCtr="0" anchor="ctr" bIns="132275" lIns="132275" spcFirstLastPara="1" rIns="132275" wrap="square" tIns="132275">
            <a:noAutofit/>
          </a:bodyPr>
          <a:lstStyle/>
          <a:p>
            <a:pPr indent="0" lvl="0" marL="0" rtl="0" algn="ctr">
              <a:spcBef>
                <a:spcPts val="0"/>
              </a:spcBef>
              <a:spcAft>
                <a:spcPts val="0"/>
              </a:spcAft>
              <a:buNone/>
            </a:pPr>
            <a:r>
              <a:t/>
            </a:r>
            <a:endParaRPr sz="2025"/>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9"/>
          <p:cNvSpPr/>
          <p:nvPr/>
        </p:nvSpPr>
        <p:spPr>
          <a:xfrm>
            <a:off x="6734009" y="2004367"/>
            <a:ext cx="708900" cy="708900"/>
          </a:xfrm>
          <a:prstGeom prst="ellipse">
            <a:avLst/>
          </a:prstGeom>
          <a:noFill/>
          <a:ln cap="flat" cmpd="sng" w="28575">
            <a:solidFill>
              <a:srgbClr val="FF99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[5,8]</a:t>
            </a:r>
            <a:endParaRPr sz="2001">
              <a:solidFill>
                <a:schemeClr val="dk2"/>
              </a:solidFill>
              <a:latin typeface="Roboto"/>
              <a:ea typeface="Roboto"/>
              <a:cs typeface="Roboto"/>
              <a:sym typeface="Roboto"/>
            </a:endParaRPr>
          </a:p>
        </p:txBody>
      </p:sp>
      <p:sp>
        <p:nvSpPr>
          <p:cNvPr id="343" name="Google Shape;343;p29"/>
          <p:cNvSpPr/>
          <p:nvPr/>
        </p:nvSpPr>
        <p:spPr>
          <a:xfrm>
            <a:off x="4324005" y="828825"/>
            <a:ext cx="708900" cy="708900"/>
          </a:xfrm>
          <a:prstGeom prst="ellipse">
            <a:avLst/>
          </a:prstGeom>
          <a:noFill/>
          <a:ln cap="flat" cmpd="sng" w="28575">
            <a:solidFill>
              <a:srgbClr val="FF99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[1,8]</a:t>
            </a:r>
            <a:endParaRPr sz="2001">
              <a:solidFill>
                <a:schemeClr val="dk2"/>
              </a:solidFill>
              <a:latin typeface="Roboto"/>
              <a:ea typeface="Roboto"/>
              <a:cs typeface="Roboto"/>
              <a:sym typeface="Roboto"/>
            </a:endParaRPr>
          </a:p>
        </p:txBody>
      </p:sp>
      <p:sp>
        <p:nvSpPr>
          <p:cNvPr id="344" name="Google Shape;344;p29"/>
          <p:cNvSpPr/>
          <p:nvPr/>
        </p:nvSpPr>
        <p:spPr>
          <a:xfrm>
            <a:off x="1914002" y="2004367"/>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[1,4]</a:t>
            </a:r>
            <a:endParaRPr sz="2001">
              <a:solidFill>
                <a:schemeClr val="dk2"/>
              </a:solidFill>
              <a:latin typeface="Roboto"/>
              <a:ea typeface="Roboto"/>
              <a:cs typeface="Roboto"/>
              <a:sym typeface="Roboto"/>
            </a:endParaRPr>
          </a:p>
        </p:txBody>
      </p:sp>
      <p:sp>
        <p:nvSpPr>
          <p:cNvPr id="345" name="Google Shape;345;p29"/>
          <p:cNvSpPr/>
          <p:nvPr/>
        </p:nvSpPr>
        <p:spPr>
          <a:xfrm>
            <a:off x="3012575" y="3029911"/>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[3,4]</a:t>
            </a:r>
            <a:endParaRPr sz="2001">
              <a:solidFill>
                <a:schemeClr val="dk2"/>
              </a:solidFill>
              <a:latin typeface="Roboto"/>
              <a:ea typeface="Roboto"/>
              <a:cs typeface="Roboto"/>
              <a:sym typeface="Roboto"/>
            </a:endParaRPr>
          </a:p>
        </p:txBody>
      </p:sp>
      <p:sp>
        <p:nvSpPr>
          <p:cNvPr id="346" name="Google Shape;346;p29"/>
          <p:cNvSpPr/>
          <p:nvPr/>
        </p:nvSpPr>
        <p:spPr>
          <a:xfrm>
            <a:off x="5422537" y="3029911"/>
            <a:ext cx="708900" cy="708900"/>
          </a:xfrm>
          <a:prstGeom prst="ellipse">
            <a:avLst/>
          </a:prstGeom>
          <a:noFill/>
          <a:ln cap="flat" cmpd="sng" w="28575">
            <a:solidFill>
              <a:srgbClr val="FF99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[5,6]</a:t>
            </a:r>
            <a:endParaRPr sz="2001">
              <a:solidFill>
                <a:schemeClr val="dk2"/>
              </a:solidFill>
              <a:latin typeface="Roboto"/>
              <a:ea typeface="Roboto"/>
              <a:cs typeface="Roboto"/>
              <a:sym typeface="Roboto"/>
            </a:endParaRPr>
          </a:p>
        </p:txBody>
      </p:sp>
      <p:sp>
        <p:nvSpPr>
          <p:cNvPr id="347" name="Google Shape;347;p29"/>
          <p:cNvSpPr/>
          <p:nvPr/>
        </p:nvSpPr>
        <p:spPr>
          <a:xfrm>
            <a:off x="7806390" y="3029911"/>
            <a:ext cx="708900" cy="708900"/>
          </a:xfrm>
          <a:prstGeom prst="ellipse">
            <a:avLst/>
          </a:prstGeom>
          <a:noFill/>
          <a:ln cap="flat" cmpd="sng" w="2857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[7,8]</a:t>
            </a:r>
            <a:endParaRPr sz="2001">
              <a:solidFill>
                <a:schemeClr val="dk2"/>
              </a:solidFill>
              <a:latin typeface="Roboto"/>
              <a:ea typeface="Roboto"/>
              <a:cs typeface="Roboto"/>
              <a:sym typeface="Roboto"/>
            </a:endParaRPr>
          </a:p>
        </p:txBody>
      </p:sp>
      <p:sp>
        <p:nvSpPr>
          <p:cNvPr id="348" name="Google Shape;348;p29"/>
          <p:cNvSpPr/>
          <p:nvPr/>
        </p:nvSpPr>
        <p:spPr>
          <a:xfrm>
            <a:off x="599921" y="3029911"/>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[1,2]</a:t>
            </a:r>
            <a:endParaRPr sz="2001">
              <a:solidFill>
                <a:schemeClr val="dk2"/>
              </a:solidFill>
              <a:latin typeface="Roboto"/>
              <a:ea typeface="Roboto"/>
              <a:cs typeface="Roboto"/>
              <a:sym typeface="Roboto"/>
            </a:endParaRPr>
          </a:p>
        </p:txBody>
      </p:sp>
      <p:sp>
        <p:nvSpPr>
          <p:cNvPr id="349" name="Google Shape;349;p29"/>
          <p:cNvSpPr/>
          <p:nvPr/>
        </p:nvSpPr>
        <p:spPr>
          <a:xfrm>
            <a:off x="8435062" y="4130023"/>
            <a:ext cx="708900" cy="708900"/>
          </a:xfrm>
          <a:prstGeom prst="ellipse">
            <a:avLst/>
          </a:prstGeom>
          <a:noFill/>
          <a:ln cap="flat" cmpd="sng" w="2857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[8]</a:t>
            </a:r>
            <a:endParaRPr sz="2001">
              <a:solidFill>
                <a:schemeClr val="dk2"/>
              </a:solidFill>
              <a:latin typeface="Roboto"/>
              <a:ea typeface="Roboto"/>
              <a:cs typeface="Roboto"/>
              <a:sym typeface="Roboto"/>
            </a:endParaRPr>
          </a:p>
        </p:txBody>
      </p:sp>
      <p:sp>
        <p:nvSpPr>
          <p:cNvPr id="350" name="Google Shape;350;p29"/>
          <p:cNvSpPr/>
          <p:nvPr/>
        </p:nvSpPr>
        <p:spPr>
          <a:xfrm>
            <a:off x="7230060" y="4130023"/>
            <a:ext cx="708900" cy="708900"/>
          </a:xfrm>
          <a:prstGeom prst="ellipse">
            <a:avLst/>
          </a:prstGeom>
          <a:noFill/>
          <a:ln cap="flat" cmpd="sng" w="2857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[7]</a:t>
            </a:r>
            <a:endParaRPr sz="2001">
              <a:solidFill>
                <a:schemeClr val="dk2"/>
              </a:solidFill>
              <a:latin typeface="Roboto"/>
              <a:ea typeface="Roboto"/>
              <a:cs typeface="Roboto"/>
              <a:sym typeface="Roboto"/>
            </a:endParaRPr>
          </a:p>
        </p:txBody>
      </p:sp>
      <p:sp>
        <p:nvSpPr>
          <p:cNvPr id="351" name="Google Shape;351;p29"/>
          <p:cNvSpPr/>
          <p:nvPr/>
        </p:nvSpPr>
        <p:spPr>
          <a:xfrm>
            <a:off x="6025058" y="4130023"/>
            <a:ext cx="708900" cy="708900"/>
          </a:xfrm>
          <a:prstGeom prst="ellipse">
            <a:avLst/>
          </a:prstGeom>
          <a:noFill/>
          <a:ln cap="flat" cmpd="sng" w="2857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[6]</a:t>
            </a:r>
            <a:endParaRPr sz="2001">
              <a:solidFill>
                <a:schemeClr val="dk2"/>
              </a:solidFill>
              <a:latin typeface="Roboto"/>
              <a:ea typeface="Roboto"/>
              <a:cs typeface="Roboto"/>
              <a:sym typeface="Roboto"/>
            </a:endParaRPr>
          </a:p>
        </p:txBody>
      </p:sp>
      <p:sp>
        <p:nvSpPr>
          <p:cNvPr id="352" name="Google Shape;352;p29"/>
          <p:cNvSpPr/>
          <p:nvPr/>
        </p:nvSpPr>
        <p:spPr>
          <a:xfrm>
            <a:off x="4820057" y="41300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[5]</a:t>
            </a:r>
            <a:endParaRPr sz="2001">
              <a:solidFill>
                <a:schemeClr val="dk2"/>
              </a:solidFill>
              <a:latin typeface="Roboto"/>
              <a:ea typeface="Roboto"/>
              <a:cs typeface="Roboto"/>
              <a:sym typeface="Roboto"/>
            </a:endParaRPr>
          </a:p>
        </p:txBody>
      </p:sp>
      <p:sp>
        <p:nvSpPr>
          <p:cNvPr id="353" name="Google Shape;353;p29"/>
          <p:cNvSpPr/>
          <p:nvPr/>
        </p:nvSpPr>
        <p:spPr>
          <a:xfrm>
            <a:off x="3615055" y="41300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[4]</a:t>
            </a:r>
            <a:endParaRPr sz="2001">
              <a:solidFill>
                <a:schemeClr val="dk2"/>
              </a:solidFill>
              <a:latin typeface="Roboto"/>
              <a:ea typeface="Roboto"/>
              <a:cs typeface="Roboto"/>
              <a:sym typeface="Roboto"/>
            </a:endParaRPr>
          </a:p>
        </p:txBody>
      </p:sp>
      <p:sp>
        <p:nvSpPr>
          <p:cNvPr id="354" name="Google Shape;354;p29"/>
          <p:cNvSpPr/>
          <p:nvPr/>
        </p:nvSpPr>
        <p:spPr>
          <a:xfrm>
            <a:off x="2410053" y="41300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[3]</a:t>
            </a:r>
            <a:endParaRPr sz="2001">
              <a:solidFill>
                <a:schemeClr val="dk2"/>
              </a:solidFill>
              <a:latin typeface="Roboto"/>
              <a:ea typeface="Roboto"/>
              <a:cs typeface="Roboto"/>
              <a:sym typeface="Roboto"/>
            </a:endParaRPr>
          </a:p>
        </p:txBody>
      </p:sp>
      <p:sp>
        <p:nvSpPr>
          <p:cNvPr id="355" name="Google Shape;355;p29"/>
          <p:cNvSpPr/>
          <p:nvPr/>
        </p:nvSpPr>
        <p:spPr>
          <a:xfrm>
            <a:off x="1205052" y="41300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[2]</a:t>
            </a:r>
            <a:endParaRPr sz="2001">
              <a:solidFill>
                <a:schemeClr val="dk2"/>
              </a:solidFill>
              <a:latin typeface="Roboto"/>
              <a:ea typeface="Roboto"/>
              <a:cs typeface="Roboto"/>
              <a:sym typeface="Roboto"/>
            </a:endParaRPr>
          </a:p>
        </p:txBody>
      </p:sp>
      <p:sp>
        <p:nvSpPr>
          <p:cNvPr id="356" name="Google Shape;356;p29"/>
          <p:cNvSpPr/>
          <p:nvPr/>
        </p:nvSpPr>
        <p:spPr>
          <a:xfrm>
            <a:off x="50" y="4130023"/>
            <a:ext cx="708900" cy="708900"/>
          </a:xfrm>
          <a:prstGeom prst="ellipse">
            <a:avLst/>
          </a:prstGeom>
          <a:no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s-419" sz="2001">
                <a:solidFill>
                  <a:schemeClr val="dk2"/>
                </a:solidFill>
                <a:latin typeface="Roboto"/>
                <a:ea typeface="Roboto"/>
                <a:cs typeface="Roboto"/>
                <a:sym typeface="Roboto"/>
              </a:rPr>
              <a:t>[1]</a:t>
            </a:r>
            <a:endParaRPr sz="2001">
              <a:solidFill>
                <a:schemeClr val="dk2"/>
              </a:solidFill>
              <a:latin typeface="Roboto"/>
              <a:ea typeface="Roboto"/>
              <a:cs typeface="Roboto"/>
              <a:sym typeface="Roboto"/>
            </a:endParaRPr>
          </a:p>
        </p:txBody>
      </p:sp>
      <p:cxnSp>
        <p:nvCxnSpPr>
          <p:cNvPr id="357" name="Google Shape;357;p29"/>
          <p:cNvCxnSpPr>
            <a:stCxn id="343" idx="3"/>
            <a:endCxn id="344" idx="7"/>
          </p:cNvCxnSpPr>
          <p:nvPr/>
        </p:nvCxnSpPr>
        <p:spPr>
          <a:xfrm flipH="1">
            <a:off x="2519221" y="1433909"/>
            <a:ext cx="1908600" cy="674400"/>
          </a:xfrm>
          <a:prstGeom prst="straightConnector1">
            <a:avLst/>
          </a:prstGeom>
          <a:noFill/>
          <a:ln cap="flat" cmpd="sng" w="15650">
            <a:solidFill>
              <a:schemeClr val="dk2"/>
            </a:solidFill>
            <a:prstDash val="solid"/>
            <a:round/>
            <a:headEnd len="med" w="med" type="none"/>
            <a:tailEnd len="med" w="med" type="none"/>
          </a:ln>
        </p:spPr>
      </p:cxnSp>
      <p:cxnSp>
        <p:nvCxnSpPr>
          <p:cNvPr id="358" name="Google Shape;358;p29"/>
          <p:cNvCxnSpPr>
            <a:stCxn id="343" idx="5"/>
            <a:endCxn id="342" idx="1"/>
          </p:cNvCxnSpPr>
          <p:nvPr/>
        </p:nvCxnSpPr>
        <p:spPr>
          <a:xfrm>
            <a:off x="4929089" y="1433909"/>
            <a:ext cx="1908600" cy="674400"/>
          </a:xfrm>
          <a:prstGeom prst="straightConnector1">
            <a:avLst/>
          </a:prstGeom>
          <a:noFill/>
          <a:ln cap="flat" cmpd="sng" w="15650">
            <a:solidFill>
              <a:schemeClr val="dk2"/>
            </a:solidFill>
            <a:prstDash val="solid"/>
            <a:round/>
            <a:headEnd len="med" w="med" type="none"/>
            <a:tailEnd len="med" w="med" type="none"/>
          </a:ln>
        </p:spPr>
      </p:cxnSp>
      <p:cxnSp>
        <p:nvCxnSpPr>
          <p:cNvPr id="359" name="Google Shape;359;p29"/>
          <p:cNvCxnSpPr>
            <a:stCxn id="344" idx="3"/>
            <a:endCxn id="348" idx="7"/>
          </p:cNvCxnSpPr>
          <p:nvPr/>
        </p:nvCxnSpPr>
        <p:spPr>
          <a:xfrm flipH="1">
            <a:off x="1205118" y="2609451"/>
            <a:ext cx="812700" cy="524400"/>
          </a:xfrm>
          <a:prstGeom prst="straightConnector1">
            <a:avLst/>
          </a:prstGeom>
          <a:noFill/>
          <a:ln cap="flat" cmpd="sng" w="15650">
            <a:solidFill>
              <a:schemeClr val="dk2"/>
            </a:solidFill>
            <a:prstDash val="solid"/>
            <a:round/>
            <a:headEnd len="med" w="med" type="none"/>
            <a:tailEnd len="med" w="med" type="none"/>
          </a:ln>
        </p:spPr>
      </p:cxnSp>
      <p:cxnSp>
        <p:nvCxnSpPr>
          <p:cNvPr id="360" name="Google Shape;360;p29"/>
          <p:cNvCxnSpPr>
            <a:stCxn id="344" idx="5"/>
            <a:endCxn id="345" idx="1"/>
          </p:cNvCxnSpPr>
          <p:nvPr/>
        </p:nvCxnSpPr>
        <p:spPr>
          <a:xfrm>
            <a:off x="2519086" y="2609451"/>
            <a:ext cx="597300" cy="524400"/>
          </a:xfrm>
          <a:prstGeom prst="straightConnector1">
            <a:avLst/>
          </a:prstGeom>
          <a:noFill/>
          <a:ln cap="flat" cmpd="sng" w="15650">
            <a:solidFill>
              <a:schemeClr val="dk2"/>
            </a:solidFill>
            <a:prstDash val="solid"/>
            <a:round/>
            <a:headEnd len="med" w="med" type="none"/>
            <a:tailEnd len="med" w="med" type="none"/>
          </a:ln>
        </p:spPr>
      </p:cxnSp>
      <p:cxnSp>
        <p:nvCxnSpPr>
          <p:cNvPr id="361" name="Google Shape;361;p29"/>
          <p:cNvCxnSpPr>
            <a:stCxn id="342" idx="3"/>
            <a:endCxn id="346" idx="7"/>
          </p:cNvCxnSpPr>
          <p:nvPr/>
        </p:nvCxnSpPr>
        <p:spPr>
          <a:xfrm flipH="1">
            <a:off x="6027525" y="2609451"/>
            <a:ext cx="810300" cy="524400"/>
          </a:xfrm>
          <a:prstGeom prst="straightConnector1">
            <a:avLst/>
          </a:prstGeom>
          <a:noFill/>
          <a:ln cap="flat" cmpd="sng" w="15650">
            <a:solidFill>
              <a:schemeClr val="dk2"/>
            </a:solidFill>
            <a:prstDash val="solid"/>
            <a:round/>
            <a:headEnd len="med" w="med" type="none"/>
            <a:tailEnd len="med" w="med" type="none"/>
          </a:ln>
        </p:spPr>
      </p:cxnSp>
      <p:cxnSp>
        <p:nvCxnSpPr>
          <p:cNvPr id="362" name="Google Shape;362;p29"/>
          <p:cNvCxnSpPr/>
          <p:nvPr/>
        </p:nvCxnSpPr>
        <p:spPr>
          <a:xfrm>
            <a:off x="7298893" y="2609451"/>
            <a:ext cx="571200" cy="524400"/>
          </a:xfrm>
          <a:prstGeom prst="straightConnector1">
            <a:avLst/>
          </a:prstGeom>
          <a:noFill/>
          <a:ln cap="flat" cmpd="sng" w="15650">
            <a:solidFill>
              <a:schemeClr val="dk2"/>
            </a:solidFill>
            <a:prstDash val="solid"/>
            <a:round/>
            <a:headEnd len="med" w="med" type="none"/>
            <a:tailEnd len="med" w="med" type="none"/>
          </a:ln>
        </p:spPr>
      </p:cxnSp>
      <p:cxnSp>
        <p:nvCxnSpPr>
          <p:cNvPr id="363" name="Google Shape;363;p29"/>
          <p:cNvCxnSpPr>
            <a:stCxn id="348" idx="3"/>
            <a:endCxn id="356" idx="0"/>
          </p:cNvCxnSpPr>
          <p:nvPr/>
        </p:nvCxnSpPr>
        <p:spPr>
          <a:xfrm flipH="1">
            <a:off x="354537" y="3634995"/>
            <a:ext cx="349200" cy="495000"/>
          </a:xfrm>
          <a:prstGeom prst="straightConnector1">
            <a:avLst/>
          </a:prstGeom>
          <a:noFill/>
          <a:ln cap="flat" cmpd="sng" w="15650">
            <a:solidFill>
              <a:schemeClr val="dk2"/>
            </a:solidFill>
            <a:prstDash val="solid"/>
            <a:round/>
            <a:headEnd len="med" w="med" type="none"/>
            <a:tailEnd len="med" w="med" type="none"/>
          </a:ln>
        </p:spPr>
      </p:cxnSp>
      <p:cxnSp>
        <p:nvCxnSpPr>
          <p:cNvPr id="364" name="Google Shape;364;p29"/>
          <p:cNvCxnSpPr>
            <a:stCxn id="348" idx="5"/>
            <a:endCxn id="355" idx="0"/>
          </p:cNvCxnSpPr>
          <p:nvPr/>
        </p:nvCxnSpPr>
        <p:spPr>
          <a:xfrm>
            <a:off x="1205005" y="3634995"/>
            <a:ext cx="354600" cy="495000"/>
          </a:xfrm>
          <a:prstGeom prst="straightConnector1">
            <a:avLst/>
          </a:prstGeom>
          <a:noFill/>
          <a:ln cap="flat" cmpd="sng" w="15650">
            <a:solidFill>
              <a:schemeClr val="dk2"/>
            </a:solidFill>
            <a:prstDash val="solid"/>
            <a:round/>
            <a:headEnd len="med" w="med" type="none"/>
            <a:tailEnd len="med" w="med" type="none"/>
          </a:ln>
        </p:spPr>
      </p:cxnSp>
      <p:cxnSp>
        <p:nvCxnSpPr>
          <p:cNvPr id="365" name="Google Shape;365;p29"/>
          <p:cNvCxnSpPr>
            <a:stCxn id="345" idx="3"/>
            <a:endCxn id="354" idx="0"/>
          </p:cNvCxnSpPr>
          <p:nvPr/>
        </p:nvCxnSpPr>
        <p:spPr>
          <a:xfrm flipH="1">
            <a:off x="2764491" y="3634995"/>
            <a:ext cx="351900" cy="495000"/>
          </a:xfrm>
          <a:prstGeom prst="straightConnector1">
            <a:avLst/>
          </a:prstGeom>
          <a:noFill/>
          <a:ln cap="flat" cmpd="sng" w="15650">
            <a:solidFill>
              <a:schemeClr val="dk2"/>
            </a:solidFill>
            <a:prstDash val="solid"/>
            <a:round/>
            <a:headEnd len="med" w="med" type="none"/>
            <a:tailEnd len="med" w="med" type="none"/>
          </a:ln>
        </p:spPr>
      </p:cxnSp>
      <p:cxnSp>
        <p:nvCxnSpPr>
          <p:cNvPr id="366" name="Google Shape;366;p29"/>
          <p:cNvCxnSpPr>
            <a:stCxn id="345" idx="5"/>
            <a:endCxn id="353" idx="0"/>
          </p:cNvCxnSpPr>
          <p:nvPr/>
        </p:nvCxnSpPr>
        <p:spPr>
          <a:xfrm>
            <a:off x="3617659" y="3634995"/>
            <a:ext cx="351900" cy="495000"/>
          </a:xfrm>
          <a:prstGeom prst="straightConnector1">
            <a:avLst/>
          </a:prstGeom>
          <a:noFill/>
          <a:ln cap="flat" cmpd="sng" w="15650">
            <a:solidFill>
              <a:schemeClr val="dk2"/>
            </a:solidFill>
            <a:prstDash val="solid"/>
            <a:round/>
            <a:headEnd len="med" w="med" type="none"/>
            <a:tailEnd len="med" w="med" type="none"/>
          </a:ln>
        </p:spPr>
      </p:cxnSp>
      <p:cxnSp>
        <p:nvCxnSpPr>
          <p:cNvPr id="367" name="Google Shape;367;p29"/>
          <p:cNvCxnSpPr>
            <a:stCxn id="346" idx="3"/>
            <a:endCxn id="352" idx="0"/>
          </p:cNvCxnSpPr>
          <p:nvPr/>
        </p:nvCxnSpPr>
        <p:spPr>
          <a:xfrm flipH="1">
            <a:off x="5174453" y="3634995"/>
            <a:ext cx="351900" cy="495000"/>
          </a:xfrm>
          <a:prstGeom prst="straightConnector1">
            <a:avLst/>
          </a:prstGeom>
          <a:noFill/>
          <a:ln cap="flat" cmpd="sng" w="15650">
            <a:solidFill>
              <a:schemeClr val="dk2"/>
            </a:solidFill>
            <a:prstDash val="solid"/>
            <a:round/>
            <a:headEnd len="med" w="med" type="none"/>
            <a:tailEnd len="med" w="med" type="none"/>
          </a:ln>
        </p:spPr>
      </p:cxnSp>
      <p:cxnSp>
        <p:nvCxnSpPr>
          <p:cNvPr id="368" name="Google Shape;368;p29"/>
          <p:cNvCxnSpPr>
            <a:stCxn id="346" idx="5"/>
            <a:endCxn id="351" idx="0"/>
          </p:cNvCxnSpPr>
          <p:nvPr/>
        </p:nvCxnSpPr>
        <p:spPr>
          <a:xfrm>
            <a:off x="6027621" y="3634995"/>
            <a:ext cx="351900" cy="495000"/>
          </a:xfrm>
          <a:prstGeom prst="straightConnector1">
            <a:avLst/>
          </a:prstGeom>
          <a:noFill/>
          <a:ln cap="flat" cmpd="sng" w="15650">
            <a:solidFill>
              <a:schemeClr val="dk2"/>
            </a:solidFill>
            <a:prstDash val="solid"/>
            <a:round/>
            <a:headEnd len="med" w="med" type="none"/>
            <a:tailEnd len="med" w="med" type="none"/>
          </a:ln>
        </p:spPr>
      </p:cxnSp>
      <p:cxnSp>
        <p:nvCxnSpPr>
          <p:cNvPr id="369" name="Google Shape;369;p29"/>
          <p:cNvCxnSpPr>
            <a:stCxn id="347" idx="3"/>
            <a:endCxn id="350" idx="0"/>
          </p:cNvCxnSpPr>
          <p:nvPr/>
        </p:nvCxnSpPr>
        <p:spPr>
          <a:xfrm flipH="1">
            <a:off x="7584406" y="3634995"/>
            <a:ext cx="325800" cy="495000"/>
          </a:xfrm>
          <a:prstGeom prst="straightConnector1">
            <a:avLst/>
          </a:prstGeom>
          <a:noFill/>
          <a:ln cap="flat" cmpd="sng" w="15650">
            <a:solidFill>
              <a:schemeClr val="dk2"/>
            </a:solidFill>
            <a:prstDash val="solid"/>
            <a:round/>
            <a:headEnd len="med" w="med" type="none"/>
            <a:tailEnd len="med" w="med" type="none"/>
          </a:ln>
        </p:spPr>
      </p:cxnSp>
      <p:cxnSp>
        <p:nvCxnSpPr>
          <p:cNvPr id="370" name="Google Shape;370;p29"/>
          <p:cNvCxnSpPr>
            <a:stCxn id="347" idx="5"/>
            <a:endCxn id="349" idx="0"/>
          </p:cNvCxnSpPr>
          <p:nvPr/>
        </p:nvCxnSpPr>
        <p:spPr>
          <a:xfrm>
            <a:off x="8411474" y="3634995"/>
            <a:ext cx="378000" cy="495000"/>
          </a:xfrm>
          <a:prstGeom prst="straightConnector1">
            <a:avLst/>
          </a:prstGeom>
          <a:noFill/>
          <a:ln cap="flat" cmpd="sng" w="15650">
            <a:solidFill>
              <a:schemeClr val="dk2"/>
            </a:solidFill>
            <a:prstDash val="solid"/>
            <a:round/>
            <a:headEnd len="med" w="med" type="none"/>
            <a:tailEnd len="med" w="med" type="none"/>
          </a:ln>
        </p:spPr>
      </p:cxnSp>
      <p:sp>
        <p:nvSpPr>
          <p:cNvPr id="371" name="Google Shape;371;p29"/>
          <p:cNvSpPr/>
          <p:nvPr/>
        </p:nvSpPr>
        <p:spPr>
          <a:xfrm>
            <a:off x="6025050" y="3951300"/>
            <a:ext cx="3119100" cy="987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72" name="Google Shape;372;p29"/>
          <p:cNvSpPr txBox="1"/>
          <p:nvPr/>
        </p:nvSpPr>
        <p:spPr>
          <a:xfrm>
            <a:off x="6232550" y="3400225"/>
            <a:ext cx="2077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lt2"/>
                </a:solidFill>
                <a:latin typeface="Roboto"/>
                <a:ea typeface="Roboto"/>
                <a:cs typeface="Roboto"/>
                <a:sym typeface="Roboto"/>
              </a:rPr>
              <a:t>Tuvieron que ser completados</a:t>
            </a:r>
            <a:endParaRPr>
              <a:solidFill>
                <a:schemeClr val="lt2"/>
              </a:solidFill>
              <a:latin typeface="Roboto"/>
              <a:ea typeface="Roboto"/>
              <a:cs typeface="Roboto"/>
              <a:sym typeface="Roboto"/>
            </a:endParaRPr>
          </a:p>
        </p:txBody>
      </p:sp>
      <p:sp>
        <p:nvSpPr>
          <p:cNvPr id="373" name="Google Shape;373;p29"/>
          <p:cNvSpPr txBox="1"/>
          <p:nvPr/>
        </p:nvSpPr>
        <p:spPr>
          <a:xfrm>
            <a:off x="98250" y="785325"/>
            <a:ext cx="3539700" cy="7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Partimos de un array con 5 elementos → vamos hasta 2³=8</a:t>
            </a:r>
            <a:endParaRPr sz="1800">
              <a:solidFill>
                <a:schemeClr val="lt2"/>
              </a:solidFill>
              <a:latin typeface="Roboto"/>
              <a:ea typeface="Roboto"/>
              <a:cs typeface="Roboto"/>
              <a:sym typeface="Roboto"/>
            </a:endParaRPr>
          </a:p>
        </p:txBody>
      </p:sp>
      <p:sp>
        <p:nvSpPr>
          <p:cNvPr id="374" name="Google Shape;374;p2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75" name="Google Shape;375;p2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Estructura y Representación</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Operaciones del </a:t>
            </a:r>
            <a:r>
              <a:rPr lang="es-419"/>
              <a:t>árbol</a:t>
            </a:r>
            <a:endParaRPr/>
          </a:p>
        </p:txBody>
      </p:sp>
      <p:sp>
        <p:nvSpPr>
          <p:cNvPr id="381" name="Google Shape;381;p3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55600" lvl="0" marL="457200" rtl="0" algn="l">
              <a:lnSpc>
                <a:spcPct val="200000"/>
              </a:lnSpc>
              <a:spcBef>
                <a:spcPts val="0"/>
              </a:spcBef>
              <a:spcAft>
                <a:spcPts val="0"/>
              </a:spcAft>
              <a:buClr>
                <a:schemeClr val="dk2"/>
              </a:buClr>
              <a:buSzPts val="2000"/>
              <a:buChar char="➢"/>
            </a:pPr>
            <a:r>
              <a:rPr lang="es-419" sz="2000">
                <a:solidFill>
                  <a:schemeClr val="dk2"/>
                </a:solidFill>
              </a:rPr>
              <a:t>op(v1, v2) → Realiza la operación entre dos valores dados</a:t>
            </a:r>
            <a:endParaRPr sz="2000">
              <a:solidFill>
                <a:schemeClr val="dk2"/>
              </a:solidFill>
            </a:endParaRPr>
          </a:p>
          <a:p>
            <a:pPr indent="-355600" lvl="0" marL="457200" rtl="0" algn="l">
              <a:lnSpc>
                <a:spcPct val="200000"/>
              </a:lnSpc>
              <a:spcBef>
                <a:spcPts val="1000"/>
              </a:spcBef>
              <a:spcAft>
                <a:spcPts val="0"/>
              </a:spcAft>
              <a:buClr>
                <a:schemeClr val="dk2"/>
              </a:buClr>
              <a:buSzPts val="2000"/>
              <a:buChar char="➢"/>
            </a:pPr>
            <a:r>
              <a:rPr lang="es-419" sz="2000">
                <a:solidFill>
                  <a:schemeClr val="dk2"/>
                </a:solidFill>
              </a:rPr>
              <a:t>build(idx, l, r) → Construye el árbol a partir del arreglo original</a:t>
            </a:r>
            <a:endParaRPr sz="2000">
              <a:solidFill>
                <a:schemeClr val="dk2"/>
              </a:solidFill>
            </a:endParaRPr>
          </a:p>
          <a:p>
            <a:pPr indent="-355600" lvl="0" marL="457200" rtl="0" algn="l">
              <a:lnSpc>
                <a:spcPct val="200000"/>
              </a:lnSpc>
              <a:spcBef>
                <a:spcPts val="1000"/>
              </a:spcBef>
              <a:spcAft>
                <a:spcPts val="0"/>
              </a:spcAft>
              <a:buClr>
                <a:schemeClr val="dk2"/>
              </a:buClr>
              <a:buSzPts val="2000"/>
              <a:buChar char="➢"/>
            </a:pPr>
            <a:r>
              <a:rPr lang="es-419" sz="2000">
                <a:solidFill>
                  <a:schemeClr val="dk2"/>
                </a:solidFill>
              </a:rPr>
              <a:t>set(idx, val) → Establece el valor </a:t>
            </a:r>
            <a:r>
              <a:rPr i="1" lang="es-419" sz="2000">
                <a:solidFill>
                  <a:schemeClr val="dk2"/>
                </a:solidFill>
              </a:rPr>
              <a:t>val</a:t>
            </a:r>
            <a:r>
              <a:rPr lang="es-419" sz="2000">
                <a:solidFill>
                  <a:schemeClr val="dk2"/>
                </a:solidFill>
              </a:rPr>
              <a:t> en la posición </a:t>
            </a:r>
            <a:r>
              <a:rPr i="1" lang="es-419" sz="2000">
                <a:solidFill>
                  <a:schemeClr val="dk2"/>
                </a:solidFill>
              </a:rPr>
              <a:t>idx</a:t>
            </a:r>
            <a:r>
              <a:rPr lang="es-419" sz="2000">
                <a:solidFill>
                  <a:schemeClr val="dk2"/>
                </a:solidFill>
              </a:rPr>
              <a:t> del arreglo</a:t>
            </a:r>
            <a:endParaRPr sz="2000">
              <a:solidFill>
                <a:schemeClr val="dk2"/>
              </a:solidFill>
            </a:endParaRPr>
          </a:p>
          <a:p>
            <a:pPr indent="-355600" lvl="0" marL="457200" rtl="0" algn="l">
              <a:lnSpc>
                <a:spcPct val="200000"/>
              </a:lnSpc>
              <a:spcBef>
                <a:spcPts val="1000"/>
              </a:spcBef>
              <a:spcAft>
                <a:spcPts val="1000"/>
              </a:spcAft>
              <a:buClr>
                <a:schemeClr val="dk2"/>
              </a:buClr>
              <a:buSzPts val="2000"/>
              <a:buChar char="➢"/>
            </a:pPr>
            <a:r>
              <a:rPr lang="es-419" sz="2000">
                <a:solidFill>
                  <a:schemeClr val="dk2"/>
                </a:solidFill>
              </a:rPr>
              <a:t>query(l, r) → Responde a la operación dada en el rango [L; R-1]</a:t>
            </a:r>
            <a:endParaRPr sz="2000">
              <a:solidFill>
                <a:schemeClr val="dk2"/>
              </a:solidFill>
            </a:endParaRPr>
          </a:p>
        </p:txBody>
      </p:sp>
      <p:sp>
        <p:nvSpPr>
          <p:cNvPr id="382" name="Google Shape;382;p3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1"/>
          <p:cNvSpPr txBox="1"/>
          <p:nvPr>
            <p:ph idx="4294967295" type="body"/>
          </p:nvPr>
        </p:nvSpPr>
        <p:spPr>
          <a:xfrm>
            <a:off x="109050" y="664475"/>
            <a:ext cx="8925900" cy="4479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s-419" sz="2000">
                <a:solidFill>
                  <a:srgbClr val="1AB1CD"/>
                </a:solidFill>
                <a:latin typeface="Roboto Mono"/>
                <a:ea typeface="Roboto Mono"/>
                <a:cs typeface="Roboto Mono"/>
                <a:sym typeface="Roboto Mono"/>
              </a:rPr>
              <a:t>op</a:t>
            </a:r>
            <a:r>
              <a:rPr lang="es-419" sz="2000">
                <a:solidFill>
                  <a:srgbClr val="000000"/>
                </a:solidFill>
                <a:latin typeface="Roboto Mono"/>
                <a:ea typeface="Roboto Mono"/>
                <a:cs typeface="Roboto Mono"/>
                <a:sym typeface="Roboto Mono"/>
              </a:rPr>
              <a:t>(</a:t>
            </a:r>
            <a:r>
              <a:rPr lang="es-419" sz="2000">
                <a:solidFill>
                  <a:srgbClr val="1AB1CD"/>
                </a:solidFill>
                <a:latin typeface="Roboto Mono"/>
                <a:ea typeface="Roboto Mono"/>
                <a:cs typeface="Roboto Mono"/>
                <a:sym typeface="Roboto Mono"/>
              </a:rPr>
              <a:t>v1</a:t>
            </a:r>
            <a:r>
              <a:rPr lang="es-419" sz="2000">
                <a:solidFill>
                  <a:srgbClr val="000000"/>
                </a:solidFill>
                <a:latin typeface="Roboto Mono"/>
                <a:ea typeface="Roboto Mono"/>
                <a:cs typeface="Roboto Mono"/>
                <a:sym typeface="Roboto Mono"/>
              </a:rPr>
              <a:t>, </a:t>
            </a:r>
            <a:r>
              <a:rPr lang="es-419" sz="2000">
                <a:solidFill>
                  <a:srgbClr val="1AB1CD"/>
                </a:solidFill>
                <a:latin typeface="Roboto Mono"/>
                <a:ea typeface="Roboto Mono"/>
                <a:cs typeface="Roboto Mono"/>
                <a:sym typeface="Roboto Mono"/>
              </a:rPr>
              <a:t>v2</a:t>
            </a:r>
            <a:r>
              <a:rPr lang="es-419" sz="2000">
                <a:solidFill>
                  <a:srgbClr val="000000"/>
                </a:solidFill>
                <a:latin typeface="Roboto Mono"/>
                <a:ea typeface="Roboto Mono"/>
                <a:cs typeface="Roboto Mono"/>
                <a:sym typeface="Roboto Mono"/>
              </a:rPr>
              <a:t>):  </a:t>
            </a:r>
            <a:r>
              <a:rPr lang="es-419" sz="2000">
                <a:solidFill>
                  <a:srgbClr val="1AB1CD"/>
                </a:solidFill>
                <a:latin typeface="Roboto Mono"/>
                <a:ea typeface="Roboto Mono"/>
                <a:cs typeface="Roboto Mono"/>
                <a:sym typeface="Roboto Mono"/>
              </a:rPr>
              <a:t>v1</a:t>
            </a:r>
            <a:r>
              <a:rPr lang="es-419" sz="2000">
                <a:solidFill>
                  <a:srgbClr val="000000"/>
                </a:solidFill>
                <a:latin typeface="Roboto Mono"/>
                <a:ea typeface="Roboto Mono"/>
                <a:cs typeface="Roboto Mono"/>
                <a:sym typeface="Roboto Mono"/>
              </a:rPr>
              <a:t> </a:t>
            </a:r>
            <a:r>
              <a:rPr b="1" lang="es-419" sz="2000">
                <a:solidFill>
                  <a:srgbClr val="EE11FF"/>
                </a:solidFill>
                <a:latin typeface="Roboto Mono"/>
                <a:ea typeface="Roboto Mono"/>
                <a:cs typeface="Roboto Mono"/>
                <a:sym typeface="Roboto Mono"/>
              </a:rPr>
              <a:t>+</a:t>
            </a:r>
            <a:r>
              <a:rPr lang="es-419" sz="2000">
                <a:solidFill>
                  <a:srgbClr val="000000"/>
                </a:solidFill>
                <a:latin typeface="Roboto Mono"/>
                <a:ea typeface="Roboto Mono"/>
                <a:cs typeface="Roboto Mono"/>
                <a:sym typeface="Roboto Mono"/>
              </a:rPr>
              <a:t> </a:t>
            </a:r>
            <a:r>
              <a:rPr lang="es-419" sz="2000">
                <a:solidFill>
                  <a:srgbClr val="1AB1CD"/>
                </a:solidFill>
                <a:latin typeface="Roboto Mono"/>
                <a:ea typeface="Roboto Mono"/>
                <a:cs typeface="Roboto Mono"/>
                <a:sym typeface="Roboto Mono"/>
              </a:rPr>
              <a:t>v2</a:t>
            </a:r>
            <a:endParaRPr sz="2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1AB1CD"/>
                </a:solidFill>
                <a:latin typeface="Roboto Mono"/>
                <a:ea typeface="Roboto Mono"/>
                <a:cs typeface="Roboto Mono"/>
                <a:sym typeface="Roboto Mono"/>
              </a:rPr>
              <a:t>build</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000000"/>
                </a:solidFill>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if</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tree</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arr</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l</a:t>
            </a:r>
            <a:r>
              <a:rPr lang="es-419">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000000"/>
                </a:solidFill>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return</a:t>
            </a:r>
            <a:endParaRPr>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mid</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2</a:t>
            </a:r>
            <a:endParaRPr>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build</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b="1" lang="es-419">
                <a:solidFill>
                  <a:srgbClr val="EE11FF"/>
                </a:solidFill>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2</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mid</a:t>
            </a:r>
            <a:r>
              <a:rPr lang="es-419">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build</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b="1" lang="es-419">
                <a:solidFill>
                  <a:srgbClr val="EE11FF"/>
                </a:solidFill>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2</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1</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mid</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1</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tree</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op</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tree</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b="1" lang="es-419">
                <a:solidFill>
                  <a:srgbClr val="EE11FF"/>
                </a:solidFill>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2</a:t>
            </a:r>
            <a:r>
              <a:rPr lang="es-419">
                <a:solidFill>
                  <a:srgbClr val="000000"/>
                </a:solidFill>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tree</a:t>
            </a:r>
            <a:r>
              <a:rPr lang="es-419">
                <a:solidFill>
                  <a:srgbClr val="000000"/>
                </a:solidFill>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b="1" lang="es-419">
                <a:solidFill>
                  <a:srgbClr val="EE11FF"/>
                </a:solidFill>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2</a:t>
            </a:r>
            <a:r>
              <a:rPr lang="es-419">
                <a:solidFill>
                  <a:srgbClr val="000000"/>
                </a:solidFill>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solidFill>
                  <a:srgbClr val="000000"/>
                </a:solidFill>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1</a:t>
            </a:r>
            <a:r>
              <a:rPr lang="es-419">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1200"/>
              </a:spcAft>
              <a:buNone/>
            </a:pPr>
            <a:r>
              <a:t/>
            </a:r>
            <a:endParaRPr>
              <a:solidFill>
                <a:srgbClr val="000000"/>
              </a:solidFill>
              <a:latin typeface="Roboto Mono"/>
              <a:ea typeface="Roboto Mono"/>
              <a:cs typeface="Roboto Mono"/>
              <a:sym typeface="Roboto Mono"/>
            </a:endParaRPr>
          </a:p>
        </p:txBody>
      </p:sp>
      <p:sp>
        <p:nvSpPr>
          <p:cNvPr id="388" name="Google Shape;388;p3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Operaci</a:t>
            </a:r>
            <a:r>
              <a:rPr lang="es-419" sz="2000"/>
              <a:t>ón (op) y </a:t>
            </a:r>
            <a:r>
              <a:rPr lang="es-419" sz="2000"/>
              <a:t>Construcci</a:t>
            </a:r>
            <a:r>
              <a:rPr lang="es-419" sz="2000"/>
              <a:t>ón (build)</a:t>
            </a:r>
            <a:endParaRPr sz="2000"/>
          </a:p>
        </p:txBody>
      </p:sp>
      <p:sp>
        <p:nvSpPr>
          <p:cNvPr id="389" name="Google Shape;389;p31"/>
          <p:cNvSpPr/>
          <p:nvPr/>
        </p:nvSpPr>
        <p:spPr>
          <a:xfrm>
            <a:off x="3917250" y="1981350"/>
            <a:ext cx="113700" cy="11808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0" name="Google Shape;390;p31"/>
          <p:cNvSpPr/>
          <p:nvPr/>
        </p:nvSpPr>
        <p:spPr>
          <a:xfrm>
            <a:off x="4750900" y="3304100"/>
            <a:ext cx="113700" cy="13275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1" name="Google Shape;391;p31"/>
          <p:cNvSpPr/>
          <p:nvPr/>
        </p:nvSpPr>
        <p:spPr>
          <a:xfrm>
            <a:off x="7198575" y="4752750"/>
            <a:ext cx="113700" cy="3330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2" name="Google Shape;392;p31"/>
          <p:cNvSpPr txBox="1"/>
          <p:nvPr/>
        </p:nvSpPr>
        <p:spPr>
          <a:xfrm>
            <a:off x="5529550" y="749400"/>
            <a:ext cx="3326700" cy="7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Book Antiqua"/>
                <a:ea typeface="Book Antiqua"/>
                <a:cs typeface="Book Antiqua"/>
                <a:sym typeface="Book Antiqua"/>
              </a:rPr>
              <a:t>node → idx en array del árbol</a:t>
            </a:r>
            <a:endParaRPr sz="1800">
              <a:solidFill>
                <a:schemeClr val="lt2"/>
              </a:solidFill>
              <a:latin typeface="Book Antiqua"/>
              <a:ea typeface="Book Antiqua"/>
              <a:cs typeface="Book Antiqua"/>
              <a:sym typeface="Book Antiqua"/>
            </a:endParaRPr>
          </a:p>
          <a:p>
            <a:pPr indent="0" lvl="0" marL="0" rtl="0" algn="l">
              <a:spcBef>
                <a:spcPts val="0"/>
              </a:spcBef>
              <a:spcAft>
                <a:spcPts val="0"/>
              </a:spcAft>
              <a:buNone/>
            </a:pPr>
            <a:r>
              <a:rPr lang="es-419" sz="1800">
                <a:solidFill>
                  <a:schemeClr val="lt2"/>
                </a:solidFill>
                <a:latin typeface="Book Antiqua"/>
                <a:ea typeface="Book Antiqua"/>
                <a:cs typeface="Book Antiqua"/>
                <a:sym typeface="Book Antiqua"/>
              </a:rPr>
              <a:t>l y r → idx en el array original</a:t>
            </a:r>
            <a:endParaRPr sz="1800">
              <a:solidFill>
                <a:schemeClr val="lt2"/>
              </a:solidFill>
              <a:latin typeface="Book Antiqua"/>
              <a:ea typeface="Book Antiqua"/>
              <a:cs typeface="Book Antiqua"/>
              <a:sym typeface="Book Antiqua"/>
            </a:endParaRPr>
          </a:p>
        </p:txBody>
      </p:sp>
      <p:sp>
        <p:nvSpPr>
          <p:cNvPr id="393" name="Google Shape;393;p31"/>
          <p:cNvSpPr txBox="1"/>
          <p:nvPr/>
        </p:nvSpPr>
        <p:spPr>
          <a:xfrm>
            <a:off x="4038300" y="2347500"/>
            <a:ext cx="10674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Es hoja</a:t>
            </a:r>
            <a:endParaRPr sz="1800">
              <a:solidFill>
                <a:schemeClr val="lt2"/>
              </a:solidFill>
              <a:latin typeface="Roboto"/>
              <a:ea typeface="Roboto"/>
              <a:cs typeface="Roboto"/>
              <a:sym typeface="Roboto"/>
            </a:endParaRPr>
          </a:p>
        </p:txBody>
      </p:sp>
      <p:sp>
        <p:nvSpPr>
          <p:cNvPr id="394" name="Google Shape;394;p31"/>
          <p:cNvSpPr txBox="1"/>
          <p:nvPr/>
        </p:nvSpPr>
        <p:spPr>
          <a:xfrm>
            <a:off x="4864600" y="3743600"/>
            <a:ext cx="19029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Calcula los hijos</a:t>
            </a:r>
            <a:endParaRPr sz="1800">
              <a:solidFill>
                <a:schemeClr val="lt2"/>
              </a:solidFill>
              <a:latin typeface="Roboto"/>
              <a:ea typeface="Roboto"/>
              <a:cs typeface="Roboto"/>
              <a:sym typeface="Roboto"/>
            </a:endParaRPr>
          </a:p>
        </p:txBody>
      </p:sp>
      <p:sp>
        <p:nvSpPr>
          <p:cNvPr id="395" name="Google Shape;395;p31"/>
          <p:cNvSpPr txBox="1"/>
          <p:nvPr/>
        </p:nvSpPr>
        <p:spPr>
          <a:xfrm>
            <a:off x="7312275" y="4695000"/>
            <a:ext cx="19029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lt2"/>
                </a:solidFill>
                <a:latin typeface="Roboto"/>
                <a:ea typeface="Roboto"/>
                <a:cs typeface="Roboto"/>
                <a:sym typeface="Roboto"/>
              </a:rPr>
              <a:t>Cálculo</a:t>
            </a:r>
            <a:r>
              <a:rPr lang="es-419" sz="1600">
                <a:solidFill>
                  <a:schemeClr val="lt2"/>
                </a:solidFill>
                <a:latin typeface="Roboto"/>
                <a:ea typeface="Roboto"/>
                <a:cs typeface="Roboto"/>
                <a:sym typeface="Roboto"/>
              </a:rPr>
              <a:t> propio</a:t>
            </a:r>
            <a:endParaRPr sz="1600">
              <a:solidFill>
                <a:schemeClr val="lt2"/>
              </a:solidFill>
              <a:latin typeface="Roboto"/>
              <a:ea typeface="Roboto"/>
              <a:cs typeface="Roboto"/>
              <a:sym typeface="Roboto"/>
            </a:endParaRPr>
          </a:p>
        </p:txBody>
      </p:sp>
      <p:sp>
        <p:nvSpPr>
          <p:cNvPr id="396" name="Google Shape;396;p3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Construcción (build)</a:t>
            </a:r>
            <a:endParaRPr sz="2000"/>
          </a:p>
        </p:txBody>
      </p:sp>
      <p:sp>
        <p:nvSpPr>
          <p:cNvPr id="402" name="Google Shape;402;p32"/>
          <p:cNvSpPr txBox="1"/>
          <p:nvPr/>
        </p:nvSpPr>
        <p:spPr>
          <a:xfrm>
            <a:off x="102200" y="783450"/>
            <a:ext cx="26001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Partimos del arreglo: </a:t>
            </a:r>
            <a:endParaRPr sz="1800">
              <a:solidFill>
                <a:schemeClr val="lt2"/>
              </a:solidFill>
              <a:latin typeface="Roboto"/>
              <a:ea typeface="Roboto"/>
              <a:cs typeface="Roboto"/>
              <a:sym typeface="Roboto"/>
            </a:endParaRPr>
          </a:p>
        </p:txBody>
      </p:sp>
      <p:graphicFrame>
        <p:nvGraphicFramePr>
          <p:cNvPr id="403" name="Google Shape;403;p32"/>
          <p:cNvGraphicFramePr/>
          <p:nvPr/>
        </p:nvGraphicFramePr>
        <p:xfrm>
          <a:off x="2462625" y="829400"/>
          <a:ext cx="3000000" cy="3000000"/>
        </p:xfrm>
        <a:graphic>
          <a:graphicData uri="http://schemas.openxmlformats.org/drawingml/2006/table">
            <a:tbl>
              <a:tblPr>
                <a:noFill/>
                <a:tableStyleId>{82B1C205-92B4-459F-ACDD-4BC05602446F}</a:tableStyleId>
              </a:tblPr>
              <a:tblGrid>
                <a:gridCol w="789325"/>
                <a:gridCol w="789325"/>
                <a:gridCol w="789325"/>
                <a:gridCol w="789325"/>
                <a:gridCol w="789325"/>
                <a:gridCol w="789325"/>
                <a:gridCol w="789325"/>
                <a:gridCol w="789325"/>
              </a:tblGrid>
              <a:tr h="381000">
                <a:tc>
                  <a:txBody>
                    <a:bodyPr/>
                    <a:lstStyle/>
                    <a:p>
                      <a:pPr indent="0" lvl="0" marL="0" rtl="0" algn="ctr">
                        <a:spcBef>
                          <a:spcPts val="0"/>
                        </a:spcBef>
                        <a:spcAft>
                          <a:spcPts val="0"/>
                        </a:spcAft>
                        <a:buNone/>
                      </a:pPr>
                      <a:r>
                        <a:rPr lang="es-419"/>
                        <a:t>6</a:t>
                      </a:r>
                      <a:endParaRPr/>
                    </a:p>
                  </a:txBody>
                  <a:tcPr marT="91425" marB="91425" marR="91425" marL="91425" anchor="ctr"/>
                </a:tc>
                <a:tc>
                  <a:txBody>
                    <a:bodyPr/>
                    <a:lstStyle/>
                    <a:p>
                      <a:pPr indent="0" lvl="0" marL="0" rtl="0" algn="ctr">
                        <a:spcBef>
                          <a:spcPts val="0"/>
                        </a:spcBef>
                        <a:spcAft>
                          <a:spcPts val="0"/>
                        </a:spcAft>
                        <a:buNone/>
                      </a:pPr>
                      <a:r>
                        <a:rPr lang="es-419"/>
                        <a:t>9</a:t>
                      </a:r>
                      <a:endParaRPr/>
                    </a:p>
                  </a:txBody>
                  <a:tcPr marT="91425" marB="91425" marR="91425" marL="91425" anchor="ctr"/>
                </a:tc>
                <a:tc>
                  <a:txBody>
                    <a:bodyPr/>
                    <a:lstStyle/>
                    <a:p>
                      <a:pPr indent="0" lvl="0" marL="0" rtl="0" algn="ctr">
                        <a:spcBef>
                          <a:spcPts val="0"/>
                        </a:spcBef>
                        <a:spcAft>
                          <a:spcPts val="0"/>
                        </a:spcAft>
                        <a:buNone/>
                      </a:pPr>
                      <a:r>
                        <a:rPr lang="es-419"/>
                        <a:t>1</a:t>
                      </a:r>
                      <a:endParaRPr/>
                    </a:p>
                  </a:txBody>
                  <a:tcPr marT="91425" marB="91425" marR="91425" marL="91425" anchor="ctr"/>
                </a:tc>
                <a:tc>
                  <a:txBody>
                    <a:bodyPr/>
                    <a:lstStyle/>
                    <a:p>
                      <a:pPr indent="0" lvl="0" marL="0" rtl="0" algn="ctr">
                        <a:spcBef>
                          <a:spcPts val="0"/>
                        </a:spcBef>
                        <a:spcAft>
                          <a:spcPts val="0"/>
                        </a:spcAft>
                        <a:buNone/>
                      </a:pPr>
                      <a:r>
                        <a:rPr lang="es-419"/>
                        <a:t>2</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5</a:t>
                      </a:r>
                      <a:endParaRPr/>
                    </a:p>
                  </a:txBody>
                  <a:tcPr marT="91425" marB="91425" marR="91425" marL="91425" anchor="ctr"/>
                </a:tc>
                <a:tc>
                  <a:txBody>
                    <a:bodyPr/>
                    <a:lstStyle/>
                    <a:p>
                      <a:pPr indent="0" lvl="0" marL="0" rtl="0" algn="ctr">
                        <a:spcBef>
                          <a:spcPts val="0"/>
                        </a:spcBef>
                        <a:spcAft>
                          <a:spcPts val="0"/>
                        </a:spcAft>
                        <a:buNone/>
                      </a:pPr>
                      <a:r>
                        <a:rPr lang="es-419"/>
                        <a:t>4</a:t>
                      </a:r>
                      <a:endParaRPr/>
                    </a:p>
                  </a:txBody>
                  <a:tcPr marT="91425" marB="91425" marR="91425" marL="91425" anchor="ctr"/>
                </a:tc>
                <a:tc>
                  <a:txBody>
                    <a:bodyPr/>
                    <a:lstStyle/>
                    <a:p>
                      <a:pPr indent="0" lvl="0" marL="0" rtl="0" algn="ctr">
                        <a:spcBef>
                          <a:spcPts val="0"/>
                        </a:spcBef>
                        <a:spcAft>
                          <a:spcPts val="0"/>
                        </a:spcAft>
                        <a:buNone/>
                      </a:pPr>
                      <a:r>
                        <a:rPr lang="es-419"/>
                        <a:t>8</a:t>
                      </a:r>
                      <a:endParaRPr/>
                    </a:p>
                  </a:txBody>
                  <a:tcPr marT="91425" marB="91425" marR="91425" marL="91425" anchor="ctr"/>
                </a:tc>
              </a:tr>
            </a:tbl>
          </a:graphicData>
        </a:graphic>
      </p:graphicFrame>
      <p:sp>
        <p:nvSpPr>
          <p:cNvPr id="404" name="Google Shape;404;p3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05" name="Google Shape;405;p32"/>
          <p:cNvSpPr/>
          <p:nvPr/>
        </p:nvSpPr>
        <p:spPr>
          <a:xfrm>
            <a:off x="574140"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06" name="Google Shape;406;p32"/>
          <p:cNvSpPr/>
          <p:nvPr/>
        </p:nvSpPr>
        <p:spPr>
          <a:xfrm>
            <a:off x="1596387"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07" name="Google Shape;407;p32"/>
          <p:cNvSpPr/>
          <p:nvPr/>
        </p:nvSpPr>
        <p:spPr>
          <a:xfrm>
            <a:off x="2618635"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08" name="Google Shape;408;p32"/>
          <p:cNvSpPr/>
          <p:nvPr/>
        </p:nvSpPr>
        <p:spPr>
          <a:xfrm>
            <a:off x="3640882"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09" name="Google Shape;409;p32"/>
          <p:cNvSpPr/>
          <p:nvPr/>
        </p:nvSpPr>
        <p:spPr>
          <a:xfrm>
            <a:off x="4663130"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0" name="Google Shape;410;p32"/>
          <p:cNvSpPr/>
          <p:nvPr/>
        </p:nvSpPr>
        <p:spPr>
          <a:xfrm>
            <a:off x="5685377"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1" name="Google Shape;411;p32"/>
          <p:cNvSpPr/>
          <p:nvPr/>
        </p:nvSpPr>
        <p:spPr>
          <a:xfrm>
            <a:off x="6707625"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2" name="Google Shape;412;p32"/>
          <p:cNvSpPr/>
          <p:nvPr/>
        </p:nvSpPr>
        <p:spPr>
          <a:xfrm>
            <a:off x="7729872" y="3976436"/>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3" name="Google Shape;413;p32"/>
          <p:cNvSpPr/>
          <p:nvPr/>
        </p:nvSpPr>
        <p:spPr>
          <a:xfrm>
            <a:off x="1116948" y="2871178"/>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4" name="Google Shape;414;p32"/>
          <p:cNvSpPr/>
          <p:nvPr/>
        </p:nvSpPr>
        <p:spPr>
          <a:xfrm>
            <a:off x="3161443" y="2871178"/>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5" name="Google Shape;415;p32"/>
          <p:cNvSpPr/>
          <p:nvPr/>
        </p:nvSpPr>
        <p:spPr>
          <a:xfrm>
            <a:off x="5205938" y="2871178"/>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6" name="Google Shape;416;p32"/>
          <p:cNvSpPr/>
          <p:nvPr/>
        </p:nvSpPr>
        <p:spPr>
          <a:xfrm>
            <a:off x="7250433" y="2871178"/>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7" name="Google Shape;417;p32"/>
          <p:cNvSpPr/>
          <p:nvPr/>
        </p:nvSpPr>
        <p:spPr>
          <a:xfrm>
            <a:off x="2120705" y="1990647"/>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8" name="Google Shape;418;p32"/>
          <p:cNvSpPr/>
          <p:nvPr/>
        </p:nvSpPr>
        <p:spPr>
          <a:xfrm>
            <a:off x="6209695" y="1990647"/>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2096"/>
          </a:p>
        </p:txBody>
      </p:sp>
      <p:sp>
        <p:nvSpPr>
          <p:cNvPr id="419" name="Google Shape;419;p32"/>
          <p:cNvSpPr/>
          <p:nvPr/>
        </p:nvSpPr>
        <p:spPr>
          <a:xfrm>
            <a:off x="4165200" y="1271550"/>
            <a:ext cx="719100" cy="719100"/>
          </a:xfrm>
          <a:prstGeom prst="ellipse">
            <a:avLst/>
          </a:prstGeom>
          <a:solidFill>
            <a:srgbClr val="D9EAD3"/>
          </a:solidFill>
          <a:ln cap="flat" cmpd="sng" w="28525">
            <a:solidFill>
              <a:srgbClr val="00FF00"/>
            </a:solidFill>
            <a:prstDash val="solid"/>
            <a:round/>
            <a:headEnd len="sm" w="sm" type="none"/>
            <a:tailEnd len="sm" w="sm" type="none"/>
          </a:ln>
        </p:spPr>
        <p:txBody>
          <a:bodyPr anchorCtr="0" anchor="ctr" bIns="136875" lIns="136875" spcFirstLastPara="1" rIns="136875" wrap="square" tIns="136875">
            <a:noAutofit/>
          </a:bodyPr>
          <a:lstStyle/>
          <a:p>
            <a:pPr indent="0" lvl="0" marL="0" rtl="0" algn="l">
              <a:spcBef>
                <a:spcPts val="0"/>
              </a:spcBef>
              <a:spcAft>
                <a:spcPts val="0"/>
              </a:spcAft>
              <a:buNone/>
            </a:pPr>
            <a:r>
              <a:t/>
            </a:r>
            <a:endParaRPr sz="898"/>
          </a:p>
        </p:txBody>
      </p:sp>
      <p:cxnSp>
        <p:nvCxnSpPr>
          <p:cNvPr id="420" name="Google Shape;420;p32"/>
          <p:cNvCxnSpPr>
            <a:stCxn id="419" idx="3"/>
            <a:endCxn id="417" idx="7"/>
          </p:cNvCxnSpPr>
          <p:nvPr/>
        </p:nvCxnSpPr>
        <p:spPr>
          <a:xfrm flipH="1">
            <a:off x="2734510" y="1885340"/>
            <a:ext cx="1536000" cy="210600"/>
          </a:xfrm>
          <a:prstGeom prst="straightConnector1">
            <a:avLst/>
          </a:prstGeom>
          <a:noFill/>
          <a:ln cap="flat" cmpd="sng" w="14275">
            <a:solidFill>
              <a:srgbClr val="000000"/>
            </a:solidFill>
            <a:prstDash val="solid"/>
            <a:round/>
            <a:headEnd len="med" w="med" type="none"/>
            <a:tailEnd len="med" w="med" type="none"/>
          </a:ln>
        </p:spPr>
      </p:cxnSp>
      <p:cxnSp>
        <p:nvCxnSpPr>
          <p:cNvPr id="421" name="Google Shape;421;p32"/>
          <p:cNvCxnSpPr>
            <a:stCxn id="419" idx="5"/>
            <a:endCxn id="418" idx="1"/>
          </p:cNvCxnSpPr>
          <p:nvPr/>
        </p:nvCxnSpPr>
        <p:spPr>
          <a:xfrm>
            <a:off x="4778990" y="1885340"/>
            <a:ext cx="1536000" cy="210600"/>
          </a:xfrm>
          <a:prstGeom prst="straightConnector1">
            <a:avLst/>
          </a:prstGeom>
          <a:noFill/>
          <a:ln cap="flat" cmpd="sng" w="14275">
            <a:solidFill>
              <a:srgbClr val="000000"/>
            </a:solidFill>
            <a:prstDash val="solid"/>
            <a:round/>
            <a:headEnd len="med" w="med" type="none"/>
            <a:tailEnd len="med" w="med" type="none"/>
          </a:ln>
        </p:spPr>
      </p:cxnSp>
      <p:cxnSp>
        <p:nvCxnSpPr>
          <p:cNvPr id="422" name="Google Shape;422;p32"/>
          <p:cNvCxnSpPr>
            <a:stCxn id="418" idx="5"/>
            <a:endCxn id="416" idx="1"/>
          </p:cNvCxnSpPr>
          <p:nvPr/>
        </p:nvCxnSpPr>
        <p:spPr>
          <a:xfrm>
            <a:off x="6823485" y="2604437"/>
            <a:ext cx="532200" cy="372000"/>
          </a:xfrm>
          <a:prstGeom prst="straightConnector1">
            <a:avLst/>
          </a:prstGeom>
          <a:noFill/>
          <a:ln cap="flat" cmpd="sng" w="14275">
            <a:solidFill>
              <a:srgbClr val="000000"/>
            </a:solidFill>
            <a:prstDash val="solid"/>
            <a:round/>
            <a:headEnd len="med" w="med" type="none"/>
            <a:tailEnd len="med" w="med" type="none"/>
          </a:ln>
        </p:spPr>
      </p:cxnSp>
      <p:cxnSp>
        <p:nvCxnSpPr>
          <p:cNvPr id="423" name="Google Shape;423;p32"/>
          <p:cNvCxnSpPr>
            <a:stCxn id="418" idx="3"/>
            <a:endCxn id="415" idx="7"/>
          </p:cNvCxnSpPr>
          <p:nvPr/>
        </p:nvCxnSpPr>
        <p:spPr>
          <a:xfrm flipH="1">
            <a:off x="5819705" y="2604437"/>
            <a:ext cx="495300" cy="372000"/>
          </a:xfrm>
          <a:prstGeom prst="straightConnector1">
            <a:avLst/>
          </a:prstGeom>
          <a:noFill/>
          <a:ln cap="flat" cmpd="sng" w="14275">
            <a:solidFill>
              <a:srgbClr val="000000"/>
            </a:solidFill>
            <a:prstDash val="solid"/>
            <a:round/>
            <a:headEnd len="med" w="med" type="none"/>
            <a:tailEnd len="med" w="med" type="none"/>
          </a:ln>
        </p:spPr>
      </p:cxnSp>
      <p:cxnSp>
        <p:nvCxnSpPr>
          <p:cNvPr id="424" name="Google Shape;424;p32"/>
          <p:cNvCxnSpPr>
            <a:stCxn id="415" idx="5"/>
            <a:endCxn id="410" idx="0"/>
          </p:cNvCxnSpPr>
          <p:nvPr/>
        </p:nvCxnSpPr>
        <p:spPr>
          <a:xfrm>
            <a:off x="5819728" y="3484968"/>
            <a:ext cx="225300" cy="491400"/>
          </a:xfrm>
          <a:prstGeom prst="straightConnector1">
            <a:avLst/>
          </a:prstGeom>
          <a:noFill/>
          <a:ln cap="flat" cmpd="sng" w="14275">
            <a:solidFill>
              <a:srgbClr val="000000"/>
            </a:solidFill>
            <a:prstDash val="solid"/>
            <a:round/>
            <a:headEnd len="med" w="med" type="none"/>
            <a:tailEnd len="med" w="med" type="none"/>
          </a:ln>
        </p:spPr>
      </p:cxnSp>
      <p:cxnSp>
        <p:nvCxnSpPr>
          <p:cNvPr id="425" name="Google Shape;425;p32"/>
          <p:cNvCxnSpPr>
            <a:stCxn id="415" idx="3"/>
            <a:endCxn id="409" idx="0"/>
          </p:cNvCxnSpPr>
          <p:nvPr/>
        </p:nvCxnSpPr>
        <p:spPr>
          <a:xfrm flipH="1">
            <a:off x="5022648" y="3484968"/>
            <a:ext cx="288600" cy="491400"/>
          </a:xfrm>
          <a:prstGeom prst="straightConnector1">
            <a:avLst/>
          </a:prstGeom>
          <a:noFill/>
          <a:ln cap="flat" cmpd="sng" w="14275">
            <a:solidFill>
              <a:srgbClr val="000000"/>
            </a:solidFill>
            <a:prstDash val="solid"/>
            <a:round/>
            <a:headEnd len="med" w="med" type="none"/>
            <a:tailEnd len="med" w="med" type="none"/>
          </a:ln>
        </p:spPr>
      </p:cxnSp>
      <p:cxnSp>
        <p:nvCxnSpPr>
          <p:cNvPr id="426" name="Google Shape;426;p32"/>
          <p:cNvCxnSpPr>
            <a:stCxn id="416" idx="3"/>
            <a:endCxn id="411" idx="0"/>
          </p:cNvCxnSpPr>
          <p:nvPr/>
        </p:nvCxnSpPr>
        <p:spPr>
          <a:xfrm flipH="1">
            <a:off x="7067143" y="3484968"/>
            <a:ext cx="288600" cy="491400"/>
          </a:xfrm>
          <a:prstGeom prst="straightConnector1">
            <a:avLst/>
          </a:prstGeom>
          <a:noFill/>
          <a:ln cap="flat" cmpd="sng" w="14275">
            <a:solidFill>
              <a:srgbClr val="000000"/>
            </a:solidFill>
            <a:prstDash val="solid"/>
            <a:round/>
            <a:headEnd len="med" w="med" type="none"/>
            <a:tailEnd len="med" w="med" type="none"/>
          </a:ln>
        </p:spPr>
      </p:cxnSp>
      <p:cxnSp>
        <p:nvCxnSpPr>
          <p:cNvPr id="427" name="Google Shape;427;p32"/>
          <p:cNvCxnSpPr>
            <a:stCxn id="416" idx="5"/>
            <a:endCxn id="412" idx="0"/>
          </p:cNvCxnSpPr>
          <p:nvPr/>
        </p:nvCxnSpPr>
        <p:spPr>
          <a:xfrm>
            <a:off x="7864223" y="3484968"/>
            <a:ext cx="225300" cy="491400"/>
          </a:xfrm>
          <a:prstGeom prst="straightConnector1">
            <a:avLst/>
          </a:prstGeom>
          <a:noFill/>
          <a:ln cap="flat" cmpd="sng" w="14275">
            <a:solidFill>
              <a:srgbClr val="000000"/>
            </a:solidFill>
            <a:prstDash val="solid"/>
            <a:round/>
            <a:headEnd len="med" w="med" type="none"/>
            <a:tailEnd len="med" w="med" type="none"/>
          </a:ln>
        </p:spPr>
      </p:cxnSp>
      <p:cxnSp>
        <p:nvCxnSpPr>
          <p:cNvPr id="428" name="Google Shape;428;p32"/>
          <p:cNvCxnSpPr>
            <a:stCxn id="417" idx="5"/>
            <a:endCxn id="414" idx="1"/>
          </p:cNvCxnSpPr>
          <p:nvPr/>
        </p:nvCxnSpPr>
        <p:spPr>
          <a:xfrm>
            <a:off x="2734495" y="2604437"/>
            <a:ext cx="532200" cy="372000"/>
          </a:xfrm>
          <a:prstGeom prst="straightConnector1">
            <a:avLst/>
          </a:prstGeom>
          <a:noFill/>
          <a:ln cap="flat" cmpd="sng" w="14275">
            <a:solidFill>
              <a:srgbClr val="000000"/>
            </a:solidFill>
            <a:prstDash val="solid"/>
            <a:round/>
            <a:headEnd len="med" w="med" type="none"/>
            <a:tailEnd len="med" w="med" type="none"/>
          </a:ln>
        </p:spPr>
      </p:cxnSp>
      <p:cxnSp>
        <p:nvCxnSpPr>
          <p:cNvPr id="429" name="Google Shape;429;p32"/>
          <p:cNvCxnSpPr>
            <a:stCxn id="417" idx="3"/>
            <a:endCxn id="413" idx="7"/>
          </p:cNvCxnSpPr>
          <p:nvPr/>
        </p:nvCxnSpPr>
        <p:spPr>
          <a:xfrm flipH="1">
            <a:off x="1730715" y="2604437"/>
            <a:ext cx="495300" cy="372000"/>
          </a:xfrm>
          <a:prstGeom prst="straightConnector1">
            <a:avLst/>
          </a:prstGeom>
          <a:noFill/>
          <a:ln cap="flat" cmpd="sng" w="14275">
            <a:solidFill>
              <a:srgbClr val="000000"/>
            </a:solidFill>
            <a:prstDash val="solid"/>
            <a:round/>
            <a:headEnd len="med" w="med" type="none"/>
            <a:tailEnd len="med" w="med" type="none"/>
          </a:ln>
        </p:spPr>
      </p:cxnSp>
      <p:cxnSp>
        <p:nvCxnSpPr>
          <p:cNvPr id="430" name="Google Shape;430;p32"/>
          <p:cNvCxnSpPr>
            <a:stCxn id="413" idx="3"/>
            <a:endCxn id="405" idx="0"/>
          </p:cNvCxnSpPr>
          <p:nvPr/>
        </p:nvCxnSpPr>
        <p:spPr>
          <a:xfrm flipH="1">
            <a:off x="933658" y="3484968"/>
            <a:ext cx="288600" cy="491400"/>
          </a:xfrm>
          <a:prstGeom prst="straightConnector1">
            <a:avLst/>
          </a:prstGeom>
          <a:noFill/>
          <a:ln cap="flat" cmpd="sng" w="14275">
            <a:solidFill>
              <a:srgbClr val="000000"/>
            </a:solidFill>
            <a:prstDash val="solid"/>
            <a:round/>
            <a:headEnd len="med" w="med" type="none"/>
            <a:tailEnd len="med" w="med" type="none"/>
          </a:ln>
        </p:spPr>
      </p:cxnSp>
      <p:cxnSp>
        <p:nvCxnSpPr>
          <p:cNvPr id="431" name="Google Shape;431;p32"/>
          <p:cNvCxnSpPr>
            <a:stCxn id="413" idx="5"/>
            <a:endCxn id="406" idx="0"/>
          </p:cNvCxnSpPr>
          <p:nvPr/>
        </p:nvCxnSpPr>
        <p:spPr>
          <a:xfrm>
            <a:off x="1730738" y="3484968"/>
            <a:ext cx="225300" cy="491400"/>
          </a:xfrm>
          <a:prstGeom prst="straightConnector1">
            <a:avLst/>
          </a:prstGeom>
          <a:noFill/>
          <a:ln cap="flat" cmpd="sng" w="14275">
            <a:solidFill>
              <a:srgbClr val="000000"/>
            </a:solidFill>
            <a:prstDash val="solid"/>
            <a:round/>
            <a:headEnd len="med" w="med" type="none"/>
            <a:tailEnd len="med" w="med" type="none"/>
          </a:ln>
        </p:spPr>
      </p:cxnSp>
      <p:cxnSp>
        <p:nvCxnSpPr>
          <p:cNvPr id="432" name="Google Shape;432;p32"/>
          <p:cNvCxnSpPr>
            <a:stCxn id="414" idx="3"/>
            <a:endCxn id="407" idx="0"/>
          </p:cNvCxnSpPr>
          <p:nvPr/>
        </p:nvCxnSpPr>
        <p:spPr>
          <a:xfrm flipH="1">
            <a:off x="2978153" y="3484968"/>
            <a:ext cx="288600" cy="491400"/>
          </a:xfrm>
          <a:prstGeom prst="straightConnector1">
            <a:avLst/>
          </a:prstGeom>
          <a:noFill/>
          <a:ln cap="flat" cmpd="sng" w="14275">
            <a:solidFill>
              <a:srgbClr val="000000"/>
            </a:solidFill>
            <a:prstDash val="solid"/>
            <a:round/>
            <a:headEnd len="med" w="med" type="none"/>
            <a:tailEnd len="med" w="med" type="none"/>
          </a:ln>
        </p:spPr>
      </p:cxnSp>
      <p:cxnSp>
        <p:nvCxnSpPr>
          <p:cNvPr id="433" name="Google Shape;433;p32"/>
          <p:cNvCxnSpPr>
            <a:stCxn id="414" idx="5"/>
            <a:endCxn id="408" idx="0"/>
          </p:cNvCxnSpPr>
          <p:nvPr/>
        </p:nvCxnSpPr>
        <p:spPr>
          <a:xfrm>
            <a:off x="3775233" y="3484968"/>
            <a:ext cx="225300" cy="491400"/>
          </a:xfrm>
          <a:prstGeom prst="straightConnector1">
            <a:avLst/>
          </a:prstGeom>
          <a:noFill/>
          <a:ln cap="flat" cmpd="sng" w="14275">
            <a:solidFill>
              <a:srgbClr val="000000"/>
            </a:solidFill>
            <a:prstDash val="solid"/>
            <a:round/>
            <a:headEnd len="med" w="med" type="none"/>
            <a:tailEnd len="med" w="med" type="none"/>
          </a:ln>
        </p:spPr>
      </p:cxnSp>
      <p:sp>
        <p:nvSpPr>
          <p:cNvPr id="434" name="Google Shape;434;p32"/>
          <p:cNvSpPr txBox="1"/>
          <p:nvPr/>
        </p:nvSpPr>
        <p:spPr>
          <a:xfrm>
            <a:off x="4165200" y="1354644"/>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39</a:t>
            </a:r>
            <a:endParaRPr sz="1797">
              <a:latin typeface="Book Antiqua"/>
              <a:ea typeface="Book Antiqua"/>
              <a:cs typeface="Book Antiqua"/>
              <a:sym typeface="Book Antiqua"/>
            </a:endParaRPr>
          </a:p>
        </p:txBody>
      </p:sp>
      <p:sp>
        <p:nvSpPr>
          <p:cNvPr id="435" name="Google Shape;435;p32"/>
          <p:cNvSpPr txBox="1"/>
          <p:nvPr/>
        </p:nvSpPr>
        <p:spPr>
          <a:xfrm>
            <a:off x="2120705" y="2073741"/>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18</a:t>
            </a:r>
            <a:endParaRPr sz="1797">
              <a:latin typeface="Book Antiqua"/>
              <a:ea typeface="Book Antiqua"/>
              <a:cs typeface="Book Antiqua"/>
              <a:sym typeface="Book Antiqua"/>
            </a:endParaRPr>
          </a:p>
        </p:txBody>
      </p:sp>
      <p:sp>
        <p:nvSpPr>
          <p:cNvPr id="436" name="Google Shape;436;p32"/>
          <p:cNvSpPr txBox="1"/>
          <p:nvPr/>
        </p:nvSpPr>
        <p:spPr>
          <a:xfrm>
            <a:off x="6209695" y="2073741"/>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21</a:t>
            </a:r>
            <a:endParaRPr sz="1797">
              <a:latin typeface="Book Antiqua"/>
              <a:ea typeface="Book Antiqua"/>
              <a:cs typeface="Book Antiqua"/>
              <a:sym typeface="Book Antiqua"/>
            </a:endParaRPr>
          </a:p>
        </p:txBody>
      </p:sp>
      <p:sp>
        <p:nvSpPr>
          <p:cNvPr id="437" name="Google Shape;437;p32"/>
          <p:cNvSpPr txBox="1"/>
          <p:nvPr/>
        </p:nvSpPr>
        <p:spPr>
          <a:xfrm>
            <a:off x="1116948" y="2954271"/>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15</a:t>
            </a:r>
            <a:endParaRPr sz="1797">
              <a:latin typeface="Book Antiqua"/>
              <a:ea typeface="Book Antiqua"/>
              <a:cs typeface="Book Antiqua"/>
              <a:sym typeface="Book Antiqua"/>
            </a:endParaRPr>
          </a:p>
        </p:txBody>
      </p:sp>
      <p:sp>
        <p:nvSpPr>
          <p:cNvPr id="438" name="Google Shape;438;p32"/>
          <p:cNvSpPr txBox="1"/>
          <p:nvPr/>
        </p:nvSpPr>
        <p:spPr>
          <a:xfrm>
            <a:off x="3161443" y="2931926"/>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3</a:t>
            </a:r>
            <a:endParaRPr sz="1797">
              <a:latin typeface="Book Antiqua"/>
              <a:ea typeface="Book Antiqua"/>
              <a:cs typeface="Book Antiqua"/>
              <a:sym typeface="Book Antiqua"/>
            </a:endParaRPr>
          </a:p>
        </p:txBody>
      </p:sp>
      <p:sp>
        <p:nvSpPr>
          <p:cNvPr id="439" name="Google Shape;439;p32"/>
          <p:cNvSpPr txBox="1"/>
          <p:nvPr/>
        </p:nvSpPr>
        <p:spPr>
          <a:xfrm>
            <a:off x="5205938" y="2931926"/>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9</a:t>
            </a:r>
            <a:endParaRPr sz="1797">
              <a:latin typeface="Book Antiqua"/>
              <a:ea typeface="Book Antiqua"/>
              <a:cs typeface="Book Antiqua"/>
              <a:sym typeface="Book Antiqua"/>
            </a:endParaRPr>
          </a:p>
        </p:txBody>
      </p:sp>
      <p:sp>
        <p:nvSpPr>
          <p:cNvPr id="440" name="Google Shape;440;p32"/>
          <p:cNvSpPr txBox="1"/>
          <p:nvPr/>
        </p:nvSpPr>
        <p:spPr>
          <a:xfrm>
            <a:off x="7250433" y="2954271"/>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12</a:t>
            </a:r>
            <a:endParaRPr sz="1797">
              <a:latin typeface="Book Antiqua"/>
              <a:ea typeface="Book Antiqua"/>
              <a:cs typeface="Book Antiqua"/>
              <a:sym typeface="Book Antiqua"/>
            </a:endParaRPr>
          </a:p>
        </p:txBody>
      </p:sp>
      <p:sp>
        <p:nvSpPr>
          <p:cNvPr id="441" name="Google Shape;441;p32"/>
          <p:cNvSpPr txBox="1"/>
          <p:nvPr/>
        </p:nvSpPr>
        <p:spPr>
          <a:xfrm>
            <a:off x="7729872"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8</a:t>
            </a:r>
            <a:endParaRPr sz="1797">
              <a:latin typeface="Book Antiqua"/>
              <a:ea typeface="Book Antiqua"/>
              <a:cs typeface="Book Antiqua"/>
              <a:sym typeface="Book Antiqua"/>
            </a:endParaRPr>
          </a:p>
        </p:txBody>
      </p:sp>
      <p:sp>
        <p:nvSpPr>
          <p:cNvPr id="442" name="Google Shape;442;p32"/>
          <p:cNvSpPr txBox="1"/>
          <p:nvPr/>
        </p:nvSpPr>
        <p:spPr>
          <a:xfrm>
            <a:off x="6707625"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4</a:t>
            </a:r>
            <a:endParaRPr sz="1797">
              <a:latin typeface="Book Antiqua"/>
              <a:ea typeface="Book Antiqua"/>
              <a:cs typeface="Book Antiqua"/>
              <a:sym typeface="Book Antiqua"/>
            </a:endParaRPr>
          </a:p>
        </p:txBody>
      </p:sp>
      <p:sp>
        <p:nvSpPr>
          <p:cNvPr id="443" name="Google Shape;443;p32"/>
          <p:cNvSpPr txBox="1"/>
          <p:nvPr/>
        </p:nvSpPr>
        <p:spPr>
          <a:xfrm>
            <a:off x="5685377"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5</a:t>
            </a:r>
            <a:endParaRPr sz="1797">
              <a:latin typeface="Book Antiqua"/>
              <a:ea typeface="Book Antiqua"/>
              <a:cs typeface="Book Antiqua"/>
              <a:sym typeface="Book Antiqua"/>
            </a:endParaRPr>
          </a:p>
        </p:txBody>
      </p:sp>
      <p:sp>
        <p:nvSpPr>
          <p:cNvPr id="444" name="Google Shape;444;p32"/>
          <p:cNvSpPr txBox="1"/>
          <p:nvPr/>
        </p:nvSpPr>
        <p:spPr>
          <a:xfrm>
            <a:off x="4663130"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4</a:t>
            </a:r>
            <a:endParaRPr sz="1797">
              <a:latin typeface="Book Antiqua"/>
              <a:ea typeface="Book Antiqua"/>
              <a:cs typeface="Book Antiqua"/>
              <a:sym typeface="Book Antiqua"/>
            </a:endParaRPr>
          </a:p>
        </p:txBody>
      </p:sp>
      <p:sp>
        <p:nvSpPr>
          <p:cNvPr id="445" name="Google Shape;445;p32"/>
          <p:cNvSpPr txBox="1"/>
          <p:nvPr/>
        </p:nvSpPr>
        <p:spPr>
          <a:xfrm>
            <a:off x="3640882"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2</a:t>
            </a:r>
            <a:endParaRPr sz="1797">
              <a:latin typeface="Book Antiqua"/>
              <a:ea typeface="Book Antiqua"/>
              <a:cs typeface="Book Antiqua"/>
              <a:sym typeface="Book Antiqua"/>
            </a:endParaRPr>
          </a:p>
        </p:txBody>
      </p:sp>
      <p:sp>
        <p:nvSpPr>
          <p:cNvPr id="446" name="Google Shape;446;p32"/>
          <p:cNvSpPr txBox="1"/>
          <p:nvPr/>
        </p:nvSpPr>
        <p:spPr>
          <a:xfrm>
            <a:off x="2618635"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1</a:t>
            </a:r>
            <a:endParaRPr sz="1797">
              <a:latin typeface="Book Antiqua"/>
              <a:ea typeface="Book Antiqua"/>
              <a:cs typeface="Book Antiqua"/>
              <a:sym typeface="Book Antiqua"/>
            </a:endParaRPr>
          </a:p>
        </p:txBody>
      </p:sp>
      <p:sp>
        <p:nvSpPr>
          <p:cNvPr id="447" name="Google Shape;447;p32"/>
          <p:cNvSpPr txBox="1"/>
          <p:nvPr/>
        </p:nvSpPr>
        <p:spPr>
          <a:xfrm>
            <a:off x="1596387"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9</a:t>
            </a:r>
            <a:endParaRPr sz="1797">
              <a:latin typeface="Book Antiqua"/>
              <a:ea typeface="Book Antiqua"/>
              <a:cs typeface="Book Antiqua"/>
              <a:sym typeface="Book Antiqua"/>
            </a:endParaRPr>
          </a:p>
        </p:txBody>
      </p:sp>
      <p:sp>
        <p:nvSpPr>
          <p:cNvPr id="448" name="Google Shape;448;p32"/>
          <p:cNvSpPr txBox="1"/>
          <p:nvPr/>
        </p:nvSpPr>
        <p:spPr>
          <a:xfrm>
            <a:off x="574140" y="4059529"/>
            <a:ext cx="719100" cy="552600"/>
          </a:xfrm>
          <a:prstGeom prst="rect">
            <a:avLst/>
          </a:prstGeom>
          <a:noFill/>
          <a:ln>
            <a:noFill/>
          </a:ln>
        </p:spPr>
        <p:txBody>
          <a:bodyPr anchorCtr="0" anchor="ctr" bIns="136875" lIns="136875" spcFirstLastPara="1" rIns="136875" wrap="square" tIns="136875">
            <a:noAutofit/>
          </a:bodyPr>
          <a:lstStyle/>
          <a:p>
            <a:pPr indent="0" lvl="0" marL="0" rtl="0" algn="ctr">
              <a:spcBef>
                <a:spcPts val="0"/>
              </a:spcBef>
              <a:spcAft>
                <a:spcPts val="0"/>
              </a:spcAft>
              <a:buNone/>
            </a:pPr>
            <a:r>
              <a:rPr lang="es-419" sz="1797">
                <a:latin typeface="Book Antiqua"/>
                <a:ea typeface="Book Antiqua"/>
                <a:cs typeface="Book Antiqua"/>
                <a:sym typeface="Book Antiqua"/>
              </a:rPr>
              <a:t>6</a:t>
            </a:r>
            <a:endParaRPr sz="1797">
              <a:latin typeface="Book Antiqua"/>
              <a:ea typeface="Book Antiqua"/>
              <a:cs typeface="Book Antiqua"/>
              <a:sym typeface="Book Antiqua"/>
            </a:endParaRPr>
          </a:p>
        </p:txBody>
      </p:sp>
      <p:sp>
        <p:nvSpPr>
          <p:cNvPr id="449" name="Google Shape;449;p32"/>
          <p:cNvSpPr/>
          <p:nvPr/>
        </p:nvSpPr>
        <p:spPr>
          <a:xfrm rot="-5400000">
            <a:off x="4443825" y="-2056500"/>
            <a:ext cx="153900" cy="79425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0" name="Google Shape;450;p32"/>
          <p:cNvSpPr/>
          <p:nvPr/>
        </p:nvSpPr>
        <p:spPr>
          <a:xfrm rot="-5400000">
            <a:off x="2463900" y="708775"/>
            <a:ext cx="153900" cy="39747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1" name="Google Shape;451;p32"/>
          <p:cNvSpPr/>
          <p:nvPr/>
        </p:nvSpPr>
        <p:spPr>
          <a:xfrm rot="-5400000">
            <a:off x="6438600" y="708763"/>
            <a:ext cx="153900" cy="39747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2" name="Google Shape;452;p32"/>
          <p:cNvSpPr/>
          <p:nvPr/>
        </p:nvSpPr>
        <p:spPr>
          <a:xfrm rot="-5400000">
            <a:off x="1407750" y="2592025"/>
            <a:ext cx="153900" cy="19836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3" name="Google Shape;453;p32"/>
          <p:cNvSpPr/>
          <p:nvPr/>
        </p:nvSpPr>
        <p:spPr>
          <a:xfrm rot="-5400000">
            <a:off x="3352550" y="2592025"/>
            <a:ext cx="153900" cy="19836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4" name="Google Shape;454;p32"/>
          <p:cNvSpPr/>
          <p:nvPr/>
        </p:nvSpPr>
        <p:spPr>
          <a:xfrm rot="-5400000">
            <a:off x="5519900" y="2592025"/>
            <a:ext cx="153900" cy="19836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5" name="Google Shape;455;p32"/>
          <p:cNvSpPr/>
          <p:nvPr/>
        </p:nvSpPr>
        <p:spPr>
          <a:xfrm rot="-5400000">
            <a:off x="7464700" y="2592025"/>
            <a:ext cx="153900" cy="19836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6" name="Google Shape;456;p32"/>
          <p:cNvSpPr/>
          <p:nvPr/>
        </p:nvSpPr>
        <p:spPr>
          <a:xfrm rot="-5400000">
            <a:off x="905850"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7" name="Google Shape;457;p32"/>
          <p:cNvSpPr/>
          <p:nvPr/>
        </p:nvSpPr>
        <p:spPr>
          <a:xfrm rot="-5400000">
            <a:off x="1878988"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8" name="Google Shape;458;p32"/>
          <p:cNvSpPr/>
          <p:nvPr/>
        </p:nvSpPr>
        <p:spPr>
          <a:xfrm rot="-5400000">
            <a:off x="2925775"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59" name="Google Shape;459;p32"/>
          <p:cNvSpPr/>
          <p:nvPr/>
        </p:nvSpPr>
        <p:spPr>
          <a:xfrm rot="-5400000">
            <a:off x="3898913"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60" name="Google Shape;460;p32"/>
          <p:cNvSpPr/>
          <p:nvPr/>
        </p:nvSpPr>
        <p:spPr>
          <a:xfrm rot="-5400000">
            <a:off x="4970275"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61" name="Google Shape;461;p32"/>
          <p:cNvSpPr/>
          <p:nvPr/>
        </p:nvSpPr>
        <p:spPr>
          <a:xfrm rot="-5400000">
            <a:off x="5943413"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62" name="Google Shape;462;p32"/>
          <p:cNvSpPr/>
          <p:nvPr/>
        </p:nvSpPr>
        <p:spPr>
          <a:xfrm rot="-5400000">
            <a:off x="7014775"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63" name="Google Shape;463;p32"/>
          <p:cNvSpPr/>
          <p:nvPr/>
        </p:nvSpPr>
        <p:spPr>
          <a:xfrm rot="-5400000">
            <a:off x="7987913" y="4199175"/>
            <a:ext cx="153900" cy="979800"/>
          </a:xfrm>
          <a:prstGeom prst="leftBracket">
            <a:avLst>
              <a:gd fmla="val 8333"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Actualizaci</a:t>
            </a:r>
            <a:r>
              <a:rPr lang="es-419" sz="2000"/>
              <a:t>ón (set)</a:t>
            </a:r>
            <a:endParaRPr sz="2000"/>
          </a:p>
        </p:txBody>
      </p:sp>
      <p:sp>
        <p:nvSpPr>
          <p:cNvPr id="469" name="Google Shape;469;p33"/>
          <p:cNvSpPr txBox="1"/>
          <p:nvPr/>
        </p:nvSpPr>
        <p:spPr>
          <a:xfrm>
            <a:off x="49050" y="755400"/>
            <a:ext cx="9045900" cy="36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rgbClr val="3000A0"/>
                </a:solidFill>
                <a:latin typeface="Roboto Mono"/>
                <a:ea typeface="Roboto Mono"/>
                <a:cs typeface="Roboto Mono"/>
                <a:sym typeface="Roboto Mono"/>
              </a:rPr>
              <a:t>set</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idx</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val</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update</a:t>
            </a:r>
            <a:r>
              <a:rPr lang="es-419" sz="1500">
                <a:latin typeface="Roboto Mono"/>
                <a:ea typeface="Roboto Mono"/>
                <a:cs typeface="Roboto Mono"/>
                <a:sym typeface="Roboto Mono"/>
              </a:rPr>
              <a:t>(</a:t>
            </a:r>
            <a:r>
              <a:rPr lang="es-419" sz="1500">
                <a:solidFill>
                  <a:srgbClr val="106040"/>
                </a:solidFill>
                <a:latin typeface="Roboto Mono"/>
                <a:ea typeface="Roboto Mono"/>
                <a:cs typeface="Roboto Mono"/>
                <a:sym typeface="Roboto Mono"/>
              </a:rPr>
              <a:t>1</a:t>
            </a:r>
            <a:r>
              <a:rPr lang="es-419" sz="1500">
                <a:latin typeface="Roboto Mono"/>
                <a:ea typeface="Roboto Mono"/>
                <a:cs typeface="Roboto Mono"/>
                <a:sym typeface="Roboto Mono"/>
              </a:rPr>
              <a:t>, </a:t>
            </a:r>
            <a:r>
              <a:rPr lang="es-419" sz="1500">
                <a:solidFill>
                  <a:srgbClr val="106040"/>
                </a:solidFill>
                <a:latin typeface="Roboto Mono"/>
                <a:ea typeface="Roboto Mono"/>
                <a:cs typeface="Roboto Mono"/>
                <a:sym typeface="Roboto Mono"/>
              </a:rPr>
              <a:t>1</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n</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idx</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val</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s-419" sz="1500">
                <a:solidFill>
                  <a:srgbClr val="1AB1CD"/>
                </a:solidFill>
                <a:latin typeface="Roboto Mono"/>
                <a:ea typeface="Roboto Mono"/>
                <a:cs typeface="Roboto Mono"/>
                <a:sym typeface="Roboto Mono"/>
              </a:rPr>
              <a:t>update</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node</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l</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r</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idx</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val</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b="1" lang="es-419" sz="1500">
                <a:solidFill>
                  <a:srgbClr val="700080"/>
                </a:solidFill>
                <a:latin typeface="Roboto Mono"/>
                <a:ea typeface="Roboto Mono"/>
                <a:cs typeface="Roboto Mono"/>
                <a:sym typeface="Roboto Mono"/>
              </a:rPr>
              <a:t>if</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l</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r</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tree</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node</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val</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b="1" lang="es-419" sz="1500">
                <a:solidFill>
                  <a:srgbClr val="700080"/>
                </a:solidFill>
                <a:latin typeface="Roboto Mono"/>
                <a:ea typeface="Roboto Mono"/>
                <a:cs typeface="Roboto Mono"/>
                <a:sym typeface="Roboto Mono"/>
              </a:rPr>
              <a:t>return</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mid</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l</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r</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06040"/>
                </a:solidFill>
                <a:latin typeface="Roboto Mono"/>
                <a:ea typeface="Roboto Mono"/>
                <a:cs typeface="Roboto Mono"/>
                <a:sym typeface="Roboto Mono"/>
              </a:rPr>
              <a:t>2</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b="1" lang="es-419" sz="1500">
                <a:solidFill>
                  <a:srgbClr val="700080"/>
                </a:solidFill>
                <a:latin typeface="Roboto Mono"/>
                <a:ea typeface="Roboto Mono"/>
                <a:cs typeface="Roboto Mono"/>
                <a:sym typeface="Roboto Mono"/>
              </a:rPr>
              <a:t>if</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idx</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&lt;=</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mid</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update</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node</a:t>
            </a:r>
            <a:r>
              <a:rPr b="1" lang="es-419" sz="1500">
                <a:solidFill>
                  <a:srgbClr val="EE11FF"/>
                </a:solidFill>
                <a:latin typeface="Roboto Mono"/>
                <a:ea typeface="Roboto Mono"/>
                <a:cs typeface="Roboto Mono"/>
                <a:sym typeface="Roboto Mono"/>
              </a:rPr>
              <a:t>*</a:t>
            </a:r>
            <a:r>
              <a:rPr lang="es-419" sz="1500">
                <a:solidFill>
                  <a:srgbClr val="106040"/>
                </a:solidFill>
                <a:latin typeface="Roboto Mono"/>
                <a:ea typeface="Roboto Mono"/>
                <a:cs typeface="Roboto Mono"/>
                <a:sym typeface="Roboto Mono"/>
              </a:rPr>
              <a:t>2</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l</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mid</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idx</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val</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b="1" lang="es-419" sz="1500">
                <a:solidFill>
                  <a:srgbClr val="700080"/>
                </a:solidFill>
                <a:latin typeface="Roboto Mono"/>
                <a:ea typeface="Roboto Mono"/>
                <a:cs typeface="Roboto Mono"/>
                <a:sym typeface="Roboto Mono"/>
              </a:rPr>
              <a:t>else</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update</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node</a:t>
            </a:r>
            <a:r>
              <a:rPr b="1" lang="es-419" sz="1500">
                <a:solidFill>
                  <a:srgbClr val="EE11FF"/>
                </a:solidFill>
                <a:latin typeface="Roboto Mono"/>
                <a:ea typeface="Roboto Mono"/>
                <a:cs typeface="Roboto Mono"/>
                <a:sym typeface="Roboto Mono"/>
              </a:rPr>
              <a:t>*</a:t>
            </a:r>
            <a:r>
              <a:rPr lang="es-419" sz="1500">
                <a:solidFill>
                  <a:srgbClr val="106040"/>
                </a:solidFill>
                <a:latin typeface="Roboto Mono"/>
                <a:ea typeface="Roboto Mono"/>
                <a:cs typeface="Roboto Mono"/>
                <a:sym typeface="Roboto Mono"/>
              </a:rPr>
              <a:t>2</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06040"/>
                </a:solidFill>
                <a:latin typeface="Roboto Mono"/>
                <a:ea typeface="Roboto Mono"/>
                <a:cs typeface="Roboto Mono"/>
                <a:sym typeface="Roboto Mono"/>
              </a:rPr>
              <a:t>1</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mid</a:t>
            </a:r>
            <a:r>
              <a:rPr b="1" lang="es-419" sz="1500">
                <a:solidFill>
                  <a:srgbClr val="EE11FF"/>
                </a:solidFill>
                <a:latin typeface="Roboto Mono"/>
                <a:ea typeface="Roboto Mono"/>
                <a:cs typeface="Roboto Mono"/>
                <a:sym typeface="Roboto Mono"/>
              </a:rPr>
              <a:t>+</a:t>
            </a:r>
            <a:r>
              <a:rPr lang="es-419" sz="1500">
                <a:solidFill>
                  <a:srgbClr val="106040"/>
                </a:solidFill>
                <a:latin typeface="Roboto Mono"/>
                <a:ea typeface="Roboto Mono"/>
                <a:cs typeface="Roboto Mono"/>
                <a:sym typeface="Roboto Mono"/>
              </a:rPr>
              <a:t>1</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r</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idx</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val</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tree</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node</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op</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tree</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node</a:t>
            </a:r>
            <a:r>
              <a:rPr b="1" lang="es-419" sz="1500">
                <a:solidFill>
                  <a:srgbClr val="EE11FF"/>
                </a:solidFill>
                <a:latin typeface="Roboto Mono"/>
                <a:ea typeface="Roboto Mono"/>
                <a:cs typeface="Roboto Mono"/>
                <a:sym typeface="Roboto Mono"/>
              </a:rPr>
              <a:t>*</a:t>
            </a:r>
            <a:r>
              <a:rPr lang="es-419" sz="1500">
                <a:solidFill>
                  <a:srgbClr val="106040"/>
                </a:solidFill>
                <a:latin typeface="Roboto Mono"/>
                <a:ea typeface="Roboto Mono"/>
                <a:cs typeface="Roboto Mono"/>
                <a:sym typeface="Roboto Mono"/>
              </a:rPr>
              <a:t>2</a:t>
            </a:r>
            <a:r>
              <a:rPr lang="es-419" sz="1500">
                <a:latin typeface="Roboto Mono"/>
                <a:ea typeface="Roboto Mono"/>
                <a:cs typeface="Roboto Mono"/>
                <a:sym typeface="Roboto Mono"/>
              </a:rPr>
              <a:t>], </a:t>
            </a:r>
            <a:r>
              <a:rPr lang="es-419" sz="1500">
                <a:solidFill>
                  <a:srgbClr val="1AB1CD"/>
                </a:solidFill>
                <a:latin typeface="Roboto Mono"/>
                <a:ea typeface="Roboto Mono"/>
                <a:cs typeface="Roboto Mono"/>
                <a:sym typeface="Roboto Mono"/>
              </a:rPr>
              <a:t>tree</a:t>
            </a:r>
            <a:r>
              <a:rPr lang="es-419" sz="1500">
                <a:latin typeface="Roboto Mono"/>
                <a:ea typeface="Roboto Mono"/>
                <a:cs typeface="Roboto Mono"/>
                <a:sym typeface="Roboto Mono"/>
              </a:rPr>
              <a:t>[</a:t>
            </a:r>
            <a:r>
              <a:rPr lang="es-419" sz="1500">
                <a:solidFill>
                  <a:srgbClr val="1AB1CD"/>
                </a:solidFill>
                <a:latin typeface="Roboto Mono"/>
                <a:ea typeface="Roboto Mono"/>
                <a:cs typeface="Roboto Mono"/>
                <a:sym typeface="Roboto Mono"/>
              </a:rPr>
              <a:t>node</a:t>
            </a:r>
            <a:r>
              <a:rPr b="1" lang="es-419" sz="1500">
                <a:solidFill>
                  <a:srgbClr val="EE11FF"/>
                </a:solidFill>
                <a:latin typeface="Roboto Mono"/>
                <a:ea typeface="Roboto Mono"/>
                <a:cs typeface="Roboto Mono"/>
                <a:sym typeface="Roboto Mono"/>
              </a:rPr>
              <a:t>*</a:t>
            </a:r>
            <a:r>
              <a:rPr lang="es-419" sz="1500">
                <a:solidFill>
                  <a:srgbClr val="106040"/>
                </a:solidFill>
                <a:latin typeface="Roboto Mono"/>
                <a:ea typeface="Roboto Mono"/>
                <a:cs typeface="Roboto Mono"/>
                <a:sym typeface="Roboto Mono"/>
              </a:rPr>
              <a:t>2</a:t>
            </a:r>
            <a:r>
              <a:rPr lang="es-419" sz="1500">
                <a:latin typeface="Roboto Mono"/>
                <a:ea typeface="Roboto Mono"/>
                <a:cs typeface="Roboto Mono"/>
                <a:sym typeface="Roboto Mono"/>
              </a:rPr>
              <a:t> </a:t>
            </a:r>
            <a:r>
              <a:rPr b="1" lang="es-419" sz="1500">
                <a:solidFill>
                  <a:srgbClr val="EE11FF"/>
                </a:solidFill>
                <a:latin typeface="Roboto Mono"/>
                <a:ea typeface="Roboto Mono"/>
                <a:cs typeface="Roboto Mono"/>
                <a:sym typeface="Roboto Mono"/>
              </a:rPr>
              <a:t>+</a:t>
            </a:r>
            <a:r>
              <a:rPr lang="es-419" sz="1500">
                <a:latin typeface="Roboto Mono"/>
                <a:ea typeface="Roboto Mono"/>
                <a:cs typeface="Roboto Mono"/>
                <a:sym typeface="Roboto Mono"/>
              </a:rPr>
              <a:t> </a:t>
            </a:r>
            <a:r>
              <a:rPr lang="es-419" sz="1500">
                <a:solidFill>
                  <a:srgbClr val="106040"/>
                </a:solidFill>
                <a:latin typeface="Roboto Mono"/>
                <a:ea typeface="Roboto Mono"/>
                <a:cs typeface="Roboto Mono"/>
                <a:sym typeface="Roboto Mono"/>
              </a:rPr>
              <a:t>1</a:t>
            </a:r>
            <a:r>
              <a:rPr lang="es-419"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
        <p:nvSpPr>
          <p:cNvPr id="470" name="Google Shape;470;p33"/>
          <p:cNvSpPr/>
          <p:nvPr/>
        </p:nvSpPr>
        <p:spPr>
          <a:xfrm>
            <a:off x="2952075" y="1521475"/>
            <a:ext cx="79500" cy="8061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71" name="Google Shape;471;p33"/>
          <p:cNvSpPr/>
          <p:nvPr/>
        </p:nvSpPr>
        <p:spPr>
          <a:xfrm>
            <a:off x="5432175" y="2327575"/>
            <a:ext cx="79500" cy="15669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72" name="Google Shape;472;p33"/>
          <p:cNvSpPr/>
          <p:nvPr/>
        </p:nvSpPr>
        <p:spPr>
          <a:xfrm>
            <a:off x="5981975" y="4053900"/>
            <a:ext cx="79500" cy="3342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73" name="Google Shape;473;p33"/>
          <p:cNvSpPr txBox="1"/>
          <p:nvPr/>
        </p:nvSpPr>
        <p:spPr>
          <a:xfrm>
            <a:off x="3031575" y="1700275"/>
            <a:ext cx="10674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Es hoja</a:t>
            </a:r>
            <a:endParaRPr sz="1800">
              <a:solidFill>
                <a:schemeClr val="lt2"/>
              </a:solidFill>
              <a:latin typeface="Roboto"/>
              <a:ea typeface="Roboto"/>
              <a:cs typeface="Roboto"/>
              <a:sym typeface="Roboto"/>
            </a:endParaRPr>
          </a:p>
        </p:txBody>
      </p:sp>
      <p:sp>
        <p:nvSpPr>
          <p:cNvPr id="474" name="Google Shape;474;p33"/>
          <p:cNvSpPr txBox="1"/>
          <p:nvPr/>
        </p:nvSpPr>
        <p:spPr>
          <a:xfrm>
            <a:off x="5636500" y="2824375"/>
            <a:ext cx="20505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Busca en el hijo que corresponde</a:t>
            </a:r>
            <a:endParaRPr sz="1800">
              <a:solidFill>
                <a:schemeClr val="lt2"/>
              </a:solidFill>
              <a:latin typeface="Roboto"/>
              <a:ea typeface="Roboto"/>
              <a:cs typeface="Roboto"/>
              <a:sym typeface="Roboto"/>
            </a:endParaRPr>
          </a:p>
        </p:txBody>
      </p:sp>
      <p:sp>
        <p:nvSpPr>
          <p:cNvPr id="475" name="Google Shape;475;p33"/>
          <p:cNvSpPr txBox="1"/>
          <p:nvPr/>
        </p:nvSpPr>
        <p:spPr>
          <a:xfrm>
            <a:off x="6061475" y="3996750"/>
            <a:ext cx="20505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lt2"/>
                </a:solidFill>
                <a:latin typeface="Roboto"/>
                <a:ea typeface="Roboto"/>
                <a:cs typeface="Roboto"/>
                <a:sym typeface="Roboto"/>
              </a:rPr>
              <a:t>Recalcula el nodo</a:t>
            </a:r>
            <a:endParaRPr sz="1800">
              <a:solidFill>
                <a:schemeClr val="lt2"/>
              </a:solidFill>
              <a:latin typeface="Roboto"/>
              <a:ea typeface="Roboto"/>
              <a:cs typeface="Roboto"/>
              <a:sym typeface="Roboto"/>
            </a:endParaRPr>
          </a:p>
        </p:txBody>
      </p:sp>
      <p:sp>
        <p:nvSpPr>
          <p:cNvPr id="476" name="Google Shape;476;p3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77" name="Google Shape;477;p33"/>
          <p:cNvSpPr txBox="1"/>
          <p:nvPr/>
        </p:nvSpPr>
        <p:spPr>
          <a:xfrm>
            <a:off x="4834975" y="1106438"/>
            <a:ext cx="4169100" cy="9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node → idx en array del árbol</a:t>
            </a:r>
            <a:endParaRPr sz="1300">
              <a:solidFill>
                <a:schemeClr val="lt2"/>
              </a:solidFill>
              <a:latin typeface="Book Antiqua"/>
              <a:ea typeface="Book Antiqua"/>
              <a:cs typeface="Book Antiqua"/>
              <a:sym typeface="Book Antiqua"/>
            </a:endParaRPr>
          </a:p>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l y r → idx en el array original que ocupa el nodo</a:t>
            </a:r>
            <a:endParaRPr sz="1300">
              <a:solidFill>
                <a:schemeClr val="lt2"/>
              </a:solidFill>
              <a:latin typeface="Book Antiqua"/>
              <a:ea typeface="Book Antiqua"/>
              <a:cs typeface="Book Antiqua"/>
              <a:sym typeface="Book Antiqua"/>
            </a:endParaRPr>
          </a:p>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idx → idx en array original donde se inserta val</a:t>
            </a:r>
            <a:endParaRPr sz="1300">
              <a:solidFill>
                <a:schemeClr val="lt2"/>
              </a:solidFill>
              <a:latin typeface="Book Antiqua"/>
              <a:ea typeface="Book Antiqua"/>
              <a:cs typeface="Book Antiqua"/>
              <a:sym typeface="Book Antiqua"/>
            </a:endParaRPr>
          </a:p>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val → valor a insertar</a:t>
            </a:r>
            <a:endParaRPr sz="1300">
              <a:solidFill>
                <a:schemeClr val="lt2"/>
              </a:solidFill>
              <a:latin typeface="Book Antiqua"/>
              <a:ea typeface="Book Antiqua"/>
              <a:cs typeface="Book Antiqua"/>
              <a:sym typeface="Book Antiqu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Actualización (set)</a:t>
            </a:r>
            <a:endParaRPr sz="2000"/>
          </a:p>
        </p:txBody>
      </p:sp>
      <p:sp>
        <p:nvSpPr>
          <p:cNvPr id="483" name="Google Shape;483;p3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84" name="Google Shape;484;p34"/>
          <p:cNvSpPr/>
          <p:nvPr/>
        </p:nvSpPr>
        <p:spPr>
          <a:xfrm>
            <a:off x="659800" y="336545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85" name="Google Shape;485;p34"/>
          <p:cNvSpPr/>
          <p:nvPr/>
        </p:nvSpPr>
        <p:spPr>
          <a:xfrm>
            <a:off x="1659843" y="336545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86" name="Google Shape;486;p34"/>
          <p:cNvSpPr/>
          <p:nvPr/>
        </p:nvSpPr>
        <p:spPr>
          <a:xfrm>
            <a:off x="2659886" y="336545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87" name="Google Shape;487;p34"/>
          <p:cNvSpPr/>
          <p:nvPr/>
        </p:nvSpPr>
        <p:spPr>
          <a:xfrm>
            <a:off x="3659929" y="336545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88" name="Google Shape;488;p34"/>
          <p:cNvSpPr/>
          <p:nvPr/>
        </p:nvSpPr>
        <p:spPr>
          <a:xfrm>
            <a:off x="4659972" y="3365453"/>
            <a:ext cx="703200" cy="703200"/>
          </a:xfrm>
          <a:prstGeom prst="ellipse">
            <a:avLst/>
          </a:prstGeom>
          <a:solidFill>
            <a:srgbClr val="FCE5CD"/>
          </a:solidFill>
          <a:ln cap="flat" cmpd="sng" w="27925">
            <a:solidFill>
              <a:srgbClr val="FF99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89" name="Google Shape;489;p34"/>
          <p:cNvSpPr/>
          <p:nvPr/>
        </p:nvSpPr>
        <p:spPr>
          <a:xfrm>
            <a:off x="5660015" y="336545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0" name="Google Shape;490;p34"/>
          <p:cNvSpPr/>
          <p:nvPr/>
        </p:nvSpPr>
        <p:spPr>
          <a:xfrm>
            <a:off x="6660059" y="336545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1" name="Google Shape;491;p34"/>
          <p:cNvSpPr/>
          <p:nvPr/>
        </p:nvSpPr>
        <p:spPr>
          <a:xfrm>
            <a:off x="7660102" y="336545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2" name="Google Shape;492;p34"/>
          <p:cNvSpPr/>
          <p:nvPr/>
        </p:nvSpPr>
        <p:spPr>
          <a:xfrm>
            <a:off x="1190817" y="2284194"/>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3" name="Google Shape;493;p34"/>
          <p:cNvSpPr/>
          <p:nvPr/>
        </p:nvSpPr>
        <p:spPr>
          <a:xfrm>
            <a:off x="3190904" y="2284194"/>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4" name="Google Shape;494;p34"/>
          <p:cNvSpPr/>
          <p:nvPr/>
        </p:nvSpPr>
        <p:spPr>
          <a:xfrm>
            <a:off x="5190990" y="2284194"/>
            <a:ext cx="703200" cy="703200"/>
          </a:xfrm>
          <a:prstGeom prst="ellipse">
            <a:avLst/>
          </a:prstGeom>
          <a:solidFill>
            <a:srgbClr val="FCE5CD"/>
          </a:solidFill>
          <a:ln cap="flat" cmpd="sng" w="27925">
            <a:solidFill>
              <a:srgbClr val="FF99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5" name="Google Shape;495;p34"/>
          <p:cNvSpPr/>
          <p:nvPr/>
        </p:nvSpPr>
        <p:spPr>
          <a:xfrm>
            <a:off x="7191076" y="2284194"/>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6" name="Google Shape;496;p34"/>
          <p:cNvSpPr/>
          <p:nvPr/>
        </p:nvSpPr>
        <p:spPr>
          <a:xfrm>
            <a:off x="2172772" y="1422783"/>
            <a:ext cx="703200" cy="703200"/>
          </a:xfrm>
          <a:prstGeom prst="ellipse">
            <a:avLst/>
          </a:prstGeom>
          <a:solidFill>
            <a:srgbClr val="D9EAD3"/>
          </a:solidFill>
          <a:ln cap="flat" cmpd="sng" w="27925">
            <a:solidFill>
              <a:srgbClr val="00FF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7" name="Google Shape;497;p34"/>
          <p:cNvSpPr/>
          <p:nvPr/>
        </p:nvSpPr>
        <p:spPr>
          <a:xfrm>
            <a:off x="6172944" y="1422783"/>
            <a:ext cx="703200" cy="703200"/>
          </a:xfrm>
          <a:prstGeom prst="ellipse">
            <a:avLst/>
          </a:prstGeom>
          <a:solidFill>
            <a:srgbClr val="FCE5CD"/>
          </a:solidFill>
          <a:ln cap="flat" cmpd="sng" w="27925">
            <a:solidFill>
              <a:srgbClr val="FF99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a:p>
        </p:txBody>
      </p:sp>
      <p:sp>
        <p:nvSpPr>
          <p:cNvPr id="498" name="Google Shape;498;p34"/>
          <p:cNvSpPr/>
          <p:nvPr/>
        </p:nvSpPr>
        <p:spPr>
          <a:xfrm>
            <a:off x="4172858" y="719300"/>
            <a:ext cx="703200" cy="703200"/>
          </a:xfrm>
          <a:prstGeom prst="ellipse">
            <a:avLst/>
          </a:prstGeom>
          <a:solidFill>
            <a:srgbClr val="FCE5CD"/>
          </a:solidFill>
          <a:ln cap="flat" cmpd="sng" w="27925">
            <a:solidFill>
              <a:srgbClr val="FF9900"/>
            </a:solidFill>
            <a:prstDash val="solid"/>
            <a:round/>
            <a:headEnd len="sm" w="sm" type="none"/>
            <a:tailEnd len="sm" w="sm" type="none"/>
          </a:ln>
        </p:spPr>
        <p:txBody>
          <a:bodyPr anchorCtr="0" anchor="ctr" bIns="133900" lIns="133900" spcFirstLastPara="1" rIns="133900" wrap="square" tIns="133900">
            <a:noAutofit/>
          </a:bodyPr>
          <a:lstStyle/>
          <a:p>
            <a:pPr indent="0" lvl="0" marL="0" rtl="0" algn="l">
              <a:spcBef>
                <a:spcPts val="0"/>
              </a:spcBef>
              <a:spcAft>
                <a:spcPts val="0"/>
              </a:spcAft>
              <a:buNone/>
            </a:pPr>
            <a:r>
              <a:t/>
            </a:r>
            <a:endParaRPr sz="879"/>
          </a:p>
        </p:txBody>
      </p:sp>
      <p:cxnSp>
        <p:nvCxnSpPr>
          <p:cNvPr id="499" name="Google Shape;499;p34"/>
          <p:cNvCxnSpPr>
            <a:stCxn id="498" idx="3"/>
            <a:endCxn id="496" idx="7"/>
          </p:cNvCxnSpPr>
          <p:nvPr/>
        </p:nvCxnSpPr>
        <p:spPr>
          <a:xfrm flipH="1">
            <a:off x="2773139" y="1319519"/>
            <a:ext cx="1502700" cy="206100"/>
          </a:xfrm>
          <a:prstGeom prst="straightConnector1">
            <a:avLst/>
          </a:prstGeom>
          <a:noFill/>
          <a:ln cap="flat" cmpd="sng" w="13950">
            <a:solidFill>
              <a:srgbClr val="000000"/>
            </a:solidFill>
            <a:prstDash val="solid"/>
            <a:round/>
            <a:headEnd len="med" w="med" type="none"/>
            <a:tailEnd len="med" w="med" type="none"/>
          </a:ln>
        </p:spPr>
      </p:cxnSp>
      <p:cxnSp>
        <p:nvCxnSpPr>
          <p:cNvPr id="500" name="Google Shape;500;p34"/>
          <p:cNvCxnSpPr>
            <a:stCxn id="498" idx="5"/>
            <a:endCxn id="497" idx="1"/>
          </p:cNvCxnSpPr>
          <p:nvPr/>
        </p:nvCxnSpPr>
        <p:spPr>
          <a:xfrm>
            <a:off x="4773077" y="1319519"/>
            <a:ext cx="1502700" cy="206100"/>
          </a:xfrm>
          <a:prstGeom prst="straightConnector1">
            <a:avLst/>
          </a:prstGeom>
          <a:noFill/>
          <a:ln cap="flat" cmpd="sng" w="13950">
            <a:solidFill>
              <a:srgbClr val="000000"/>
            </a:solidFill>
            <a:prstDash val="solid"/>
            <a:round/>
            <a:headEnd len="med" w="med" type="none"/>
            <a:tailEnd len="med" w="med" type="none"/>
          </a:ln>
        </p:spPr>
      </p:cxnSp>
      <p:cxnSp>
        <p:nvCxnSpPr>
          <p:cNvPr id="501" name="Google Shape;501;p34"/>
          <p:cNvCxnSpPr>
            <a:stCxn id="497" idx="5"/>
            <a:endCxn id="495" idx="1"/>
          </p:cNvCxnSpPr>
          <p:nvPr/>
        </p:nvCxnSpPr>
        <p:spPr>
          <a:xfrm>
            <a:off x="6773163" y="2023001"/>
            <a:ext cx="520800" cy="364200"/>
          </a:xfrm>
          <a:prstGeom prst="straightConnector1">
            <a:avLst/>
          </a:prstGeom>
          <a:noFill/>
          <a:ln cap="flat" cmpd="sng" w="13950">
            <a:solidFill>
              <a:srgbClr val="000000"/>
            </a:solidFill>
            <a:prstDash val="solid"/>
            <a:round/>
            <a:headEnd len="med" w="med" type="none"/>
            <a:tailEnd len="med" w="med" type="none"/>
          </a:ln>
        </p:spPr>
      </p:cxnSp>
      <p:cxnSp>
        <p:nvCxnSpPr>
          <p:cNvPr id="502" name="Google Shape;502;p34"/>
          <p:cNvCxnSpPr>
            <a:stCxn id="497" idx="3"/>
            <a:endCxn id="494" idx="7"/>
          </p:cNvCxnSpPr>
          <p:nvPr/>
        </p:nvCxnSpPr>
        <p:spPr>
          <a:xfrm flipH="1">
            <a:off x="5791126" y="2023001"/>
            <a:ext cx="484800" cy="364200"/>
          </a:xfrm>
          <a:prstGeom prst="straightConnector1">
            <a:avLst/>
          </a:prstGeom>
          <a:noFill/>
          <a:ln cap="flat" cmpd="sng" w="13950">
            <a:solidFill>
              <a:srgbClr val="000000"/>
            </a:solidFill>
            <a:prstDash val="solid"/>
            <a:round/>
            <a:headEnd len="med" w="med" type="none"/>
            <a:tailEnd len="med" w="med" type="none"/>
          </a:ln>
        </p:spPr>
      </p:cxnSp>
      <p:cxnSp>
        <p:nvCxnSpPr>
          <p:cNvPr id="503" name="Google Shape;503;p34"/>
          <p:cNvCxnSpPr>
            <a:stCxn id="494" idx="5"/>
            <a:endCxn id="489" idx="0"/>
          </p:cNvCxnSpPr>
          <p:nvPr/>
        </p:nvCxnSpPr>
        <p:spPr>
          <a:xfrm>
            <a:off x="5791209" y="2884413"/>
            <a:ext cx="220500" cy="480900"/>
          </a:xfrm>
          <a:prstGeom prst="straightConnector1">
            <a:avLst/>
          </a:prstGeom>
          <a:noFill/>
          <a:ln cap="flat" cmpd="sng" w="13950">
            <a:solidFill>
              <a:srgbClr val="000000"/>
            </a:solidFill>
            <a:prstDash val="solid"/>
            <a:round/>
            <a:headEnd len="med" w="med" type="none"/>
            <a:tailEnd len="med" w="med" type="none"/>
          </a:ln>
        </p:spPr>
      </p:cxnSp>
      <p:cxnSp>
        <p:nvCxnSpPr>
          <p:cNvPr id="504" name="Google Shape;504;p34"/>
          <p:cNvCxnSpPr>
            <a:stCxn id="494" idx="3"/>
            <a:endCxn id="488" idx="0"/>
          </p:cNvCxnSpPr>
          <p:nvPr/>
        </p:nvCxnSpPr>
        <p:spPr>
          <a:xfrm flipH="1">
            <a:off x="5011671" y="2884413"/>
            <a:ext cx="282300" cy="480900"/>
          </a:xfrm>
          <a:prstGeom prst="straightConnector1">
            <a:avLst/>
          </a:prstGeom>
          <a:noFill/>
          <a:ln cap="flat" cmpd="sng" w="13950">
            <a:solidFill>
              <a:srgbClr val="000000"/>
            </a:solidFill>
            <a:prstDash val="solid"/>
            <a:round/>
            <a:headEnd len="med" w="med" type="none"/>
            <a:tailEnd len="med" w="med" type="none"/>
          </a:ln>
        </p:spPr>
      </p:cxnSp>
      <p:cxnSp>
        <p:nvCxnSpPr>
          <p:cNvPr id="505" name="Google Shape;505;p34"/>
          <p:cNvCxnSpPr>
            <a:stCxn id="495" idx="3"/>
            <a:endCxn id="490" idx="0"/>
          </p:cNvCxnSpPr>
          <p:nvPr/>
        </p:nvCxnSpPr>
        <p:spPr>
          <a:xfrm flipH="1">
            <a:off x="7011758" y="2884413"/>
            <a:ext cx="282300" cy="480900"/>
          </a:xfrm>
          <a:prstGeom prst="straightConnector1">
            <a:avLst/>
          </a:prstGeom>
          <a:noFill/>
          <a:ln cap="flat" cmpd="sng" w="13950">
            <a:solidFill>
              <a:srgbClr val="000000"/>
            </a:solidFill>
            <a:prstDash val="solid"/>
            <a:round/>
            <a:headEnd len="med" w="med" type="none"/>
            <a:tailEnd len="med" w="med" type="none"/>
          </a:ln>
        </p:spPr>
      </p:cxnSp>
      <p:cxnSp>
        <p:nvCxnSpPr>
          <p:cNvPr id="506" name="Google Shape;506;p34"/>
          <p:cNvCxnSpPr>
            <a:stCxn id="495" idx="5"/>
            <a:endCxn id="491" idx="0"/>
          </p:cNvCxnSpPr>
          <p:nvPr/>
        </p:nvCxnSpPr>
        <p:spPr>
          <a:xfrm>
            <a:off x="7791295" y="2884413"/>
            <a:ext cx="220500" cy="480900"/>
          </a:xfrm>
          <a:prstGeom prst="straightConnector1">
            <a:avLst/>
          </a:prstGeom>
          <a:noFill/>
          <a:ln cap="flat" cmpd="sng" w="13950">
            <a:solidFill>
              <a:srgbClr val="000000"/>
            </a:solidFill>
            <a:prstDash val="solid"/>
            <a:round/>
            <a:headEnd len="med" w="med" type="none"/>
            <a:tailEnd len="med" w="med" type="none"/>
          </a:ln>
        </p:spPr>
      </p:cxnSp>
      <p:cxnSp>
        <p:nvCxnSpPr>
          <p:cNvPr id="507" name="Google Shape;507;p34"/>
          <p:cNvCxnSpPr>
            <a:stCxn id="496" idx="5"/>
            <a:endCxn id="493" idx="1"/>
          </p:cNvCxnSpPr>
          <p:nvPr/>
        </p:nvCxnSpPr>
        <p:spPr>
          <a:xfrm>
            <a:off x="2772991" y="2023001"/>
            <a:ext cx="520800" cy="364200"/>
          </a:xfrm>
          <a:prstGeom prst="straightConnector1">
            <a:avLst/>
          </a:prstGeom>
          <a:noFill/>
          <a:ln cap="flat" cmpd="sng" w="13950">
            <a:solidFill>
              <a:srgbClr val="000000"/>
            </a:solidFill>
            <a:prstDash val="solid"/>
            <a:round/>
            <a:headEnd len="med" w="med" type="none"/>
            <a:tailEnd len="med" w="med" type="none"/>
          </a:ln>
        </p:spPr>
      </p:cxnSp>
      <p:cxnSp>
        <p:nvCxnSpPr>
          <p:cNvPr id="508" name="Google Shape;508;p34"/>
          <p:cNvCxnSpPr>
            <a:stCxn id="496" idx="3"/>
            <a:endCxn id="492" idx="7"/>
          </p:cNvCxnSpPr>
          <p:nvPr/>
        </p:nvCxnSpPr>
        <p:spPr>
          <a:xfrm flipH="1">
            <a:off x="1790953" y="2023001"/>
            <a:ext cx="484800" cy="364200"/>
          </a:xfrm>
          <a:prstGeom prst="straightConnector1">
            <a:avLst/>
          </a:prstGeom>
          <a:noFill/>
          <a:ln cap="flat" cmpd="sng" w="13950">
            <a:solidFill>
              <a:srgbClr val="000000"/>
            </a:solidFill>
            <a:prstDash val="solid"/>
            <a:round/>
            <a:headEnd len="med" w="med" type="none"/>
            <a:tailEnd len="med" w="med" type="none"/>
          </a:ln>
        </p:spPr>
      </p:cxnSp>
      <p:cxnSp>
        <p:nvCxnSpPr>
          <p:cNvPr id="509" name="Google Shape;509;p34"/>
          <p:cNvCxnSpPr>
            <a:stCxn id="492" idx="3"/>
            <a:endCxn id="484" idx="0"/>
          </p:cNvCxnSpPr>
          <p:nvPr/>
        </p:nvCxnSpPr>
        <p:spPr>
          <a:xfrm flipH="1">
            <a:off x="1011499" y="2884413"/>
            <a:ext cx="282300" cy="480900"/>
          </a:xfrm>
          <a:prstGeom prst="straightConnector1">
            <a:avLst/>
          </a:prstGeom>
          <a:noFill/>
          <a:ln cap="flat" cmpd="sng" w="13950">
            <a:solidFill>
              <a:srgbClr val="000000"/>
            </a:solidFill>
            <a:prstDash val="solid"/>
            <a:round/>
            <a:headEnd len="med" w="med" type="none"/>
            <a:tailEnd len="med" w="med" type="none"/>
          </a:ln>
        </p:spPr>
      </p:cxnSp>
      <p:cxnSp>
        <p:nvCxnSpPr>
          <p:cNvPr id="510" name="Google Shape;510;p34"/>
          <p:cNvCxnSpPr>
            <a:stCxn id="492" idx="5"/>
            <a:endCxn id="485" idx="0"/>
          </p:cNvCxnSpPr>
          <p:nvPr/>
        </p:nvCxnSpPr>
        <p:spPr>
          <a:xfrm>
            <a:off x="1791036" y="2884413"/>
            <a:ext cx="220500" cy="480900"/>
          </a:xfrm>
          <a:prstGeom prst="straightConnector1">
            <a:avLst/>
          </a:prstGeom>
          <a:noFill/>
          <a:ln cap="flat" cmpd="sng" w="13950">
            <a:solidFill>
              <a:srgbClr val="000000"/>
            </a:solidFill>
            <a:prstDash val="solid"/>
            <a:round/>
            <a:headEnd len="med" w="med" type="none"/>
            <a:tailEnd len="med" w="med" type="none"/>
          </a:ln>
        </p:spPr>
      </p:cxnSp>
      <p:cxnSp>
        <p:nvCxnSpPr>
          <p:cNvPr id="511" name="Google Shape;511;p34"/>
          <p:cNvCxnSpPr>
            <a:stCxn id="493" idx="3"/>
            <a:endCxn id="486" idx="0"/>
          </p:cNvCxnSpPr>
          <p:nvPr/>
        </p:nvCxnSpPr>
        <p:spPr>
          <a:xfrm flipH="1">
            <a:off x="3011585" y="2884413"/>
            <a:ext cx="282300" cy="480900"/>
          </a:xfrm>
          <a:prstGeom prst="straightConnector1">
            <a:avLst/>
          </a:prstGeom>
          <a:noFill/>
          <a:ln cap="flat" cmpd="sng" w="13950">
            <a:solidFill>
              <a:srgbClr val="000000"/>
            </a:solidFill>
            <a:prstDash val="solid"/>
            <a:round/>
            <a:headEnd len="med" w="med" type="none"/>
            <a:tailEnd len="med" w="med" type="none"/>
          </a:ln>
        </p:spPr>
      </p:cxnSp>
      <p:cxnSp>
        <p:nvCxnSpPr>
          <p:cNvPr id="512" name="Google Shape;512;p34"/>
          <p:cNvCxnSpPr>
            <a:stCxn id="493" idx="5"/>
            <a:endCxn id="487" idx="0"/>
          </p:cNvCxnSpPr>
          <p:nvPr/>
        </p:nvCxnSpPr>
        <p:spPr>
          <a:xfrm>
            <a:off x="3791122" y="2884413"/>
            <a:ext cx="220500" cy="480900"/>
          </a:xfrm>
          <a:prstGeom prst="straightConnector1">
            <a:avLst/>
          </a:prstGeom>
          <a:noFill/>
          <a:ln cap="flat" cmpd="sng" w="13950">
            <a:solidFill>
              <a:srgbClr val="000000"/>
            </a:solidFill>
            <a:prstDash val="solid"/>
            <a:round/>
            <a:headEnd len="med" w="med" type="none"/>
            <a:tailEnd len="med" w="med" type="none"/>
          </a:ln>
        </p:spPr>
      </p:cxnSp>
      <p:sp>
        <p:nvSpPr>
          <p:cNvPr id="513" name="Google Shape;513;p34"/>
          <p:cNvSpPr txBox="1"/>
          <p:nvPr/>
        </p:nvSpPr>
        <p:spPr>
          <a:xfrm>
            <a:off x="4172858" y="800589"/>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[1;8]</a:t>
            </a:r>
            <a:endParaRPr sz="1758">
              <a:latin typeface="Book Antiqua"/>
              <a:ea typeface="Book Antiqua"/>
              <a:cs typeface="Book Antiqua"/>
              <a:sym typeface="Book Antiqua"/>
            </a:endParaRPr>
          </a:p>
        </p:txBody>
      </p:sp>
      <p:sp>
        <p:nvSpPr>
          <p:cNvPr id="514" name="Google Shape;514;p34"/>
          <p:cNvSpPr txBox="1"/>
          <p:nvPr/>
        </p:nvSpPr>
        <p:spPr>
          <a:xfrm>
            <a:off x="2172772" y="150407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[1;4]</a:t>
            </a:r>
            <a:endParaRPr sz="1758">
              <a:latin typeface="Book Antiqua"/>
              <a:ea typeface="Book Antiqua"/>
              <a:cs typeface="Book Antiqua"/>
              <a:sym typeface="Book Antiqua"/>
            </a:endParaRPr>
          </a:p>
        </p:txBody>
      </p:sp>
      <p:sp>
        <p:nvSpPr>
          <p:cNvPr id="515" name="Google Shape;515;p34"/>
          <p:cNvSpPr txBox="1"/>
          <p:nvPr/>
        </p:nvSpPr>
        <p:spPr>
          <a:xfrm>
            <a:off x="6172944" y="150407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[5;8]</a:t>
            </a:r>
            <a:endParaRPr sz="1758">
              <a:latin typeface="Book Antiqua"/>
              <a:ea typeface="Book Antiqua"/>
              <a:cs typeface="Book Antiqua"/>
              <a:sym typeface="Book Antiqua"/>
            </a:endParaRPr>
          </a:p>
        </p:txBody>
      </p:sp>
      <p:sp>
        <p:nvSpPr>
          <p:cNvPr id="516" name="Google Shape;516;p34"/>
          <p:cNvSpPr txBox="1"/>
          <p:nvPr/>
        </p:nvSpPr>
        <p:spPr>
          <a:xfrm>
            <a:off x="1190817" y="2365483"/>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[1;2]</a:t>
            </a:r>
            <a:endParaRPr sz="1758">
              <a:latin typeface="Book Antiqua"/>
              <a:ea typeface="Book Antiqua"/>
              <a:cs typeface="Book Antiqua"/>
              <a:sym typeface="Book Antiqua"/>
            </a:endParaRPr>
          </a:p>
        </p:txBody>
      </p:sp>
      <p:sp>
        <p:nvSpPr>
          <p:cNvPr id="517" name="Google Shape;517;p34"/>
          <p:cNvSpPr txBox="1"/>
          <p:nvPr/>
        </p:nvSpPr>
        <p:spPr>
          <a:xfrm>
            <a:off x="3190904" y="2343623"/>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[3;4]</a:t>
            </a:r>
            <a:endParaRPr sz="1758">
              <a:latin typeface="Book Antiqua"/>
              <a:ea typeface="Book Antiqua"/>
              <a:cs typeface="Book Antiqua"/>
              <a:sym typeface="Book Antiqua"/>
            </a:endParaRPr>
          </a:p>
        </p:txBody>
      </p:sp>
      <p:sp>
        <p:nvSpPr>
          <p:cNvPr id="518" name="Google Shape;518;p34"/>
          <p:cNvSpPr txBox="1"/>
          <p:nvPr/>
        </p:nvSpPr>
        <p:spPr>
          <a:xfrm>
            <a:off x="5190990" y="2343623"/>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[5;6]</a:t>
            </a:r>
            <a:endParaRPr sz="1758">
              <a:latin typeface="Book Antiqua"/>
              <a:ea typeface="Book Antiqua"/>
              <a:cs typeface="Book Antiqua"/>
              <a:sym typeface="Book Antiqua"/>
            </a:endParaRPr>
          </a:p>
        </p:txBody>
      </p:sp>
      <p:sp>
        <p:nvSpPr>
          <p:cNvPr id="519" name="Google Shape;519;p34"/>
          <p:cNvSpPr txBox="1"/>
          <p:nvPr/>
        </p:nvSpPr>
        <p:spPr>
          <a:xfrm>
            <a:off x="7191076" y="2365483"/>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[7;8]</a:t>
            </a:r>
            <a:endParaRPr sz="1758">
              <a:latin typeface="Book Antiqua"/>
              <a:ea typeface="Book Antiqua"/>
              <a:cs typeface="Book Antiqua"/>
              <a:sym typeface="Book Antiqua"/>
            </a:endParaRPr>
          </a:p>
        </p:txBody>
      </p:sp>
      <p:sp>
        <p:nvSpPr>
          <p:cNvPr id="520" name="Google Shape;520;p34"/>
          <p:cNvSpPr txBox="1"/>
          <p:nvPr/>
        </p:nvSpPr>
        <p:spPr>
          <a:xfrm>
            <a:off x="7660102"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[8]</a:t>
            </a:r>
            <a:endParaRPr sz="1758">
              <a:latin typeface="Book Antiqua"/>
              <a:ea typeface="Book Antiqua"/>
              <a:cs typeface="Book Antiqua"/>
              <a:sym typeface="Book Antiqua"/>
            </a:endParaRPr>
          </a:p>
        </p:txBody>
      </p:sp>
      <p:sp>
        <p:nvSpPr>
          <p:cNvPr id="521" name="Google Shape;521;p34"/>
          <p:cNvSpPr txBox="1"/>
          <p:nvPr/>
        </p:nvSpPr>
        <p:spPr>
          <a:xfrm>
            <a:off x="6660059"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[7]</a:t>
            </a:r>
            <a:endParaRPr sz="1758">
              <a:latin typeface="Book Antiqua"/>
              <a:ea typeface="Book Antiqua"/>
              <a:cs typeface="Book Antiqua"/>
              <a:sym typeface="Book Antiqua"/>
            </a:endParaRPr>
          </a:p>
        </p:txBody>
      </p:sp>
      <p:sp>
        <p:nvSpPr>
          <p:cNvPr id="522" name="Google Shape;522;p34"/>
          <p:cNvSpPr txBox="1"/>
          <p:nvPr/>
        </p:nvSpPr>
        <p:spPr>
          <a:xfrm>
            <a:off x="5660015"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[6]</a:t>
            </a:r>
            <a:endParaRPr sz="1758">
              <a:latin typeface="Book Antiqua"/>
              <a:ea typeface="Book Antiqua"/>
              <a:cs typeface="Book Antiqua"/>
              <a:sym typeface="Book Antiqua"/>
            </a:endParaRPr>
          </a:p>
        </p:txBody>
      </p:sp>
      <p:sp>
        <p:nvSpPr>
          <p:cNvPr id="523" name="Google Shape;523;p34"/>
          <p:cNvSpPr txBox="1"/>
          <p:nvPr/>
        </p:nvSpPr>
        <p:spPr>
          <a:xfrm>
            <a:off x="4659972"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[5]</a:t>
            </a:r>
            <a:endParaRPr sz="1758">
              <a:latin typeface="Book Antiqua"/>
              <a:ea typeface="Book Antiqua"/>
              <a:cs typeface="Book Antiqua"/>
              <a:sym typeface="Book Antiqua"/>
            </a:endParaRPr>
          </a:p>
        </p:txBody>
      </p:sp>
      <p:sp>
        <p:nvSpPr>
          <p:cNvPr id="524" name="Google Shape;524;p34"/>
          <p:cNvSpPr txBox="1"/>
          <p:nvPr/>
        </p:nvSpPr>
        <p:spPr>
          <a:xfrm>
            <a:off x="3659929"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[4]</a:t>
            </a:r>
            <a:endParaRPr sz="1758">
              <a:latin typeface="Book Antiqua"/>
              <a:ea typeface="Book Antiqua"/>
              <a:cs typeface="Book Antiqua"/>
              <a:sym typeface="Book Antiqua"/>
            </a:endParaRPr>
          </a:p>
        </p:txBody>
      </p:sp>
      <p:sp>
        <p:nvSpPr>
          <p:cNvPr id="525" name="Google Shape;525;p34"/>
          <p:cNvSpPr txBox="1"/>
          <p:nvPr/>
        </p:nvSpPr>
        <p:spPr>
          <a:xfrm>
            <a:off x="2659886"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[3]</a:t>
            </a:r>
            <a:endParaRPr sz="1758">
              <a:latin typeface="Book Antiqua"/>
              <a:ea typeface="Book Antiqua"/>
              <a:cs typeface="Book Antiqua"/>
              <a:sym typeface="Book Antiqua"/>
            </a:endParaRPr>
          </a:p>
        </p:txBody>
      </p:sp>
      <p:sp>
        <p:nvSpPr>
          <p:cNvPr id="526" name="Google Shape;526;p34"/>
          <p:cNvSpPr txBox="1"/>
          <p:nvPr/>
        </p:nvSpPr>
        <p:spPr>
          <a:xfrm>
            <a:off x="1659843"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[2]</a:t>
            </a:r>
            <a:endParaRPr sz="1758">
              <a:latin typeface="Book Antiqua"/>
              <a:ea typeface="Book Antiqua"/>
              <a:cs typeface="Book Antiqua"/>
              <a:sym typeface="Book Antiqua"/>
            </a:endParaRPr>
          </a:p>
        </p:txBody>
      </p:sp>
      <p:sp>
        <p:nvSpPr>
          <p:cNvPr id="527" name="Google Shape;527;p34"/>
          <p:cNvSpPr txBox="1"/>
          <p:nvPr/>
        </p:nvSpPr>
        <p:spPr>
          <a:xfrm>
            <a:off x="659800" y="3446742"/>
            <a:ext cx="703200" cy="540900"/>
          </a:xfrm>
          <a:prstGeom prst="rect">
            <a:avLst/>
          </a:prstGeom>
          <a:noFill/>
          <a:ln>
            <a:noFill/>
          </a:ln>
        </p:spPr>
        <p:txBody>
          <a:bodyPr anchorCtr="0" anchor="ctr" bIns="133900" lIns="133900" spcFirstLastPara="1" rIns="133900" wrap="square" tIns="133900">
            <a:noAutofit/>
          </a:bodyPr>
          <a:lstStyle/>
          <a:p>
            <a:pPr indent="0" lvl="0" marL="0" rtl="0" algn="ctr">
              <a:spcBef>
                <a:spcPts val="0"/>
              </a:spcBef>
              <a:spcAft>
                <a:spcPts val="0"/>
              </a:spcAft>
              <a:buNone/>
            </a:pPr>
            <a:r>
              <a:rPr lang="es-419" sz="1758">
                <a:latin typeface="Book Antiqua"/>
                <a:ea typeface="Book Antiqua"/>
                <a:cs typeface="Book Antiqua"/>
                <a:sym typeface="Book Antiqua"/>
              </a:rPr>
              <a:t>[1]</a:t>
            </a:r>
            <a:endParaRPr sz="1758">
              <a:latin typeface="Book Antiqua"/>
              <a:ea typeface="Book Antiqua"/>
              <a:cs typeface="Book Antiqua"/>
              <a:sym typeface="Book Antiqua"/>
            </a:endParaRPr>
          </a:p>
        </p:txBody>
      </p:sp>
      <p:sp>
        <p:nvSpPr>
          <p:cNvPr id="528" name="Google Shape;528;p34"/>
          <p:cNvSpPr txBox="1"/>
          <p:nvPr/>
        </p:nvSpPr>
        <p:spPr>
          <a:xfrm>
            <a:off x="2286750" y="4457050"/>
            <a:ext cx="4475400" cy="44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2"/>
                </a:solidFill>
                <a:latin typeface="Roboto"/>
                <a:ea typeface="Roboto"/>
                <a:cs typeface="Roboto"/>
                <a:sym typeface="Roboto"/>
              </a:rPr>
              <a:t>Los nodos </a:t>
            </a:r>
            <a:r>
              <a:rPr lang="es-419" sz="1800">
                <a:solidFill>
                  <a:srgbClr val="FF9900"/>
                </a:solidFill>
                <a:latin typeface="Roboto"/>
                <a:ea typeface="Roboto"/>
                <a:cs typeface="Roboto"/>
                <a:sym typeface="Roboto"/>
              </a:rPr>
              <a:t>naranja</a:t>
            </a:r>
            <a:r>
              <a:rPr lang="es-419" sz="1800">
                <a:solidFill>
                  <a:schemeClr val="lt2"/>
                </a:solidFill>
                <a:latin typeface="Roboto"/>
                <a:ea typeface="Roboto"/>
                <a:cs typeface="Roboto"/>
                <a:sym typeface="Roboto"/>
              </a:rPr>
              <a:t> fueron recalculados</a:t>
            </a:r>
            <a:endParaRPr sz="1800">
              <a:solidFill>
                <a:schemeClr val="lt2"/>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5"/>
          <p:cNvSpPr txBox="1"/>
          <p:nvPr/>
        </p:nvSpPr>
        <p:spPr>
          <a:xfrm>
            <a:off x="85200" y="927750"/>
            <a:ext cx="8973600" cy="32880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1000"/>
              </a:spcBef>
              <a:spcAft>
                <a:spcPts val="0"/>
              </a:spcAft>
              <a:buNone/>
            </a:pPr>
            <a:r>
              <a:rPr lang="es-419" sz="1800"/>
              <a:t>Situaciones:</a:t>
            </a:r>
            <a:endParaRPr sz="1800"/>
          </a:p>
          <a:p>
            <a:pPr indent="-342900" lvl="0" marL="914400" rtl="0" algn="l">
              <a:lnSpc>
                <a:spcPct val="200000"/>
              </a:lnSpc>
              <a:spcBef>
                <a:spcPts val="1000"/>
              </a:spcBef>
              <a:spcAft>
                <a:spcPts val="0"/>
              </a:spcAft>
              <a:buSzPts val="1800"/>
              <a:buAutoNum type="arabicPeriod"/>
            </a:pPr>
            <a:r>
              <a:rPr lang="es-419" sz="1800"/>
              <a:t>El segmento está fuera del rango buscado.</a:t>
            </a:r>
            <a:endParaRPr sz="1800"/>
          </a:p>
          <a:p>
            <a:pPr indent="-342900" lvl="0" marL="914400" rtl="0" algn="l">
              <a:lnSpc>
                <a:spcPct val="200000"/>
              </a:lnSpc>
              <a:spcBef>
                <a:spcPts val="1000"/>
              </a:spcBef>
              <a:spcAft>
                <a:spcPts val="0"/>
              </a:spcAft>
              <a:buSzPts val="1800"/>
              <a:buAutoNum type="arabicPeriod"/>
            </a:pPr>
            <a:r>
              <a:rPr lang="es-419" sz="1800"/>
              <a:t>El segmento está completamente contenido en el rango.</a:t>
            </a:r>
            <a:endParaRPr sz="1800"/>
          </a:p>
          <a:p>
            <a:pPr indent="-342900" lvl="0" marL="914400" rtl="0" algn="l">
              <a:lnSpc>
                <a:spcPct val="200000"/>
              </a:lnSpc>
              <a:spcBef>
                <a:spcPts val="1000"/>
              </a:spcBef>
              <a:spcAft>
                <a:spcPts val="1000"/>
              </a:spcAft>
              <a:buSzPts val="1800"/>
              <a:buAutoNum type="arabicPeriod"/>
            </a:pPr>
            <a:r>
              <a:rPr lang="es-419" sz="1800"/>
              <a:t>El segmento se superpone parcialmente con el rango</a:t>
            </a:r>
            <a:endParaRPr sz="1800"/>
          </a:p>
        </p:txBody>
      </p:sp>
      <p:sp>
        <p:nvSpPr>
          <p:cNvPr id="534" name="Google Shape;534;p3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Consulta</a:t>
            </a:r>
            <a:r>
              <a:rPr lang="es-419" sz="2000"/>
              <a:t> (query)</a:t>
            </a:r>
            <a:endParaRPr sz="2000"/>
          </a:p>
        </p:txBody>
      </p:sp>
      <p:sp>
        <p:nvSpPr>
          <p:cNvPr id="535" name="Google Shape;535;p3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6"/>
          <p:cNvSpPr txBox="1"/>
          <p:nvPr/>
        </p:nvSpPr>
        <p:spPr>
          <a:xfrm>
            <a:off x="85200" y="726675"/>
            <a:ext cx="8973600" cy="42012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s-419">
                <a:solidFill>
                  <a:srgbClr val="1AB1CD"/>
                </a:solidFill>
                <a:latin typeface="Roboto Mono"/>
                <a:ea typeface="Roboto Mono"/>
                <a:cs typeface="Roboto Mono"/>
                <a:sym typeface="Roboto Mono"/>
              </a:rPr>
              <a:t>query</a:t>
            </a:r>
            <a:r>
              <a:rPr lang="es-419">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l</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return</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get</a:t>
            </a:r>
            <a:r>
              <a:rPr lang="es-419">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1</a:t>
            </a:r>
            <a:r>
              <a:rPr lang="es-419">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1</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n</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50000"/>
              </a:lnSpc>
              <a:spcBef>
                <a:spcPts val="0"/>
              </a:spcBef>
              <a:spcAft>
                <a:spcPts val="0"/>
              </a:spcAft>
              <a:buNone/>
            </a:pPr>
            <a:r>
              <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solidFill>
                  <a:srgbClr val="1AB1CD"/>
                </a:solidFill>
                <a:latin typeface="Roboto Mono"/>
                <a:ea typeface="Roboto Mono"/>
                <a:cs typeface="Roboto Mono"/>
                <a:sym typeface="Roboto Mono"/>
              </a:rPr>
              <a:t>get</a:t>
            </a:r>
            <a:r>
              <a:rPr lang="es-419">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sl</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sr</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if</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sr</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&lt;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or</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&lt;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sl</a:t>
            </a:r>
            <a:r>
              <a:rPr lang="es-419">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return</a:t>
            </a:r>
            <a:r>
              <a:rPr lang="es-419">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0</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if</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&lt;=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sl</a:t>
            </a: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and</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sr</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&lt;=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return</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tree</a:t>
            </a:r>
            <a:r>
              <a:rPr lang="es-419">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lang="es-419">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mid</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sl</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sr</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2</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left</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get</a:t>
            </a:r>
            <a:r>
              <a:rPr lang="es-419">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b="1" lang="es-419">
                <a:solidFill>
                  <a:srgbClr val="EE11FF"/>
                </a:solidFill>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2</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sl</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mid</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right</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get</a:t>
            </a:r>
            <a:r>
              <a:rPr lang="es-419">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node</a:t>
            </a:r>
            <a:r>
              <a:rPr b="1" lang="es-419">
                <a:solidFill>
                  <a:srgbClr val="EE11FF"/>
                </a:solidFill>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2</a:t>
            </a:r>
            <a:r>
              <a:rPr lang="es-419">
                <a:latin typeface="Roboto Mono"/>
                <a:ea typeface="Roboto Mono"/>
                <a:cs typeface="Roboto Mono"/>
                <a:sym typeface="Roboto Mono"/>
              </a:rPr>
              <a:t> </a:t>
            </a:r>
            <a:r>
              <a:rPr b="1" lang="es-419">
                <a:solidFill>
                  <a:srgbClr val="EE11FF"/>
                </a:solidFill>
                <a:latin typeface="Roboto Mono"/>
                <a:ea typeface="Roboto Mono"/>
                <a:cs typeface="Roboto Mono"/>
                <a:sym typeface="Roboto Mono"/>
              </a:rPr>
              <a:t>+</a:t>
            </a:r>
            <a:r>
              <a:rPr lang="es-419">
                <a:latin typeface="Roboto Mono"/>
                <a:ea typeface="Roboto Mono"/>
                <a:cs typeface="Roboto Mono"/>
                <a:sym typeface="Roboto Mono"/>
              </a:rPr>
              <a:t> </a:t>
            </a:r>
            <a:r>
              <a:rPr lang="es-419">
                <a:solidFill>
                  <a:srgbClr val="106040"/>
                </a:solidFill>
                <a:latin typeface="Roboto Mono"/>
                <a:ea typeface="Roboto Mono"/>
                <a:cs typeface="Roboto Mono"/>
                <a:sym typeface="Roboto Mono"/>
              </a:rPr>
              <a:t>1</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mid</a:t>
            </a:r>
            <a:r>
              <a:rPr b="1" lang="es-419">
                <a:solidFill>
                  <a:srgbClr val="EE11FF"/>
                </a:solidFill>
                <a:latin typeface="Roboto Mono"/>
                <a:ea typeface="Roboto Mono"/>
                <a:cs typeface="Roboto Mono"/>
                <a:sym typeface="Roboto Mono"/>
              </a:rPr>
              <a:t>+</a:t>
            </a:r>
            <a:r>
              <a:rPr lang="es-419">
                <a:solidFill>
                  <a:srgbClr val="106040"/>
                </a:solidFill>
                <a:latin typeface="Roboto Mono"/>
                <a:ea typeface="Roboto Mono"/>
                <a:cs typeface="Roboto Mono"/>
                <a:sym typeface="Roboto Mono"/>
              </a:rPr>
              <a:t>1</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sr</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l</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a:t>
            </a:r>
            <a:r>
              <a:rPr lang="es-419">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lang="es-419">
                <a:latin typeface="Roboto Mono"/>
                <a:ea typeface="Roboto Mono"/>
                <a:cs typeface="Roboto Mono"/>
                <a:sym typeface="Roboto Mono"/>
              </a:rPr>
              <a:t>    </a:t>
            </a:r>
            <a:r>
              <a:rPr b="1" lang="es-419">
                <a:solidFill>
                  <a:srgbClr val="700080"/>
                </a:solidFill>
                <a:latin typeface="Roboto Mono"/>
                <a:ea typeface="Roboto Mono"/>
                <a:cs typeface="Roboto Mono"/>
                <a:sym typeface="Roboto Mono"/>
              </a:rPr>
              <a:t>return</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op</a:t>
            </a:r>
            <a:r>
              <a:rPr lang="es-419">
                <a:latin typeface="Roboto Mono"/>
                <a:ea typeface="Roboto Mono"/>
                <a:cs typeface="Roboto Mono"/>
                <a:sym typeface="Roboto Mono"/>
              </a:rPr>
              <a:t>(</a:t>
            </a:r>
            <a:r>
              <a:rPr lang="es-419">
                <a:solidFill>
                  <a:srgbClr val="1AB1CD"/>
                </a:solidFill>
                <a:latin typeface="Roboto Mono"/>
                <a:ea typeface="Roboto Mono"/>
                <a:cs typeface="Roboto Mono"/>
                <a:sym typeface="Roboto Mono"/>
              </a:rPr>
              <a:t>left</a:t>
            </a:r>
            <a:r>
              <a:rPr lang="es-419">
                <a:latin typeface="Roboto Mono"/>
                <a:ea typeface="Roboto Mono"/>
                <a:cs typeface="Roboto Mono"/>
                <a:sym typeface="Roboto Mono"/>
              </a:rPr>
              <a:t>, </a:t>
            </a:r>
            <a:r>
              <a:rPr lang="es-419">
                <a:solidFill>
                  <a:srgbClr val="1AB1CD"/>
                </a:solidFill>
                <a:latin typeface="Roboto Mono"/>
                <a:ea typeface="Roboto Mono"/>
                <a:cs typeface="Roboto Mono"/>
                <a:sym typeface="Roboto Mono"/>
              </a:rPr>
              <a:t>right</a:t>
            </a:r>
            <a:r>
              <a:rPr lang="es-419">
                <a:latin typeface="Roboto Mono"/>
                <a:ea typeface="Roboto Mono"/>
                <a:cs typeface="Roboto Mono"/>
                <a:sym typeface="Roboto Mono"/>
              </a:rPr>
              <a:t>)</a:t>
            </a:r>
            <a:endParaRPr>
              <a:latin typeface="Roboto Mono"/>
              <a:ea typeface="Roboto Mono"/>
              <a:cs typeface="Roboto Mono"/>
              <a:sym typeface="Roboto Mono"/>
            </a:endParaRPr>
          </a:p>
        </p:txBody>
      </p:sp>
      <p:sp>
        <p:nvSpPr>
          <p:cNvPr id="541" name="Google Shape;541;p3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Consulta (query)</a:t>
            </a:r>
            <a:endParaRPr sz="2000"/>
          </a:p>
        </p:txBody>
      </p:sp>
      <p:sp>
        <p:nvSpPr>
          <p:cNvPr id="542" name="Google Shape;542;p36"/>
          <p:cNvSpPr/>
          <p:nvPr/>
        </p:nvSpPr>
        <p:spPr>
          <a:xfrm>
            <a:off x="2884000" y="2077850"/>
            <a:ext cx="79500" cy="602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543" name="Google Shape;543;p36"/>
          <p:cNvSpPr/>
          <p:nvPr/>
        </p:nvSpPr>
        <p:spPr>
          <a:xfrm>
            <a:off x="3184000" y="2680550"/>
            <a:ext cx="79500" cy="602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544" name="Google Shape;544;p36"/>
          <p:cNvSpPr/>
          <p:nvPr/>
        </p:nvSpPr>
        <p:spPr>
          <a:xfrm>
            <a:off x="5277975" y="3283250"/>
            <a:ext cx="79500" cy="10200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545" name="Google Shape;545;p36"/>
          <p:cNvSpPr/>
          <p:nvPr/>
        </p:nvSpPr>
        <p:spPr>
          <a:xfrm>
            <a:off x="2996225" y="4303250"/>
            <a:ext cx="79500" cy="2658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546" name="Google Shape;546;p36"/>
          <p:cNvSpPr txBox="1"/>
          <p:nvPr/>
        </p:nvSpPr>
        <p:spPr>
          <a:xfrm>
            <a:off x="3075725" y="2154950"/>
            <a:ext cx="16401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lt2"/>
                </a:solidFill>
                <a:latin typeface="Roboto"/>
                <a:ea typeface="Roboto"/>
                <a:cs typeface="Roboto"/>
                <a:sym typeface="Roboto"/>
              </a:rPr>
              <a:t>Fuera de rango</a:t>
            </a:r>
            <a:endParaRPr sz="1600">
              <a:solidFill>
                <a:schemeClr val="lt2"/>
              </a:solidFill>
              <a:latin typeface="Roboto"/>
              <a:ea typeface="Roboto"/>
              <a:cs typeface="Roboto"/>
              <a:sym typeface="Roboto"/>
            </a:endParaRPr>
          </a:p>
        </p:txBody>
      </p:sp>
      <p:sp>
        <p:nvSpPr>
          <p:cNvPr id="547" name="Google Shape;547;p36"/>
          <p:cNvSpPr txBox="1"/>
          <p:nvPr/>
        </p:nvSpPr>
        <p:spPr>
          <a:xfrm>
            <a:off x="3364200" y="2757650"/>
            <a:ext cx="16401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lt2"/>
                </a:solidFill>
                <a:latin typeface="Roboto"/>
                <a:ea typeface="Roboto"/>
                <a:cs typeface="Roboto"/>
                <a:sym typeface="Roboto"/>
              </a:rPr>
              <a:t>Dentro</a:t>
            </a:r>
            <a:endParaRPr sz="1600">
              <a:solidFill>
                <a:schemeClr val="lt2"/>
              </a:solidFill>
              <a:latin typeface="Roboto"/>
              <a:ea typeface="Roboto"/>
              <a:cs typeface="Roboto"/>
              <a:sym typeface="Roboto"/>
            </a:endParaRPr>
          </a:p>
        </p:txBody>
      </p:sp>
      <p:sp>
        <p:nvSpPr>
          <p:cNvPr id="548" name="Google Shape;548;p36"/>
          <p:cNvSpPr txBox="1"/>
          <p:nvPr/>
        </p:nvSpPr>
        <p:spPr>
          <a:xfrm>
            <a:off x="5512325" y="3569000"/>
            <a:ext cx="16401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lt2"/>
                </a:solidFill>
                <a:latin typeface="Roboto"/>
                <a:ea typeface="Roboto"/>
                <a:cs typeface="Roboto"/>
                <a:sym typeface="Roboto"/>
              </a:rPr>
              <a:t>Parcialmente</a:t>
            </a:r>
            <a:endParaRPr sz="1600">
              <a:solidFill>
                <a:schemeClr val="lt2"/>
              </a:solidFill>
              <a:latin typeface="Roboto"/>
              <a:ea typeface="Roboto"/>
              <a:cs typeface="Roboto"/>
              <a:sym typeface="Roboto"/>
            </a:endParaRPr>
          </a:p>
        </p:txBody>
      </p:sp>
      <p:sp>
        <p:nvSpPr>
          <p:cNvPr id="549" name="Google Shape;549;p36"/>
          <p:cNvSpPr txBox="1"/>
          <p:nvPr/>
        </p:nvSpPr>
        <p:spPr>
          <a:xfrm>
            <a:off x="3184000" y="4211900"/>
            <a:ext cx="18204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lt2"/>
                </a:solidFill>
                <a:latin typeface="Roboto"/>
                <a:ea typeface="Roboto"/>
                <a:cs typeface="Roboto"/>
                <a:sym typeface="Roboto"/>
              </a:rPr>
              <a:t>Cálculo de partes</a:t>
            </a:r>
            <a:endParaRPr sz="1600">
              <a:solidFill>
                <a:schemeClr val="lt2"/>
              </a:solidFill>
              <a:latin typeface="Roboto"/>
              <a:ea typeface="Roboto"/>
              <a:cs typeface="Roboto"/>
              <a:sym typeface="Roboto"/>
            </a:endParaRPr>
          </a:p>
        </p:txBody>
      </p:sp>
      <p:sp>
        <p:nvSpPr>
          <p:cNvPr id="550" name="Google Shape;550;p3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51" name="Google Shape;551;p36"/>
          <p:cNvSpPr txBox="1"/>
          <p:nvPr/>
        </p:nvSpPr>
        <p:spPr>
          <a:xfrm>
            <a:off x="4834975" y="1106438"/>
            <a:ext cx="4169100" cy="9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node → idx en array del árbol</a:t>
            </a:r>
            <a:endParaRPr sz="1300">
              <a:solidFill>
                <a:schemeClr val="lt2"/>
              </a:solidFill>
              <a:latin typeface="Book Antiqua"/>
              <a:ea typeface="Book Antiqua"/>
              <a:cs typeface="Book Antiqua"/>
              <a:sym typeface="Book Antiqua"/>
            </a:endParaRPr>
          </a:p>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l y r → idx en el array original que se consulta</a:t>
            </a:r>
            <a:endParaRPr sz="1300">
              <a:solidFill>
                <a:schemeClr val="lt2"/>
              </a:solidFill>
              <a:latin typeface="Book Antiqua"/>
              <a:ea typeface="Book Antiqua"/>
              <a:cs typeface="Book Antiqua"/>
              <a:sym typeface="Book Antiqua"/>
            </a:endParaRPr>
          </a:p>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sl y sr → idx en el array original que corresponden al nodo</a:t>
            </a:r>
            <a:endParaRPr sz="1300">
              <a:solidFill>
                <a:schemeClr val="lt2"/>
              </a:solidFill>
              <a:latin typeface="Book Antiqua"/>
              <a:ea typeface="Book Antiqua"/>
              <a:cs typeface="Book Antiqua"/>
              <a:sym typeface="Book Antiqu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Consulta (query)</a:t>
            </a:r>
            <a:endParaRPr sz="2000"/>
          </a:p>
        </p:txBody>
      </p:sp>
      <p:sp>
        <p:nvSpPr>
          <p:cNvPr id="557" name="Google Shape;557;p3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58" name="Google Shape;558;p37"/>
          <p:cNvSpPr/>
          <p:nvPr/>
        </p:nvSpPr>
        <p:spPr>
          <a:xfrm>
            <a:off x="98250" y="3626157"/>
            <a:ext cx="661200" cy="661200"/>
          </a:xfrm>
          <a:prstGeom prst="ellipse">
            <a:avLst/>
          </a:prstGeom>
          <a:solidFill>
            <a:srgbClr val="F4CCCC"/>
          </a:solidFill>
          <a:ln cap="flat" cmpd="sng" w="26225">
            <a:solidFill>
              <a:srgbClr val="FF00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59" name="Google Shape;559;p37"/>
          <p:cNvSpPr/>
          <p:nvPr/>
        </p:nvSpPr>
        <p:spPr>
          <a:xfrm>
            <a:off x="1038316" y="3626157"/>
            <a:ext cx="661200" cy="661200"/>
          </a:xfrm>
          <a:prstGeom prst="ellipse">
            <a:avLst/>
          </a:prstGeom>
          <a:solidFill>
            <a:srgbClr val="D9EAD3"/>
          </a:solidFill>
          <a:ln cap="flat" cmpd="sng" w="26225">
            <a:solidFill>
              <a:srgbClr val="00FF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0" name="Google Shape;560;p37"/>
          <p:cNvSpPr/>
          <p:nvPr/>
        </p:nvSpPr>
        <p:spPr>
          <a:xfrm>
            <a:off x="1978383" y="3626157"/>
            <a:ext cx="661200" cy="661200"/>
          </a:xfrm>
          <a:prstGeom prst="ellipse">
            <a:avLst/>
          </a:prstGeom>
          <a:solidFill>
            <a:srgbClr val="FFFFFF"/>
          </a:solidFill>
          <a:ln cap="flat" cmpd="sng" w="26225">
            <a:solidFill>
              <a:srgbClr val="9FC5E8"/>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1" name="Google Shape;561;p37"/>
          <p:cNvSpPr/>
          <p:nvPr/>
        </p:nvSpPr>
        <p:spPr>
          <a:xfrm>
            <a:off x="2918449" y="3626157"/>
            <a:ext cx="661200" cy="661200"/>
          </a:xfrm>
          <a:prstGeom prst="ellipse">
            <a:avLst/>
          </a:prstGeom>
          <a:solidFill>
            <a:srgbClr val="FFFFFF"/>
          </a:solidFill>
          <a:ln cap="flat" cmpd="sng" w="26225">
            <a:solidFill>
              <a:srgbClr val="9FC5E8"/>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2" name="Google Shape;562;p37"/>
          <p:cNvSpPr/>
          <p:nvPr/>
        </p:nvSpPr>
        <p:spPr>
          <a:xfrm>
            <a:off x="3858515" y="3626157"/>
            <a:ext cx="661200" cy="661200"/>
          </a:xfrm>
          <a:prstGeom prst="ellipse">
            <a:avLst/>
          </a:prstGeom>
          <a:solidFill>
            <a:srgbClr val="FFFFFF"/>
          </a:solidFill>
          <a:ln cap="flat" cmpd="sng" w="26225">
            <a:solidFill>
              <a:srgbClr val="9FC5E8"/>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3" name="Google Shape;563;p37"/>
          <p:cNvSpPr/>
          <p:nvPr/>
        </p:nvSpPr>
        <p:spPr>
          <a:xfrm>
            <a:off x="4798582" y="3626157"/>
            <a:ext cx="661200" cy="661200"/>
          </a:xfrm>
          <a:prstGeom prst="ellipse">
            <a:avLst/>
          </a:prstGeom>
          <a:solidFill>
            <a:srgbClr val="FFFFFF"/>
          </a:solidFill>
          <a:ln cap="flat" cmpd="sng" w="26225">
            <a:solidFill>
              <a:srgbClr val="9FC5E8"/>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4" name="Google Shape;564;p37"/>
          <p:cNvSpPr/>
          <p:nvPr/>
        </p:nvSpPr>
        <p:spPr>
          <a:xfrm>
            <a:off x="5738648" y="3626157"/>
            <a:ext cx="661200" cy="661200"/>
          </a:xfrm>
          <a:prstGeom prst="ellipse">
            <a:avLst/>
          </a:prstGeom>
          <a:solidFill>
            <a:srgbClr val="FFFFFF"/>
          </a:solidFill>
          <a:ln cap="flat" cmpd="sng" w="26225">
            <a:solidFill>
              <a:srgbClr val="9FC5E8"/>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5" name="Google Shape;565;p37"/>
          <p:cNvSpPr/>
          <p:nvPr/>
        </p:nvSpPr>
        <p:spPr>
          <a:xfrm>
            <a:off x="6678714" y="3626157"/>
            <a:ext cx="661200" cy="661200"/>
          </a:xfrm>
          <a:prstGeom prst="ellipse">
            <a:avLst/>
          </a:prstGeom>
          <a:solidFill>
            <a:srgbClr val="FFFFFF"/>
          </a:solidFill>
          <a:ln cap="flat" cmpd="sng" w="26225">
            <a:solidFill>
              <a:srgbClr val="9FC5E8"/>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6" name="Google Shape;566;p37"/>
          <p:cNvSpPr/>
          <p:nvPr/>
        </p:nvSpPr>
        <p:spPr>
          <a:xfrm>
            <a:off x="597420" y="2609744"/>
            <a:ext cx="661200" cy="661200"/>
          </a:xfrm>
          <a:prstGeom prst="ellipse">
            <a:avLst/>
          </a:prstGeom>
          <a:solidFill>
            <a:srgbClr val="FCE5CD"/>
          </a:solidFill>
          <a:ln cap="flat" cmpd="sng" w="26225">
            <a:solidFill>
              <a:srgbClr val="FF99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7" name="Google Shape;567;p37"/>
          <p:cNvSpPr/>
          <p:nvPr/>
        </p:nvSpPr>
        <p:spPr>
          <a:xfrm>
            <a:off x="2477553" y="2609744"/>
            <a:ext cx="661200" cy="661200"/>
          </a:xfrm>
          <a:prstGeom prst="ellipse">
            <a:avLst/>
          </a:prstGeom>
          <a:solidFill>
            <a:srgbClr val="D9EAD3"/>
          </a:solidFill>
          <a:ln cap="flat" cmpd="sng" w="26225">
            <a:solidFill>
              <a:srgbClr val="00FF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8" name="Google Shape;568;p37"/>
          <p:cNvSpPr/>
          <p:nvPr/>
        </p:nvSpPr>
        <p:spPr>
          <a:xfrm>
            <a:off x="4357686" y="2609744"/>
            <a:ext cx="661200" cy="661200"/>
          </a:xfrm>
          <a:prstGeom prst="ellipse">
            <a:avLst/>
          </a:prstGeom>
          <a:solidFill>
            <a:srgbClr val="D9EAD3"/>
          </a:solidFill>
          <a:ln cap="flat" cmpd="sng" w="26225">
            <a:solidFill>
              <a:srgbClr val="00FF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69" name="Google Shape;569;p37"/>
          <p:cNvSpPr/>
          <p:nvPr/>
        </p:nvSpPr>
        <p:spPr>
          <a:xfrm>
            <a:off x="6237818" y="2609744"/>
            <a:ext cx="661200" cy="661200"/>
          </a:xfrm>
          <a:prstGeom prst="ellipse">
            <a:avLst/>
          </a:prstGeom>
          <a:solidFill>
            <a:srgbClr val="F4CCCC"/>
          </a:solidFill>
          <a:ln cap="flat" cmpd="sng" w="26225">
            <a:solidFill>
              <a:srgbClr val="FF00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70" name="Google Shape;570;p37"/>
          <p:cNvSpPr/>
          <p:nvPr/>
        </p:nvSpPr>
        <p:spPr>
          <a:xfrm>
            <a:off x="1520483" y="1799993"/>
            <a:ext cx="661200" cy="661200"/>
          </a:xfrm>
          <a:prstGeom prst="ellipse">
            <a:avLst/>
          </a:prstGeom>
          <a:solidFill>
            <a:srgbClr val="FCE5CD"/>
          </a:solidFill>
          <a:ln cap="flat" cmpd="sng" w="26225">
            <a:solidFill>
              <a:srgbClr val="FF99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71" name="Google Shape;571;p37"/>
          <p:cNvSpPr/>
          <p:nvPr/>
        </p:nvSpPr>
        <p:spPr>
          <a:xfrm>
            <a:off x="5280748" y="1799993"/>
            <a:ext cx="661200" cy="661200"/>
          </a:xfrm>
          <a:prstGeom prst="ellipse">
            <a:avLst/>
          </a:prstGeom>
          <a:solidFill>
            <a:srgbClr val="FCE5CD"/>
          </a:solidFill>
          <a:ln cap="flat" cmpd="sng" w="26225">
            <a:solidFill>
              <a:srgbClr val="FF99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a:p>
        </p:txBody>
      </p:sp>
      <p:sp>
        <p:nvSpPr>
          <p:cNvPr id="572" name="Google Shape;572;p37"/>
          <p:cNvSpPr/>
          <p:nvPr/>
        </p:nvSpPr>
        <p:spPr>
          <a:xfrm>
            <a:off x="3400616" y="1138700"/>
            <a:ext cx="661200" cy="661200"/>
          </a:xfrm>
          <a:prstGeom prst="ellipse">
            <a:avLst/>
          </a:prstGeom>
          <a:solidFill>
            <a:srgbClr val="FCE5CD"/>
          </a:solidFill>
          <a:ln cap="flat" cmpd="sng" w="26225">
            <a:solidFill>
              <a:srgbClr val="FF99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l">
              <a:spcBef>
                <a:spcPts val="0"/>
              </a:spcBef>
              <a:spcAft>
                <a:spcPts val="0"/>
              </a:spcAft>
              <a:buNone/>
            </a:pPr>
            <a:r>
              <a:t/>
            </a:r>
            <a:endParaRPr sz="826"/>
          </a:p>
        </p:txBody>
      </p:sp>
      <p:cxnSp>
        <p:nvCxnSpPr>
          <p:cNvPr id="573" name="Google Shape;573;p37"/>
          <p:cNvCxnSpPr>
            <a:stCxn id="572" idx="3"/>
            <a:endCxn id="570" idx="7"/>
          </p:cNvCxnSpPr>
          <p:nvPr/>
        </p:nvCxnSpPr>
        <p:spPr>
          <a:xfrm flipH="1">
            <a:off x="2084746" y="1703070"/>
            <a:ext cx="1412700" cy="193800"/>
          </a:xfrm>
          <a:prstGeom prst="straightConnector1">
            <a:avLst/>
          </a:prstGeom>
          <a:noFill/>
          <a:ln cap="flat" cmpd="sng" w="13125">
            <a:solidFill>
              <a:srgbClr val="000000"/>
            </a:solidFill>
            <a:prstDash val="solid"/>
            <a:round/>
            <a:headEnd len="med" w="med" type="none"/>
            <a:tailEnd len="med" w="med" type="none"/>
          </a:ln>
        </p:spPr>
      </p:cxnSp>
      <p:cxnSp>
        <p:nvCxnSpPr>
          <p:cNvPr id="574" name="Google Shape;574;p37"/>
          <p:cNvCxnSpPr>
            <a:stCxn id="572" idx="5"/>
            <a:endCxn id="571" idx="1"/>
          </p:cNvCxnSpPr>
          <p:nvPr/>
        </p:nvCxnSpPr>
        <p:spPr>
          <a:xfrm>
            <a:off x="3964985" y="1703070"/>
            <a:ext cx="1412700" cy="193800"/>
          </a:xfrm>
          <a:prstGeom prst="straightConnector1">
            <a:avLst/>
          </a:prstGeom>
          <a:noFill/>
          <a:ln cap="flat" cmpd="sng" w="13125">
            <a:solidFill>
              <a:srgbClr val="000000"/>
            </a:solidFill>
            <a:prstDash val="solid"/>
            <a:round/>
            <a:headEnd len="med" w="med" type="none"/>
            <a:tailEnd len="med" w="med" type="none"/>
          </a:ln>
        </p:spPr>
      </p:cxnSp>
      <p:cxnSp>
        <p:nvCxnSpPr>
          <p:cNvPr id="575" name="Google Shape;575;p37"/>
          <p:cNvCxnSpPr>
            <a:stCxn id="571" idx="5"/>
            <a:endCxn id="569" idx="1"/>
          </p:cNvCxnSpPr>
          <p:nvPr/>
        </p:nvCxnSpPr>
        <p:spPr>
          <a:xfrm>
            <a:off x="5845118" y="2364363"/>
            <a:ext cx="489600" cy="342300"/>
          </a:xfrm>
          <a:prstGeom prst="straightConnector1">
            <a:avLst/>
          </a:prstGeom>
          <a:noFill/>
          <a:ln cap="flat" cmpd="sng" w="13125">
            <a:solidFill>
              <a:srgbClr val="000000"/>
            </a:solidFill>
            <a:prstDash val="solid"/>
            <a:round/>
            <a:headEnd len="med" w="med" type="none"/>
            <a:tailEnd len="med" w="med" type="none"/>
          </a:ln>
        </p:spPr>
      </p:cxnSp>
      <p:cxnSp>
        <p:nvCxnSpPr>
          <p:cNvPr id="576" name="Google Shape;576;p37"/>
          <p:cNvCxnSpPr>
            <a:stCxn id="571" idx="3"/>
            <a:endCxn id="568" idx="7"/>
          </p:cNvCxnSpPr>
          <p:nvPr/>
        </p:nvCxnSpPr>
        <p:spPr>
          <a:xfrm flipH="1">
            <a:off x="4922179" y="2364363"/>
            <a:ext cx="455400" cy="342300"/>
          </a:xfrm>
          <a:prstGeom prst="straightConnector1">
            <a:avLst/>
          </a:prstGeom>
          <a:noFill/>
          <a:ln cap="flat" cmpd="sng" w="13125">
            <a:solidFill>
              <a:srgbClr val="000000"/>
            </a:solidFill>
            <a:prstDash val="solid"/>
            <a:round/>
            <a:headEnd len="med" w="med" type="none"/>
            <a:tailEnd len="med" w="med" type="none"/>
          </a:ln>
        </p:spPr>
      </p:cxnSp>
      <p:cxnSp>
        <p:nvCxnSpPr>
          <p:cNvPr id="577" name="Google Shape;577;p37"/>
          <p:cNvCxnSpPr>
            <a:stCxn id="568" idx="5"/>
            <a:endCxn id="563" idx="0"/>
          </p:cNvCxnSpPr>
          <p:nvPr/>
        </p:nvCxnSpPr>
        <p:spPr>
          <a:xfrm>
            <a:off x="4922055" y="3174113"/>
            <a:ext cx="207000" cy="452100"/>
          </a:xfrm>
          <a:prstGeom prst="straightConnector1">
            <a:avLst/>
          </a:prstGeom>
          <a:noFill/>
          <a:ln cap="flat" cmpd="sng" w="13125">
            <a:solidFill>
              <a:srgbClr val="000000"/>
            </a:solidFill>
            <a:prstDash val="solid"/>
            <a:round/>
            <a:headEnd len="med" w="med" type="none"/>
            <a:tailEnd len="med" w="med" type="none"/>
          </a:ln>
        </p:spPr>
      </p:cxnSp>
      <p:cxnSp>
        <p:nvCxnSpPr>
          <p:cNvPr id="578" name="Google Shape;578;p37"/>
          <p:cNvCxnSpPr>
            <a:stCxn id="568" idx="3"/>
            <a:endCxn id="562" idx="0"/>
          </p:cNvCxnSpPr>
          <p:nvPr/>
        </p:nvCxnSpPr>
        <p:spPr>
          <a:xfrm flipH="1">
            <a:off x="4189016" y="3174113"/>
            <a:ext cx="265500" cy="452100"/>
          </a:xfrm>
          <a:prstGeom prst="straightConnector1">
            <a:avLst/>
          </a:prstGeom>
          <a:noFill/>
          <a:ln cap="flat" cmpd="sng" w="13125">
            <a:solidFill>
              <a:srgbClr val="000000"/>
            </a:solidFill>
            <a:prstDash val="solid"/>
            <a:round/>
            <a:headEnd len="med" w="med" type="none"/>
            <a:tailEnd len="med" w="med" type="none"/>
          </a:ln>
        </p:spPr>
      </p:cxnSp>
      <p:cxnSp>
        <p:nvCxnSpPr>
          <p:cNvPr id="579" name="Google Shape;579;p37"/>
          <p:cNvCxnSpPr>
            <a:stCxn id="569" idx="3"/>
            <a:endCxn id="564" idx="0"/>
          </p:cNvCxnSpPr>
          <p:nvPr/>
        </p:nvCxnSpPr>
        <p:spPr>
          <a:xfrm flipH="1">
            <a:off x="6069149" y="3174113"/>
            <a:ext cx="265500" cy="452100"/>
          </a:xfrm>
          <a:prstGeom prst="straightConnector1">
            <a:avLst/>
          </a:prstGeom>
          <a:noFill/>
          <a:ln cap="flat" cmpd="sng" w="13125">
            <a:solidFill>
              <a:srgbClr val="000000"/>
            </a:solidFill>
            <a:prstDash val="solid"/>
            <a:round/>
            <a:headEnd len="med" w="med" type="none"/>
            <a:tailEnd len="med" w="med" type="none"/>
          </a:ln>
        </p:spPr>
      </p:cxnSp>
      <p:cxnSp>
        <p:nvCxnSpPr>
          <p:cNvPr id="580" name="Google Shape;580;p37"/>
          <p:cNvCxnSpPr>
            <a:stCxn id="569" idx="5"/>
            <a:endCxn id="565" idx="0"/>
          </p:cNvCxnSpPr>
          <p:nvPr/>
        </p:nvCxnSpPr>
        <p:spPr>
          <a:xfrm>
            <a:off x="6802188" y="3174113"/>
            <a:ext cx="207000" cy="452100"/>
          </a:xfrm>
          <a:prstGeom prst="straightConnector1">
            <a:avLst/>
          </a:prstGeom>
          <a:noFill/>
          <a:ln cap="flat" cmpd="sng" w="13125">
            <a:solidFill>
              <a:srgbClr val="000000"/>
            </a:solidFill>
            <a:prstDash val="solid"/>
            <a:round/>
            <a:headEnd len="med" w="med" type="none"/>
            <a:tailEnd len="med" w="med" type="none"/>
          </a:ln>
        </p:spPr>
      </p:cxnSp>
      <p:cxnSp>
        <p:nvCxnSpPr>
          <p:cNvPr id="581" name="Google Shape;581;p37"/>
          <p:cNvCxnSpPr>
            <a:stCxn id="570" idx="5"/>
            <a:endCxn id="567" idx="1"/>
          </p:cNvCxnSpPr>
          <p:nvPr/>
        </p:nvCxnSpPr>
        <p:spPr>
          <a:xfrm>
            <a:off x="2084852" y="2364363"/>
            <a:ext cx="489600" cy="342300"/>
          </a:xfrm>
          <a:prstGeom prst="straightConnector1">
            <a:avLst/>
          </a:prstGeom>
          <a:noFill/>
          <a:ln cap="flat" cmpd="sng" w="13125">
            <a:solidFill>
              <a:srgbClr val="000000"/>
            </a:solidFill>
            <a:prstDash val="solid"/>
            <a:round/>
            <a:headEnd len="med" w="med" type="none"/>
            <a:tailEnd len="med" w="med" type="none"/>
          </a:ln>
        </p:spPr>
      </p:cxnSp>
      <p:cxnSp>
        <p:nvCxnSpPr>
          <p:cNvPr id="582" name="Google Shape;582;p37"/>
          <p:cNvCxnSpPr>
            <a:stCxn id="570" idx="3"/>
            <a:endCxn id="566" idx="7"/>
          </p:cNvCxnSpPr>
          <p:nvPr/>
        </p:nvCxnSpPr>
        <p:spPr>
          <a:xfrm flipH="1">
            <a:off x="1161913" y="2364363"/>
            <a:ext cx="455400" cy="342300"/>
          </a:xfrm>
          <a:prstGeom prst="straightConnector1">
            <a:avLst/>
          </a:prstGeom>
          <a:noFill/>
          <a:ln cap="flat" cmpd="sng" w="13125">
            <a:solidFill>
              <a:srgbClr val="000000"/>
            </a:solidFill>
            <a:prstDash val="solid"/>
            <a:round/>
            <a:headEnd len="med" w="med" type="none"/>
            <a:tailEnd len="med" w="med" type="none"/>
          </a:ln>
        </p:spPr>
      </p:cxnSp>
      <p:cxnSp>
        <p:nvCxnSpPr>
          <p:cNvPr id="583" name="Google Shape;583;p37"/>
          <p:cNvCxnSpPr>
            <a:stCxn id="566" idx="3"/>
            <a:endCxn id="558" idx="0"/>
          </p:cNvCxnSpPr>
          <p:nvPr/>
        </p:nvCxnSpPr>
        <p:spPr>
          <a:xfrm flipH="1">
            <a:off x="428751" y="3174113"/>
            <a:ext cx="265500" cy="452100"/>
          </a:xfrm>
          <a:prstGeom prst="straightConnector1">
            <a:avLst/>
          </a:prstGeom>
          <a:noFill/>
          <a:ln cap="flat" cmpd="sng" w="13125">
            <a:solidFill>
              <a:srgbClr val="000000"/>
            </a:solidFill>
            <a:prstDash val="solid"/>
            <a:round/>
            <a:headEnd len="med" w="med" type="none"/>
            <a:tailEnd len="med" w="med" type="none"/>
          </a:ln>
        </p:spPr>
      </p:cxnSp>
      <p:cxnSp>
        <p:nvCxnSpPr>
          <p:cNvPr id="584" name="Google Shape;584;p37"/>
          <p:cNvCxnSpPr>
            <a:stCxn id="566" idx="5"/>
            <a:endCxn id="559" idx="0"/>
          </p:cNvCxnSpPr>
          <p:nvPr/>
        </p:nvCxnSpPr>
        <p:spPr>
          <a:xfrm>
            <a:off x="1161790" y="3174113"/>
            <a:ext cx="207000" cy="452100"/>
          </a:xfrm>
          <a:prstGeom prst="straightConnector1">
            <a:avLst/>
          </a:prstGeom>
          <a:noFill/>
          <a:ln cap="flat" cmpd="sng" w="13125">
            <a:solidFill>
              <a:srgbClr val="000000"/>
            </a:solidFill>
            <a:prstDash val="solid"/>
            <a:round/>
            <a:headEnd len="med" w="med" type="none"/>
            <a:tailEnd len="med" w="med" type="none"/>
          </a:ln>
        </p:spPr>
      </p:cxnSp>
      <p:cxnSp>
        <p:nvCxnSpPr>
          <p:cNvPr id="585" name="Google Shape;585;p37"/>
          <p:cNvCxnSpPr>
            <a:stCxn id="567" idx="3"/>
            <a:endCxn id="560" idx="0"/>
          </p:cNvCxnSpPr>
          <p:nvPr/>
        </p:nvCxnSpPr>
        <p:spPr>
          <a:xfrm flipH="1">
            <a:off x="2308884" y="3174113"/>
            <a:ext cx="265500" cy="452100"/>
          </a:xfrm>
          <a:prstGeom prst="straightConnector1">
            <a:avLst/>
          </a:prstGeom>
          <a:noFill/>
          <a:ln cap="flat" cmpd="sng" w="13125">
            <a:solidFill>
              <a:srgbClr val="000000"/>
            </a:solidFill>
            <a:prstDash val="solid"/>
            <a:round/>
            <a:headEnd len="med" w="med" type="none"/>
            <a:tailEnd len="med" w="med" type="none"/>
          </a:ln>
        </p:spPr>
      </p:cxnSp>
      <p:cxnSp>
        <p:nvCxnSpPr>
          <p:cNvPr id="586" name="Google Shape;586;p37"/>
          <p:cNvCxnSpPr>
            <a:stCxn id="567" idx="5"/>
            <a:endCxn id="561" idx="0"/>
          </p:cNvCxnSpPr>
          <p:nvPr/>
        </p:nvCxnSpPr>
        <p:spPr>
          <a:xfrm>
            <a:off x="3041923" y="3174113"/>
            <a:ext cx="207000" cy="452100"/>
          </a:xfrm>
          <a:prstGeom prst="straightConnector1">
            <a:avLst/>
          </a:prstGeom>
          <a:noFill/>
          <a:ln cap="flat" cmpd="sng" w="13125">
            <a:solidFill>
              <a:srgbClr val="000000"/>
            </a:solidFill>
            <a:prstDash val="solid"/>
            <a:round/>
            <a:headEnd len="med" w="med" type="none"/>
            <a:tailEnd len="med" w="med" type="none"/>
          </a:ln>
        </p:spPr>
      </p:cxnSp>
      <p:sp>
        <p:nvSpPr>
          <p:cNvPr id="587" name="Google Shape;587;p37"/>
          <p:cNvSpPr txBox="1"/>
          <p:nvPr/>
        </p:nvSpPr>
        <p:spPr>
          <a:xfrm>
            <a:off x="3400616" y="1215114"/>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[1;8]</a:t>
            </a:r>
            <a:endParaRPr sz="1652">
              <a:latin typeface="Book Antiqua"/>
              <a:ea typeface="Book Antiqua"/>
              <a:cs typeface="Book Antiqua"/>
              <a:sym typeface="Book Antiqua"/>
            </a:endParaRPr>
          </a:p>
        </p:txBody>
      </p:sp>
      <p:sp>
        <p:nvSpPr>
          <p:cNvPr id="588" name="Google Shape;588;p37"/>
          <p:cNvSpPr txBox="1"/>
          <p:nvPr/>
        </p:nvSpPr>
        <p:spPr>
          <a:xfrm>
            <a:off x="1520483" y="1876408"/>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[1;4]</a:t>
            </a:r>
            <a:endParaRPr sz="1652">
              <a:latin typeface="Book Antiqua"/>
              <a:ea typeface="Book Antiqua"/>
              <a:cs typeface="Book Antiqua"/>
              <a:sym typeface="Book Antiqua"/>
            </a:endParaRPr>
          </a:p>
        </p:txBody>
      </p:sp>
      <p:sp>
        <p:nvSpPr>
          <p:cNvPr id="589" name="Google Shape;589;p37"/>
          <p:cNvSpPr txBox="1"/>
          <p:nvPr/>
        </p:nvSpPr>
        <p:spPr>
          <a:xfrm>
            <a:off x="5280748" y="1876408"/>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[5;8]</a:t>
            </a:r>
            <a:endParaRPr sz="1652">
              <a:latin typeface="Book Antiqua"/>
              <a:ea typeface="Book Antiqua"/>
              <a:cs typeface="Book Antiqua"/>
              <a:sym typeface="Book Antiqua"/>
            </a:endParaRPr>
          </a:p>
        </p:txBody>
      </p:sp>
      <p:sp>
        <p:nvSpPr>
          <p:cNvPr id="590" name="Google Shape;590;p37"/>
          <p:cNvSpPr txBox="1"/>
          <p:nvPr/>
        </p:nvSpPr>
        <p:spPr>
          <a:xfrm>
            <a:off x="597420" y="2686158"/>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[1;2]</a:t>
            </a:r>
            <a:endParaRPr sz="1652">
              <a:latin typeface="Book Antiqua"/>
              <a:ea typeface="Book Antiqua"/>
              <a:cs typeface="Book Antiqua"/>
              <a:sym typeface="Book Antiqua"/>
            </a:endParaRPr>
          </a:p>
        </p:txBody>
      </p:sp>
      <p:sp>
        <p:nvSpPr>
          <p:cNvPr id="591" name="Google Shape;591;p37"/>
          <p:cNvSpPr txBox="1"/>
          <p:nvPr/>
        </p:nvSpPr>
        <p:spPr>
          <a:xfrm>
            <a:off x="2477553" y="2665609"/>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[3;4]</a:t>
            </a:r>
            <a:endParaRPr sz="1652">
              <a:latin typeface="Book Antiqua"/>
              <a:ea typeface="Book Antiqua"/>
              <a:cs typeface="Book Antiqua"/>
              <a:sym typeface="Book Antiqua"/>
            </a:endParaRPr>
          </a:p>
        </p:txBody>
      </p:sp>
      <p:sp>
        <p:nvSpPr>
          <p:cNvPr id="592" name="Google Shape;592;p37"/>
          <p:cNvSpPr txBox="1"/>
          <p:nvPr/>
        </p:nvSpPr>
        <p:spPr>
          <a:xfrm>
            <a:off x="4357686" y="2665609"/>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[5;6]</a:t>
            </a:r>
            <a:endParaRPr sz="1652">
              <a:latin typeface="Book Antiqua"/>
              <a:ea typeface="Book Antiqua"/>
              <a:cs typeface="Book Antiqua"/>
              <a:sym typeface="Book Antiqua"/>
            </a:endParaRPr>
          </a:p>
        </p:txBody>
      </p:sp>
      <p:sp>
        <p:nvSpPr>
          <p:cNvPr id="593" name="Google Shape;593;p37"/>
          <p:cNvSpPr txBox="1"/>
          <p:nvPr/>
        </p:nvSpPr>
        <p:spPr>
          <a:xfrm>
            <a:off x="6237818" y="2686158"/>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[7;8]</a:t>
            </a:r>
            <a:endParaRPr sz="1652">
              <a:latin typeface="Book Antiqua"/>
              <a:ea typeface="Book Antiqua"/>
              <a:cs typeface="Book Antiqua"/>
              <a:sym typeface="Book Antiqua"/>
            </a:endParaRPr>
          </a:p>
        </p:txBody>
      </p:sp>
      <p:sp>
        <p:nvSpPr>
          <p:cNvPr id="594" name="Google Shape;594;p37"/>
          <p:cNvSpPr txBox="1"/>
          <p:nvPr/>
        </p:nvSpPr>
        <p:spPr>
          <a:xfrm>
            <a:off x="6678714"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[8]</a:t>
            </a:r>
            <a:endParaRPr sz="1652">
              <a:latin typeface="Book Antiqua"/>
              <a:ea typeface="Book Antiqua"/>
              <a:cs typeface="Book Antiqua"/>
              <a:sym typeface="Book Antiqua"/>
            </a:endParaRPr>
          </a:p>
        </p:txBody>
      </p:sp>
      <p:sp>
        <p:nvSpPr>
          <p:cNvPr id="595" name="Google Shape;595;p37"/>
          <p:cNvSpPr txBox="1"/>
          <p:nvPr/>
        </p:nvSpPr>
        <p:spPr>
          <a:xfrm>
            <a:off x="5738648"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[7]</a:t>
            </a:r>
            <a:endParaRPr sz="1652">
              <a:latin typeface="Book Antiqua"/>
              <a:ea typeface="Book Antiqua"/>
              <a:cs typeface="Book Antiqua"/>
              <a:sym typeface="Book Antiqua"/>
            </a:endParaRPr>
          </a:p>
        </p:txBody>
      </p:sp>
      <p:sp>
        <p:nvSpPr>
          <p:cNvPr id="596" name="Google Shape;596;p37"/>
          <p:cNvSpPr txBox="1"/>
          <p:nvPr/>
        </p:nvSpPr>
        <p:spPr>
          <a:xfrm>
            <a:off x="4798582"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[6]</a:t>
            </a:r>
            <a:endParaRPr sz="1652">
              <a:latin typeface="Book Antiqua"/>
              <a:ea typeface="Book Antiqua"/>
              <a:cs typeface="Book Antiqua"/>
              <a:sym typeface="Book Antiqua"/>
            </a:endParaRPr>
          </a:p>
        </p:txBody>
      </p:sp>
      <p:sp>
        <p:nvSpPr>
          <p:cNvPr id="597" name="Google Shape;597;p37"/>
          <p:cNvSpPr txBox="1"/>
          <p:nvPr/>
        </p:nvSpPr>
        <p:spPr>
          <a:xfrm>
            <a:off x="3858515"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[5]</a:t>
            </a:r>
            <a:endParaRPr sz="1652">
              <a:latin typeface="Book Antiqua"/>
              <a:ea typeface="Book Antiqua"/>
              <a:cs typeface="Book Antiqua"/>
              <a:sym typeface="Book Antiqua"/>
            </a:endParaRPr>
          </a:p>
        </p:txBody>
      </p:sp>
      <p:sp>
        <p:nvSpPr>
          <p:cNvPr id="598" name="Google Shape;598;p37"/>
          <p:cNvSpPr txBox="1"/>
          <p:nvPr/>
        </p:nvSpPr>
        <p:spPr>
          <a:xfrm>
            <a:off x="2918449"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[4]</a:t>
            </a:r>
            <a:endParaRPr sz="1652">
              <a:latin typeface="Book Antiqua"/>
              <a:ea typeface="Book Antiqua"/>
              <a:cs typeface="Book Antiqua"/>
              <a:sym typeface="Book Antiqua"/>
            </a:endParaRPr>
          </a:p>
        </p:txBody>
      </p:sp>
      <p:sp>
        <p:nvSpPr>
          <p:cNvPr id="599" name="Google Shape;599;p37"/>
          <p:cNvSpPr txBox="1"/>
          <p:nvPr/>
        </p:nvSpPr>
        <p:spPr>
          <a:xfrm>
            <a:off x="1978383"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[3]</a:t>
            </a:r>
            <a:endParaRPr sz="1652">
              <a:latin typeface="Book Antiqua"/>
              <a:ea typeface="Book Antiqua"/>
              <a:cs typeface="Book Antiqua"/>
              <a:sym typeface="Book Antiqua"/>
            </a:endParaRPr>
          </a:p>
        </p:txBody>
      </p:sp>
      <p:sp>
        <p:nvSpPr>
          <p:cNvPr id="600" name="Google Shape;600;p37"/>
          <p:cNvSpPr txBox="1"/>
          <p:nvPr/>
        </p:nvSpPr>
        <p:spPr>
          <a:xfrm>
            <a:off x="1038316"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[2]</a:t>
            </a:r>
            <a:endParaRPr sz="1652">
              <a:latin typeface="Book Antiqua"/>
              <a:ea typeface="Book Antiqua"/>
              <a:cs typeface="Book Antiqua"/>
              <a:sym typeface="Book Antiqua"/>
            </a:endParaRPr>
          </a:p>
        </p:txBody>
      </p:sp>
      <p:sp>
        <p:nvSpPr>
          <p:cNvPr id="601" name="Google Shape;601;p37"/>
          <p:cNvSpPr txBox="1"/>
          <p:nvPr/>
        </p:nvSpPr>
        <p:spPr>
          <a:xfrm>
            <a:off x="98250" y="3702571"/>
            <a:ext cx="661200" cy="508500"/>
          </a:xfrm>
          <a:prstGeom prst="rect">
            <a:avLst/>
          </a:prstGeom>
          <a:noFill/>
          <a:ln>
            <a:noFill/>
          </a:ln>
        </p:spPr>
        <p:txBody>
          <a:bodyPr anchorCtr="0" anchor="ctr" bIns="125900" lIns="125900" spcFirstLastPara="1" rIns="125900" wrap="square" tIns="125900">
            <a:noAutofit/>
          </a:bodyPr>
          <a:lstStyle/>
          <a:p>
            <a:pPr indent="0" lvl="0" marL="0" rtl="0" algn="ctr">
              <a:spcBef>
                <a:spcPts val="0"/>
              </a:spcBef>
              <a:spcAft>
                <a:spcPts val="0"/>
              </a:spcAft>
              <a:buNone/>
            </a:pPr>
            <a:r>
              <a:rPr lang="es-419" sz="1652">
                <a:latin typeface="Book Antiqua"/>
                <a:ea typeface="Book Antiqua"/>
                <a:cs typeface="Book Antiqua"/>
                <a:sym typeface="Book Antiqua"/>
              </a:rPr>
              <a:t>[1]</a:t>
            </a:r>
            <a:endParaRPr sz="1652">
              <a:latin typeface="Book Antiqua"/>
              <a:ea typeface="Book Antiqua"/>
              <a:cs typeface="Book Antiqua"/>
              <a:sym typeface="Book Antiqua"/>
            </a:endParaRPr>
          </a:p>
        </p:txBody>
      </p:sp>
      <p:sp>
        <p:nvSpPr>
          <p:cNvPr id="602" name="Google Shape;602;p37"/>
          <p:cNvSpPr/>
          <p:nvPr/>
        </p:nvSpPr>
        <p:spPr>
          <a:xfrm rot="-5400000">
            <a:off x="3152627" y="2146748"/>
            <a:ext cx="192900" cy="4474500"/>
          </a:xfrm>
          <a:prstGeom prst="leftBrace">
            <a:avLst>
              <a:gd fmla="val 50000" name="adj1"/>
              <a:gd fmla="val 50000" name="adj2"/>
            </a:avLst>
          </a:prstGeom>
          <a:noFill/>
          <a:ln cap="flat" cmpd="sng" w="13125">
            <a:solidFill>
              <a:srgbClr val="000000"/>
            </a:solidFill>
            <a:prstDash val="solid"/>
            <a:round/>
            <a:headEnd len="sm" w="sm" type="none"/>
            <a:tailEnd len="sm" w="sm" type="none"/>
          </a:ln>
        </p:spPr>
        <p:txBody>
          <a:bodyPr anchorCtr="0" anchor="ctr" bIns="125900" lIns="125900" spcFirstLastPara="1" rIns="125900" wrap="square" tIns="125900">
            <a:noAutofit/>
          </a:bodyPr>
          <a:lstStyle/>
          <a:p>
            <a:pPr indent="0" lvl="0" marL="0" rtl="0" algn="ctr">
              <a:spcBef>
                <a:spcPts val="0"/>
              </a:spcBef>
              <a:spcAft>
                <a:spcPts val="0"/>
              </a:spcAft>
              <a:buNone/>
            </a:pPr>
            <a:r>
              <a:t/>
            </a:r>
            <a:endParaRPr sz="1928"/>
          </a:p>
        </p:txBody>
      </p:sp>
      <p:sp>
        <p:nvSpPr>
          <p:cNvPr id="603" name="Google Shape;603;p37"/>
          <p:cNvSpPr txBox="1"/>
          <p:nvPr/>
        </p:nvSpPr>
        <p:spPr>
          <a:xfrm>
            <a:off x="2780697" y="4480448"/>
            <a:ext cx="936600" cy="551100"/>
          </a:xfrm>
          <a:prstGeom prst="rect">
            <a:avLst/>
          </a:prstGeom>
          <a:noFill/>
          <a:ln>
            <a:noFill/>
          </a:ln>
        </p:spPr>
        <p:txBody>
          <a:bodyPr anchorCtr="0" anchor="t" bIns="125900" lIns="125900" spcFirstLastPara="1" rIns="125900" wrap="square" tIns="125900">
            <a:spAutoFit/>
          </a:bodyPr>
          <a:lstStyle/>
          <a:p>
            <a:pPr indent="0" lvl="0" marL="0" rtl="0" algn="l">
              <a:spcBef>
                <a:spcPts val="0"/>
              </a:spcBef>
              <a:spcAft>
                <a:spcPts val="0"/>
              </a:spcAft>
              <a:buNone/>
            </a:pPr>
            <a:r>
              <a:rPr lang="es-419" sz="1928">
                <a:latin typeface="Book Antiqua"/>
                <a:ea typeface="Book Antiqua"/>
                <a:cs typeface="Book Antiqua"/>
                <a:sym typeface="Book Antiqua"/>
              </a:rPr>
              <a:t>[L ; R]</a:t>
            </a:r>
            <a:endParaRPr sz="1928">
              <a:latin typeface="Book Antiqua"/>
              <a:ea typeface="Book Antiqua"/>
              <a:cs typeface="Book Antiqua"/>
              <a:sym typeface="Book Antiqua"/>
            </a:endParaRPr>
          </a:p>
        </p:txBody>
      </p:sp>
      <p:sp>
        <p:nvSpPr>
          <p:cNvPr id="604" name="Google Shape;604;p37"/>
          <p:cNvSpPr/>
          <p:nvPr/>
        </p:nvSpPr>
        <p:spPr>
          <a:xfrm>
            <a:off x="6490873" y="1724653"/>
            <a:ext cx="243000" cy="243000"/>
          </a:xfrm>
          <a:prstGeom prst="ellipse">
            <a:avLst/>
          </a:prstGeom>
          <a:solidFill>
            <a:srgbClr val="F4CCCC"/>
          </a:solidFill>
          <a:ln cap="flat" cmpd="sng" w="24025">
            <a:solidFill>
              <a:srgbClr val="FF0000"/>
            </a:solidFill>
            <a:prstDash val="solid"/>
            <a:round/>
            <a:headEnd len="sm" w="sm" type="none"/>
            <a:tailEnd len="sm" w="sm" type="none"/>
          </a:ln>
        </p:spPr>
        <p:txBody>
          <a:bodyPr anchorCtr="0" anchor="ctr" bIns="115350" lIns="115350" spcFirstLastPara="1" rIns="115350" wrap="square" tIns="115350">
            <a:noAutofit/>
          </a:bodyPr>
          <a:lstStyle/>
          <a:p>
            <a:pPr indent="0" lvl="0" marL="0" rtl="0" algn="l">
              <a:spcBef>
                <a:spcPts val="0"/>
              </a:spcBef>
              <a:spcAft>
                <a:spcPts val="0"/>
              </a:spcAft>
              <a:buNone/>
            </a:pPr>
            <a:r>
              <a:t/>
            </a:r>
            <a:endParaRPr/>
          </a:p>
        </p:txBody>
      </p:sp>
      <p:sp>
        <p:nvSpPr>
          <p:cNvPr id="605" name="Google Shape;605;p37"/>
          <p:cNvSpPr/>
          <p:nvPr/>
        </p:nvSpPr>
        <p:spPr>
          <a:xfrm>
            <a:off x="6490871" y="895703"/>
            <a:ext cx="243000" cy="243000"/>
          </a:xfrm>
          <a:prstGeom prst="ellipse">
            <a:avLst/>
          </a:prstGeom>
          <a:solidFill>
            <a:srgbClr val="D9EAD3"/>
          </a:solidFill>
          <a:ln cap="flat" cmpd="sng" w="24025">
            <a:solidFill>
              <a:srgbClr val="00FF00"/>
            </a:solidFill>
            <a:prstDash val="solid"/>
            <a:round/>
            <a:headEnd len="sm" w="sm" type="none"/>
            <a:tailEnd len="sm" w="sm" type="none"/>
          </a:ln>
        </p:spPr>
        <p:txBody>
          <a:bodyPr anchorCtr="0" anchor="ctr" bIns="115350" lIns="115350" spcFirstLastPara="1" rIns="115350" wrap="square" tIns="115350">
            <a:noAutofit/>
          </a:bodyPr>
          <a:lstStyle/>
          <a:p>
            <a:pPr indent="0" lvl="0" marL="0" rtl="0" algn="l">
              <a:spcBef>
                <a:spcPts val="0"/>
              </a:spcBef>
              <a:spcAft>
                <a:spcPts val="0"/>
              </a:spcAft>
              <a:buNone/>
            </a:pPr>
            <a:r>
              <a:t/>
            </a:r>
            <a:endParaRPr/>
          </a:p>
        </p:txBody>
      </p:sp>
      <p:sp>
        <p:nvSpPr>
          <p:cNvPr id="606" name="Google Shape;606;p37"/>
          <p:cNvSpPr/>
          <p:nvPr/>
        </p:nvSpPr>
        <p:spPr>
          <a:xfrm>
            <a:off x="6490880" y="1310182"/>
            <a:ext cx="243000" cy="243000"/>
          </a:xfrm>
          <a:prstGeom prst="ellipse">
            <a:avLst/>
          </a:prstGeom>
          <a:solidFill>
            <a:srgbClr val="FCE5CD"/>
          </a:solidFill>
          <a:ln cap="flat" cmpd="sng" w="24025">
            <a:solidFill>
              <a:srgbClr val="FF9900"/>
            </a:solidFill>
            <a:prstDash val="solid"/>
            <a:round/>
            <a:headEnd len="sm" w="sm" type="none"/>
            <a:tailEnd len="sm" w="sm" type="none"/>
          </a:ln>
        </p:spPr>
        <p:txBody>
          <a:bodyPr anchorCtr="0" anchor="ctr" bIns="115350" lIns="115350" spcFirstLastPara="1" rIns="115350" wrap="square" tIns="115350">
            <a:noAutofit/>
          </a:bodyPr>
          <a:lstStyle/>
          <a:p>
            <a:pPr indent="0" lvl="0" marL="0" rtl="0" algn="l">
              <a:spcBef>
                <a:spcPts val="0"/>
              </a:spcBef>
              <a:spcAft>
                <a:spcPts val="0"/>
              </a:spcAft>
              <a:buNone/>
            </a:pPr>
            <a:r>
              <a:t/>
            </a:r>
            <a:endParaRPr/>
          </a:p>
        </p:txBody>
      </p:sp>
      <p:sp>
        <p:nvSpPr>
          <p:cNvPr id="607" name="Google Shape;607;p37"/>
          <p:cNvSpPr/>
          <p:nvPr/>
        </p:nvSpPr>
        <p:spPr>
          <a:xfrm>
            <a:off x="6490882" y="2139131"/>
            <a:ext cx="243000" cy="243000"/>
          </a:xfrm>
          <a:prstGeom prst="ellipse">
            <a:avLst/>
          </a:prstGeom>
          <a:solidFill>
            <a:srgbClr val="FFFFFF"/>
          </a:solidFill>
          <a:ln cap="flat" cmpd="sng" w="24025">
            <a:solidFill>
              <a:srgbClr val="9FC5E8"/>
            </a:solidFill>
            <a:prstDash val="solid"/>
            <a:round/>
            <a:headEnd len="sm" w="sm" type="none"/>
            <a:tailEnd len="sm" w="sm" type="none"/>
          </a:ln>
        </p:spPr>
        <p:txBody>
          <a:bodyPr anchorCtr="0" anchor="ctr" bIns="115350" lIns="115350" spcFirstLastPara="1" rIns="115350" wrap="square" tIns="115350">
            <a:noAutofit/>
          </a:bodyPr>
          <a:lstStyle/>
          <a:p>
            <a:pPr indent="0" lvl="0" marL="0" rtl="0" algn="l">
              <a:spcBef>
                <a:spcPts val="0"/>
              </a:spcBef>
              <a:spcAft>
                <a:spcPts val="0"/>
              </a:spcAft>
              <a:buNone/>
            </a:pPr>
            <a:r>
              <a:t/>
            </a:r>
            <a:endParaRPr/>
          </a:p>
        </p:txBody>
      </p:sp>
      <p:sp>
        <p:nvSpPr>
          <p:cNvPr id="608" name="Google Shape;608;p37"/>
          <p:cNvSpPr txBox="1"/>
          <p:nvPr/>
        </p:nvSpPr>
        <p:spPr>
          <a:xfrm>
            <a:off x="6733875" y="824750"/>
            <a:ext cx="2338500" cy="38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Contenidos por completo</a:t>
            </a:r>
            <a:endParaRPr/>
          </a:p>
        </p:txBody>
      </p:sp>
      <p:sp>
        <p:nvSpPr>
          <p:cNvPr id="609" name="Google Shape;609;p37"/>
          <p:cNvSpPr txBox="1"/>
          <p:nvPr/>
        </p:nvSpPr>
        <p:spPr>
          <a:xfrm>
            <a:off x="6733875" y="1239225"/>
            <a:ext cx="2338500" cy="38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Contenido parcialmente</a:t>
            </a:r>
            <a:endParaRPr/>
          </a:p>
        </p:txBody>
      </p:sp>
      <p:sp>
        <p:nvSpPr>
          <p:cNvPr id="610" name="Google Shape;610;p37"/>
          <p:cNvSpPr txBox="1"/>
          <p:nvPr/>
        </p:nvSpPr>
        <p:spPr>
          <a:xfrm>
            <a:off x="6733875" y="1653700"/>
            <a:ext cx="2338500" cy="38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Fuera de rango</a:t>
            </a:r>
            <a:endParaRPr/>
          </a:p>
        </p:txBody>
      </p:sp>
      <p:sp>
        <p:nvSpPr>
          <p:cNvPr id="611" name="Google Shape;611;p37"/>
          <p:cNvSpPr txBox="1"/>
          <p:nvPr/>
        </p:nvSpPr>
        <p:spPr>
          <a:xfrm>
            <a:off x="6733875" y="2068175"/>
            <a:ext cx="2338500" cy="38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300">
                <a:solidFill>
                  <a:schemeClr val="lt2"/>
                </a:solidFill>
                <a:latin typeface="Book Antiqua"/>
                <a:ea typeface="Book Antiqua"/>
                <a:cs typeface="Book Antiqua"/>
                <a:sym typeface="Book Antiqua"/>
              </a:rPr>
              <a:t>No visitados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3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Segment Tree for the Sum</a:t>
            </a:r>
            <a:endParaRPr/>
          </a:p>
        </p:txBody>
      </p:sp>
      <p:sp>
        <p:nvSpPr>
          <p:cNvPr id="617" name="Google Shape;617;p3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18" name="Google Shape;618;p38"/>
          <p:cNvPicPr preferRelativeResize="0"/>
          <p:nvPr/>
        </p:nvPicPr>
        <p:blipFill>
          <a:blip r:embed="rId3">
            <a:alphaModFix/>
          </a:blip>
          <a:stretch>
            <a:fillRect/>
          </a:stretch>
        </p:blipFill>
        <p:spPr>
          <a:xfrm>
            <a:off x="1068775" y="1783075"/>
            <a:ext cx="7028351" cy="3036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OP y Build</a:t>
            </a:r>
            <a:endParaRPr sz="2000"/>
          </a:p>
        </p:txBody>
      </p:sp>
      <p:sp>
        <p:nvSpPr>
          <p:cNvPr id="624" name="Google Shape;624;p3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25" name="Google Shape;625;p39"/>
          <p:cNvSpPr txBox="1"/>
          <p:nvPr/>
        </p:nvSpPr>
        <p:spPr>
          <a:xfrm>
            <a:off x="298950" y="619050"/>
            <a:ext cx="8425200" cy="464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struct</a:t>
            </a:r>
            <a:r>
              <a:rPr lang="es-419" sz="1600">
                <a:latin typeface="Roboto Mono"/>
                <a:ea typeface="Roboto Mono"/>
                <a:cs typeface="Roboto Mono"/>
                <a:sym typeface="Roboto Mono"/>
              </a:rPr>
              <a:t> </a:t>
            </a:r>
            <a:r>
              <a:rPr lang="es-419" sz="1600">
                <a:solidFill>
                  <a:srgbClr val="0000F0"/>
                </a:solidFill>
                <a:latin typeface="Roboto Mono"/>
                <a:ea typeface="Roboto Mono"/>
                <a:cs typeface="Roboto Mono"/>
                <a:sym typeface="Roboto Mono"/>
              </a:rPr>
              <a:t>SegTree</a:t>
            </a:r>
            <a:r>
              <a:rPr lang="es-419" sz="1600"/>
              <a:t> </a:t>
            </a:r>
            <a:r>
              <a:rPr lang="es-419" sz="1600">
                <a:latin typeface="Roboto Mono"/>
                <a:ea typeface="Roboto Mono"/>
                <a:cs typeface="Roboto Mono"/>
                <a:sym typeface="Roboto Mono"/>
              </a:rPr>
              <a:t>{</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solidFill>
                  <a:srgbClr val="1AB1CD"/>
                </a:solidFill>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vector</a:t>
            </a:r>
            <a:r>
              <a:rPr b="1" lang="es-419" sz="1600">
                <a:solidFill>
                  <a:srgbClr val="EE11FF"/>
                </a:solidFill>
                <a:latin typeface="Roboto Mono"/>
                <a:ea typeface="Roboto Mono"/>
                <a:cs typeface="Roboto Mono"/>
                <a:sym typeface="Roboto Mono"/>
              </a:rPr>
              <a:t>&lt;</a:t>
            </a:r>
            <a:r>
              <a:rPr lang="es-419" sz="1600">
                <a:solidFill>
                  <a:srgbClr val="1AB1CD"/>
                </a:solidFill>
                <a:latin typeface="Roboto Mono"/>
                <a:ea typeface="Roboto Mono"/>
                <a:cs typeface="Roboto Mono"/>
                <a:sym typeface="Roboto Mono"/>
              </a:rPr>
              <a:t>ll</a:t>
            </a:r>
            <a:r>
              <a:rPr b="1" lang="es-419" sz="1600">
                <a:solidFill>
                  <a:srgbClr val="EE11FF"/>
                </a:solidFill>
                <a:latin typeface="Roboto Mono"/>
                <a:ea typeface="Roboto Mono"/>
                <a:cs typeface="Roboto Mono"/>
                <a:sym typeface="Roboto Mono"/>
              </a:rPr>
              <a:t>&gt;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solidFill>
                  <a:srgbClr val="1AB1CD"/>
                </a:solidFill>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vector</a:t>
            </a:r>
            <a:r>
              <a:rPr b="1" lang="es-419" sz="1600">
                <a:solidFill>
                  <a:srgbClr val="EE11FF"/>
                </a:solidFill>
                <a:latin typeface="Roboto Mono"/>
                <a:ea typeface="Roboto Mono"/>
                <a:cs typeface="Roboto Mono"/>
                <a:sym typeface="Roboto Mono"/>
              </a:rPr>
              <a:t>&lt;</a:t>
            </a:r>
            <a:r>
              <a:rPr lang="es-419" sz="1600">
                <a:solidFill>
                  <a:srgbClr val="1AB1CD"/>
                </a:solidFill>
                <a:latin typeface="Roboto Mono"/>
                <a:ea typeface="Roboto Mono"/>
                <a:cs typeface="Roboto Mono"/>
                <a:sym typeface="Roboto Mono"/>
              </a:rPr>
              <a:t>ll</a:t>
            </a:r>
            <a:r>
              <a:rPr b="1" lang="es-419" sz="1600">
                <a:solidFill>
                  <a:srgbClr val="EE11FF"/>
                </a:solidFill>
                <a:latin typeface="Roboto Mono"/>
                <a:ea typeface="Roboto Mono"/>
                <a:cs typeface="Roboto Mono"/>
                <a:sym typeface="Roboto Mono"/>
              </a:rPr>
              <a:t>&gt;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Constructor que llama a build</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a:t>
            </a: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a:t>
            </a: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008050"/>
                </a:solidFill>
                <a:latin typeface="Roboto Mono"/>
                <a:ea typeface="Roboto Mono"/>
                <a:cs typeface="Roboto Mono"/>
                <a:sym typeface="Roboto Mono"/>
              </a:rPr>
              <a:t>void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build</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 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build</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build</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a:t>
            </a:r>
            <a:endParaRPr sz="1600">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Update</a:t>
            </a:r>
            <a:endParaRPr sz="2000"/>
          </a:p>
        </p:txBody>
      </p:sp>
      <p:sp>
        <p:nvSpPr>
          <p:cNvPr id="631" name="Google Shape;631;p4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32" name="Google Shape;632;p40"/>
          <p:cNvSpPr txBox="1"/>
          <p:nvPr/>
        </p:nvSpPr>
        <p:spPr>
          <a:xfrm>
            <a:off x="298950" y="619050"/>
            <a:ext cx="8425200" cy="464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struct</a:t>
            </a:r>
            <a:r>
              <a:rPr lang="es-419" sz="1600">
                <a:latin typeface="Roboto Mono"/>
                <a:ea typeface="Roboto Mono"/>
                <a:cs typeface="Roboto Mono"/>
                <a:sym typeface="Roboto Mono"/>
              </a:rPr>
              <a:t> </a:t>
            </a:r>
            <a:r>
              <a:rPr lang="es-419" sz="1600">
                <a:solidFill>
                  <a:srgbClr val="0000F0"/>
                </a:solidFill>
                <a:latin typeface="Roboto Mono"/>
                <a:ea typeface="Roboto Mono"/>
                <a:cs typeface="Roboto Mono"/>
                <a:sym typeface="Roboto Mono"/>
              </a:rPr>
              <a:t>SegTree</a:t>
            </a:r>
            <a:r>
              <a:rPr lang="es-419" sz="1600"/>
              <a:t> </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008050"/>
                </a:solidFill>
                <a:latin typeface="Roboto Mono"/>
                <a:ea typeface="Roboto Mono"/>
                <a:cs typeface="Roboto Mono"/>
                <a:sym typeface="Roboto Mono"/>
              </a:rPr>
              <a:t>void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0</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size</a:t>
            </a:r>
            <a:r>
              <a:rPr lang="es-419" sz="1600">
                <a:latin typeface="Roboto Mono"/>
                <a:ea typeface="Roboto Mono"/>
                <a:cs typeface="Roboto Mono"/>
                <a:sym typeface="Roboto Mono"/>
              </a:rPr>
              <a:t>()</a:t>
            </a:r>
            <a:r>
              <a:rPr b="1" lang="es-419" sz="1600">
                <a:solidFill>
                  <a:srgbClr val="EE11FF"/>
                </a:solidFill>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endParaRPr sz="1600"/>
          </a:p>
          <a:p>
            <a:pPr indent="0" lvl="0" marL="0" rtl="0" algn="l">
              <a:lnSpc>
                <a:spcPct val="100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solidFill>
                  <a:srgbClr val="008050"/>
                </a:solidFill>
                <a:latin typeface="Roboto Mono"/>
                <a:ea typeface="Roboto Mono"/>
                <a:cs typeface="Roboto Mono"/>
                <a:sym typeface="Roboto Mono"/>
              </a:rPr>
              <a:t>    void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else</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a:t>
            </a:r>
            <a:endParaRPr sz="1600">
              <a:latin typeface="Roboto Mono"/>
              <a:ea typeface="Roboto Mono"/>
              <a:cs typeface="Roboto Mono"/>
              <a:sym typeface="Roboto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Query</a:t>
            </a:r>
            <a:endParaRPr sz="2000"/>
          </a:p>
        </p:txBody>
      </p:sp>
      <p:sp>
        <p:nvSpPr>
          <p:cNvPr id="638" name="Google Shape;638;p4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39" name="Google Shape;639;p41"/>
          <p:cNvSpPr txBox="1"/>
          <p:nvPr/>
        </p:nvSpPr>
        <p:spPr>
          <a:xfrm>
            <a:off x="298950" y="619050"/>
            <a:ext cx="8425200" cy="439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struct</a:t>
            </a:r>
            <a:r>
              <a:rPr lang="es-419" sz="1600">
                <a:latin typeface="Roboto Mono"/>
                <a:ea typeface="Roboto Mono"/>
                <a:cs typeface="Roboto Mono"/>
                <a:sym typeface="Roboto Mono"/>
              </a:rPr>
              <a:t> </a:t>
            </a:r>
            <a:r>
              <a:rPr lang="es-419" sz="1600">
                <a:solidFill>
                  <a:srgbClr val="0000F0"/>
                </a:solidFill>
                <a:latin typeface="Roboto Mono"/>
                <a:ea typeface="Roboto Mono"/>
                <a:cs typeface="Roboto Mono"/>
                <a:sym typeface="Roboto Mono"/>
              </a:rPr>
              <a:t>SegTree</a:t>
            </a:r>
            <a:r>
              <a:rPr lang="es-419" sz="1600"/>
              <a:t> </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query</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0</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size</a:t>
            </a:r>
            <a:r>
              <a:rPr lang="es-419" sz="1600">
                <a:latin typeface="Roboto Mono"/>
                <a:ea typeface="Roboto Mono"/>
                <a:cs typeface="Roboto Mono"/>
                <a:sym typeface="Roboto Mono"/>
              </a:rPr>
              <a:t>()</a:t>
            </a:r>
            <a:r>
              <a:rPr b="1" lang="es-419" sz="1600">
                <a:solidFill>
                  <a:srgbClr val="EE11FF"/>
                </a:solidFill>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a:t>
            </a:r>
            <a:r>
              <a:rPr lang="es-419" sz="1600"/>
              <a:t> </a:t>
            </a:r>
            <a:endParaRPr sz="1600"/>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0</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&amp;&amp;</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            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left</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right</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left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right</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a:t>
            </a:r>
            <a:endParaRPr sz="1600">
              <a:latin typeface="Roboto Mono"/>
              <a:ea typeface="Roboto Mono"/>
              <a:cs typeface="Roboto Mono"/>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Programa Principal</a:t>
            </a:r>
            <a:endParaRPr sz="2000"/>
          </a:p>
        </p:txBody>
      </p:sp>
      <p:sp>
        <p:nvSpPr>
          <p:cNvPr id="645" name="Google Shape;645;p4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46" name="Google Shape;646;p42"/>
          <p:cNvSpPr txBox="1"/>
          <p:nvPr/>
        </p:nvSpPr>
        <p:spPr>
          <a:xfrm>
            <a:off x="298950" y="684025"/>
            <a:ext cx="8425200" cy="440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200">
                <a:solidFill>
                  <a:srgbClr val="008050"/>
                </a:solidFill>
                <a:latin typeface="Roboto Mono"/>
                <a:ea typeface="Roboto Mono"/>
                <a:cs typeface="Roboto Mono"/>
                <a:sym typeface="Roboto Mono"/>
              </a:rPr>
              <a:t>int</a:t>
            </a:r>
            <a:r>
              <a:rPr lang="es-419" sz="1200">
                <a:latin typeface="Roboto Mono"/>
                <a:ea typeface="Roboto Mono"/>
                <a:cs typeface="Roboto Mono"/>
                <a:sym typeface="Roboto Mono"/>
              </a:rPr>
              <a:t> </a:t>
            </a:r>
            <a:r>
              <a:rPr lang="es-419" sz="1200">
                <a:solidFill>
                  <a:srgbClr val="0000F0"/>
                </a:solidFill>
                <a:latin typeface="Roboto Mono"/>
                <a:ea typeface="Roboto Mono"/>
                <a:cs typeface="Roboto Mono"/>
                <a:sym typeface="Roboto Mono"/>
              </a:rPr>
              <a:t>main</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FASTIO</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ll</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cin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vector</a:t>
            </a:r>
            <a:r>
              <a:rPr b="1" lang="es-419" sz="1200">
                <a:solidFill>
                  <a:srgbClr val="EE11FF"/>
                </a:solidFill>
                <a:latin typeface="Roboto Mono"/>
                <a:ea typeface="Roboto Mono"/>
                <a:cs typeface="Roboto Mono"/>
                <a:sym typeface="Roboto Mono"/>
              </a:rPr>
              <a:t>&lt;</a:t>
            </a:r>
            <a:r>
              <a:rPr lang="es-419" sz="1200">
                <a:solidFill>
                  <a:srgbClr val="1AB1CD"/>
                </a:solidFill>
                <a:latin typeface="Roboto Mono"/>
                <a:ea typeface="Roboto Mono"/>
                <a:cs typeface="Roboto Mono"/>
                <a:sym typeface="Roboto Mono"/>
              </a:rPr>
              <a:t>ll</a:t>
            </a:r>
            <a:r>
              <a:rPr b="1" lang="es-419" sz="1200">
                <a:solidFill>
                  <a:srgbClr val="EE11FF"/>
                </a:solidFill>
                <a:latin typeface="Roboto Mono"/>
                <a:ea typeface="Roboto Mono"/>
                <a:cs typeface="Roboto Mono"/>
                <a:sym typeface="Roboto Mono"/>
              </a:rPr>
              <a: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a</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for</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ll</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i</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 </a:t>
            </a:r>
            <a:r>
              <a:rPr lang="es-419" sz="1200">
                <a:solidFill>
                  <a:srgbClr val="106040"/>
                </a:solidFill>
                <a:latin typeface="Roboto Mono"/>
                <a:ea typeface="Roboto Mono"/>
                <a:cs typeface="Roboto Mono"/>
                <a:sym typeface="Roboto Mono"/>
              </a:rPr>
              <a:t>0</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i</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i</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cin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a</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i</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SegTree</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a</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ll</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comando</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lang="es-419" sz="1200">
                <a:latin typeface="Roboto Mono"/>
                <a:ea typeface="Roboto Mono"/>
                <a:cs typeface="Roboto Mono"/>
                <a:sym typeface="Roboto Mono"/>
              </a:rPr>
              <a:t>; </a:t>
            </a:r>
            <a:r>
              <a:rPr i="1" lang="es-419" sz="1200">
                <a:solidFill>
                  <a:srgbClr val="A05000"/>
                </a:solidFill>
                <a:latin typeface="Roboto Mono"/>
                <a:ea typeface="Roboto Mono"/>
                <a:cs typeface="Roboto Mono"/>
                <a:sym typeface="Roboto Mono"/>
              </a:rPr>
              <a:t>// p1= idx o l; p2= val o r</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while</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m</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cin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comando</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if</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comando</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 </a:t>
            </a:r>
            <a:r>
              <a:rPr lang="es-419" sz="1200">
                <a:solidFill>
                  <a:srgbClr val="106040"/>
                </a:solidFill>
                <a:latin typeface="Roboto Mono"/>
                <a:ea typeface="Roboto Mono"/>
                <a:cs typeface="Roboto Mono"/>
                <a:sym typeface="Roboto Mono"/>
              </a:rPr>
              <a:t>1</a:t>
            </a: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set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else</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cout</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&lt;&lt;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query</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b="1" lang="es-419" sz="1200">
                <a:solidFill>
                  <a:srgbClr val="EE11FF"/>
                </a:solidFill>
                <a:latin typeface="Roboto Mono"/>
                <a:ea typeface="Roboto Mono"/>
                <a:cs typeface="Roboto Mono"/>
                <a:sym typeface="Roboto Mono"/>
              </a:rPr>
              <a:t>-</a:t>
            </a:r>
            <a:r>
              <a:rPr lang="es-419" sz="1200">
                <a:solidFill>
                  <a:srgbClr val="106040"/>
                </a:solidFill>
                <a:latin typeface="Roboto Mono"/>
                <a:ea typeface="Roboto Mono"/>
                <a:cs typeface="Roboto Mono"/>
                <a:sym typeface="Roboto Mono"/>
              </a:rPr>
              <a:t>1</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&lt;&lt;</a:t>
            </a:r>
            <a:r>
              <a:rPr lang="es-419" sz="1200">
                <a:latin typeface="Roboto Mono"/>
                <a:ea typeface="Roboto Mono"/>
                <a:cs typeface="Roboto Mono"/>
                <a:sym typeface="Roboto Mono"/>
              </a:rPr>
              <a:t> </a:t>
            </a:r>
            <a:r>
              <a:rPr lang="es-419" sz="1200">
                <a:solidFill>
                  <a:srgbClr val="A01010"/>
                </a:solidFill>
                <a:latin typeface="Roboto Mono"/>
                <a:ea typeface="Roboto Mono"/>
                <a:cs typeface="Roboto Mono"/>
                <a:sym typeface="Roboto Mono"/>
              </a:rPr>
              <a:t>'\n'</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return</a:t>
            </a:r>
            <a:r>
              <a:rPr lang="es-419" sz="1200">
                <a:latin typeface="Roboto Mono"/>
                <a:ea typeface="Roboto Mono"/>
                <a:cs typeface="Roboto Mono"/>
                <a:sym typeface="Roboto Mono"/>
              </a:rPr>
              <a:t> </a:t>
            </a:r>
            <a:r>
              <a:rPr lang="es-419" sz="1200">
                <a:solidFill>
                  <a:srgbClr val="106040"/>
                </a:solidFill>
                <a:latin typeface="Roboto Mono"/>
                <a:ea typeface="Roboto Mono"/>
                <a:cs typeface="Roboto Mono"/>
                <a:sym typeface="Roboto Mono"/>
              </a:rPr>
              <a:t>0</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a:t>
            </a:r>
            <a:endParaRPr sz="1700">
              <a:solidFill>
                <a:srgbClr val="505050"/>
              </a:solidFill>
              <a:latin typeface="Roboto Mono"/>
              <a:ea typeface="Roboto Mono"/>
              <a:cs typeface="Roboto Mono"/>
              <a:sym typeface="Roboto Mono"/>
            </a:endParaRPr>
          </a:p>
        </p:txBody>
      </p:sp>
      <p:pic>
        <p:nvPicPr>
          <p:cNvPr id="647" name="Google Shape;647;p42" title="submit_sum_segtree.png"/>
          <p:cNvPicPr preferRelativeResize="0"/>
          <p:nvPr/>
        </p:nvPicPr>
        <p:blipFill>
          <a:blip r:embed="rId3">
            <a:alphaModFix/>
          </a:blip>
          <a:stretch>
            <a:fillRect/>
          </a:stretch>
        </p:blipFill>
        <p:spPr>
          <a:xfrm>
            <a:off x="2830925" y="727874"/>
            <a:ext cx="6093924" cy="975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Number of Minimums on a Segment</a:t>
            </a:r>
            <a:endParaRPr/>
          </a:p>
        </p:txBody>
      </p:sp>
      <p:sp>
        <p:nvSpPr>
          <p:cNvPr id="653" name="Google Shape;653;p4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54" name="Google Shape;654;p43"/>
          <p:cNvPicPr preferRelativeResize="0"/>
          <p:nvPr/>
        </p:nvPicPr>
        <p:blipFill>
          <a:blip r:embed="rId3">
            <a:alphaModFix/>
          </a:blip>
          <a:stretch>
            <a:fillRect/>
          </a:stretch>
        </p:blipFill>
        <p:spPr>
          <a:xfrm>
            <a:off x="1277950" y="1714300"/>
            <a:ext cx="6588112" cy="3374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4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Estructura M</a:t>
            </a:r>
            <a:r>
              <a:rPr lang="es-419" sz="2000"/>
              <a:t>í</a:t>
            </a:r>
            <a:r>
              <a:rPr lang="es-419" sz="2000"/>
              <a:t>nimo</a:t>
            </a:r>
            <a:endParaRPr sz="2000"/>
          </a:p>
        </p:txBody>
      </p:sp>
      <p:sp>
        <p:nvSpPr>
          <p:cNvPr id="660" name="Google Shape;660;p4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61" name="Google Shape;661;p44"/>
          <p:cNvSpPr txBox="1"/>
          <p:nvPr/>
        </p:nvSpPr>
        <p:spPr>
          <a:xfrm>
            <a:off x="359400" y="942450"/>
            <a:ext cx="8425200" cy="325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                  </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const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INF</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1000000000LL</a:t>
            </a:r>
            <a:r>
              <a:rPr lang="es-419" sz="1600">
                <a:latin typeface="Roboto Mono"/>
                <a:ea typeface="Roboto Mono"/>
                <a:cs typeface="Roboto Mono"/>
                <a:sym typeface="Roboto Mono"/>
              </a:rPr>
              <a:t>;</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b="1" sz="1800">
              <a:solidFill>
                <a:srgbClr val="70008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800">
                <a:solidFill>
                  <a:srgbClr val="700080"/>
                </a:solidFill>
                <a:latin typeface="Roboto Mono"/>
                <a:ea typeface="Roboto Mono"/>
                <a:cs typeface="Roboto Mono"/>
                <a:sym typeface="Roboto Mono"/>
              </a:rPr>
              <a:t>struct</a:t>
            </a:r>
            <a:r>
              <a:rPr lang="es-419" sz="1800">
                <a:latin typeface="Roboto Mono"/>
                <a:ea typeface="Roboto Mono"/>
                <a:cs typeface="Roboto Mono"/>
                <a:sym typeface="Roboto Mono"/>
              </a:rPr>
              <a:t> </a:t>
            </a:r>
            <a:r>
              <a:rPr lang="es-419" sz="1800">
                <a:solidFill>
                  <a:srgbClr val="0000F0"/>
                </a:solidFill>
                <a:latin typeface="Roboto Mono"/>
                <a:ea typeface="Roboto Mono"/>
                <a:cs typeface="Roboto Mono"/>
                <a:sym typeface="Roboto Mono"/>
              </a:rPr>
              <a:t>Minimo</a:t>
            </a:r>
            <a:r>
              <a:rPr lang="es-419" sz="1800">
                <a:latin typeface="Roboto Mono"/>
                <a:ea typeface="Roboto Mono"/>
                <a:cs typeface="Roboto Mono"/>
                <a:sym typeface="Roboto Mono"/>
              </a:rPr>
              <a:t> </a:t>
            </a:r>
            <a:endParaRPr sz="18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800">
                <a:latin typeface="Roboto Mono"/>
                <a:ea typeface="Roboto Mono"/>
                <a:cs typeface="Roboto Mono"/>
                <a:sym typeface="Roboto Mono"/>
              </a:rPr>
              <a:t>{</a:t>
            </a:r>
            <a:endParaRPr sz="18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ll</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minimo</a:t>
            </a:r>
            <a:r>
              <a:rPr lang="es-419" sz="1800">
                <a:latin typeface="Roboto Mono"/>
                <a:ea typeface="Roboto Mono"/>
                <a:cs typeface="Roboto Mono"/>
                <a:sym typeface="Roboto Mono"/>
              </a:rPr>
              <a:t> </a:t>
            </a:r>
            <a:r>
              <a:rPr b="1" lang="es-419" sz="1800">
                <a:solidFill>
                  <a:srgbClr val="EE11FF"/>
                </a:solidFill>
                <a:latin typeface="Roboto Mono"/>
                <a:ea typeface="Roboto Mono"/>
                <a:cs typeface="Roboto Mono"/>
                <a:sym typeface="Roboto Mono"/>
              </a:rPr>
              <a:t>=</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INF</a:t>
            </a:r>
            <a:r>
              <a:rPr lang="es-419" sz="1800">
                <a:latin typeface="Roboto Mono"/>
                <a:ea typeface="Roboto Mono"/>
                <a:cs typeface="Roboto Mono"/>
                <a:sym typeface="Roboto Mono"/>
              </a:rPr>
              <a:t>;</a:t>
            </a:r>
            <a:endParaRPr sz="18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ll</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ocurrencias</a:t>
            </a:r>
            <a:r>
              <a:rPr lang="es-419" sz="1800">
                <a:latin typeface="Roboto Mono"/>
                <a:ea typeface="Roboto Mono"/>
                <a:cs typeface="Roboto Mono"/>
                <a:sym typeface="Roboto Mono"/>
              </a:rPr>
              <a:t> </a:t>
            </a:r>
            <a:r>
              <a:rPr b="1" lang="es-419" sz="1800">
                <a:solidFill>
                  <a:srgbClr val="EE11FF"/>
                </a:solidFill>
                <a:latin typeface="Roboto Mono"/>
                <a:ea typeface="Roboto Mono"/>
                <a:cs typeface="Roboto Mono"/>
                <a:sym typeface="Roboto Mono"/>
              </a:rPr>
              <a:t>=</a:t>
            </a:r>
            <a:r>
              <a:rPr lang="es-419" sz="1800">
                <a:latin typeface="Roboto Mono"/>
                <a:ea typeface="Roboto Mono"/>
                <a:cs typeface="Roboto Mono"/>
                <a:sym typeface="Roboto Mono"/>
              </a:rPr>
              <a:t> </a:t>
            </a:r>
            <a:r>
              <a:rPr lang="es-419" sz="1800">
                <a:solidFill>
                  <a:srgbClr val="106040"/>
                </a:solidFill>
                <a:latin typeface="Roboto Mono"/>
                <a:ea typeface="Roboto Mono"/>
                <a:cs typeface="Roboto Mono"/>
                <a:sym typeface="Roboto Mono"/>
              </a:rPr>
              <a:t>0</a:t>
            </a:r>
            <a:r>
              <a:rPr lang="es-419" sz="1800">
                <a:latin typeface="Roboto Mono"/>
                <a:ea typeface="Roboto Mono"/>
                <a:cs typeface="Roboto Mono"/>
                <a:sym typeface="Roboto Mono"/>
              </a:rPr>
              <a:t>;</a:t>
            </a:r>
            <a:endParaRPr sz="18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Minimo</a:t>
            </a:r>
            <a:r>
              <a:rPr lang="es-419" sz="1800">
                <a:latin typeface="Roboto Mono"/>
                <a:ea typeface="Roboto Mono"/>
                <a:cs typeface="Roboto Mono"/>
                <a:sym typeface="Roboto Mono"/>
              </a:rPr>
              <a:t>(</a:t>
            </a:r>
            <a:r>
              <a:rPr lang="es-419" sz="1800">
                <a:solidFill>
                  <a:srgbClr val="1AB1CD"/>
                </a:solidFill>
                <a:latin typeface="Roboto Mono"/>
                <a:ea typeface="Roboto Mono"/>
                <a:cs typeface="Roboto Mono"/>
                <a:sym typeface="Roboto Mono"/>
              </a:rPr>
              <a:t>ll</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min</a:t>
            </a:r>
            <a:r>
              <a:rPr lang="es-419" sz="1800">
                <a:latin typeface="Roboto Mono"/>
                <a:ea typeface="Roboto Mono"/>
                <a:cs typeface="Roboto Mono"/>
                <a:sym typeface="Roboto Mono"/>
              </a:rPr>
              <a:t> </a:t>
            </a:r>
            <a:r>
              <a:rPr b="1" lang="es-419" sz="1800">
                <a:solidFill>
                  <a:srgbClr val="EE11FF"/>
                </a:solidFill>
                <a:latin typeface="Roboto Mono"/>
                <a:ea typeface="Roboto Mono"/>
                <a:cs typeface="Roboto Mono"/>
                <a:sym typeface="Roboto Mono"/>
              </a:rPr>
              <a:t>=</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INF</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ll</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ocu</a:t>
            </a:r>
            <a:r>
              <a:rPr lang="es-419" sz="1800">
                <a:latin typeface="Roboto Mono"/>
                <a:ea typeface="Roboto Mono"/>
                <a:cs typeface="Roboto Mono"/>
                <a:sym typeface="Roboto Mono"/>
              </a:rPr>
              <a:t> </a:t>
            </a:r>
            <a:r>
              <a:rPr b="1" lang="es-419" sz="1800">
                <a:solidFill>
                  <a:srgbClr val="EE11FF"/>
                </a:solidFill>
                <a:latin typeface="Roboto Mono"/>
                <a:ea typeface="Roboto Mono"/>
                <a:cs typeface="Roboto Mono"/>
                <a:sym typeface="Roboto Mono"/>
              </a:rPr>
              <a:t>=</a:t>
            </a:r>
            <a:r>
              <a:rPr lang="es-419" sz="1800">
                <a:latin typeface="Roboto Mono"/>
                <a:ea typeface="Roboto Mono"/>
                <a:cs typeface="Roboto Mono"/>
                <a:sym typeface="Roboto Mono"/>
              </a:rPr>
              <a:t> </a:t>
            </a:r>
            <a:r>
              <a:rPr lang="es-419" sz="1800">
                <a:solidFill>
                  <a:srgbClr val="106040"/>
                </a:solidFill>
                <a:latin typeface="Roboto Mono"/>
                <a:ea typeface="Roboto Mono"/>
                <a:cs typeface="Roboto Mono"/>
                <a:sym typeface="Roboto Mono"/>
              </a:rPr>
              <a:t>0</a:t>
            </a:r>
            <a:r>
              <a:rPr lang="es-419" sz="1800">
                <a:latin typeface="Roboto Mono"/>
                <a:ea typeface="Roboto Mono"/>
                <a:cs typeface="Roboto Mono"/>
                <a:sym typeface="Roboto Mono"/>
              </a:rPr>
              <a:t>)</a:t>
            </a:r>
            <a:endParaRPr sz="18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800">
                <a:latin typeface="Roboto Mono"/>
                <a:ea typeface="Roboto Mono"/>
                <a:cs typeface="Roboto Mono"/>
                <a:sym typeface="Roboto Mono"/>
              </a:rPr>
              <a:t>        : </a:t>
            </a:r>
            <a:r>
              <a:rPr lang="es-419" sz="1800">
                <a:solidFill>
                  <a:srgbClr val="1AB1CD"/>
                </a:solidFill>
                <a:latin typeface="Roboto Mono"/>
                <a:ea typeface="Roboto Mono"/>
                <a:cs typeface="Roboto Mono"/>
                <a:sym typeface="Roboto Mono"/>
              </a:rPr>
              <a:t>minimo</a:t>
            </a:r>
            <a:r>
              <a:rPr lang="es-419" sz="1800">
                <a:latin typeface="Roboto Mono"/>
                <a:ea typeface="Roboto Mono"/>
                <a:cs typeface="Roboto Mono"/>
                <a:sym typeface="Roboto Mono"/>
              </a:rPr>
              <a:t>(</a:t>
            </a:r>
            <a:r>
              <a:rPr lang="es-419" sz="1800">
                <a:solidFill>
                  <a:srgbClr val="1AB1CD"/>
                </a:solidFill>
                <a:latin typeface="Roboto Mono"/>
                <a:ea typeface="Roboto Mono"/>
                <a:cs typeface="Roboto Mono"/>
                <a:sym typeface="Roboto Mono"/>
              </a:rPr>
              <a:t>min</a:t>
            </a:r>
            <a:r>
              <a:rPr lang="es-419" sz="1800">
                <a:latin typeface="Roboto Mono"/>
                <a:ea typeface="Roboto Mono"/>
                <a:cs typeface="Roboto Mono"/>
                <a:sym typeface="Roboto Mono"/>
              </a:rPr>
              <a:t>), </a:t>
            </a:r>
            <a:r>
              <a:rPr lang="es-419" sz="1800">
                <a:solidFill>
                  <a:srgbClr val="1AB1CD"/>
                </a:solidFill>
                <a:latin typeface="Roboto Mono"/>
                <a:ea typeface="Roboto Mono"/>
                <a:cs typeface="Roboto Mono"/>
                <a:sym typeface="Roboto Mono"/>
              </a:rPr>
              <a:t>ocurrencias</a:t>
            </a:r>
            <a:r>
              <a:rPr lang="es-419" sz="1800">
                <a:latin typeface="Roboto Mono"/>
                <a:ea typeface="Roboto Mono"/>
                <a:cs typeface="Roboto Mono"/>
                <a:sym typeface="Roboto Mono"/>
              </a:rPr>
              <a:t>(</a:t>
            </a:r>
            <a:r>
              <a:rPr lang="es-419" sz="1800">
                <a:solidFill>
                  <a:srgbClr val="1AB1CD"/>
                </a:solidFill>
                <a:latin typeface="Roboto Mono"/>
                <a:ea typeface="Roboto Mono"/>
                <a:cs typeface="Roboto Mono"/>
                <a:sym typeface="Roboto Mono"/>
              </a:rPr>
              <a:t>ocu</a:t>
            </a:r>
            <a:r>
              <a:rPr lang="es-419" sz="1800">
                <a:latin typeface="Roboto Mono"/>
                <a:ea typeface="Roboto Mono"/>
                <a:cs typeface="Roboto Mono"/>
                <a:sym typeface="Roboto Mono"/>
              </a:rPr>
              <a:t>){}</a:t>
            </a:r>
            <a:endParaRPr sz="18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800">
                <a:latin typeface="Roboto Mono"/>
                <a:ea typeface="Roboto Mono"/>
                <a:cs typeface="Roboto Mono"/>
                <a:sym typeface="Roboto Mono"/>
              </a:rPr>
              <a:t>};</a:t>
            </a:r>
            <a:endParaRPr b="1" sz="2400">
              <a:solidFill>
                <a:srgbClr val="700080"/>
              </a:solidFill>
              <a:latin typeface="Roboto Mono"/>
              <a:ea typeface="Roboto Mono"/>
              <a:cs typeface="Roboto Mono"/>
              <a:sym typeface="Roboto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4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Cambio en operaci</a:t>
            </a:r>
            <a:r>
              <a:rPr lang="es-419" sz="2000"/>
              <a:t>ón</a:t>
            </a:r>
            <a:endParaRPr sz="2000"/>
          </a:p>
        </p:txBody>
      </p:sp>
      <p:sp>
        <p:nvSpPr>
          <p:cNvPr id="667" name="Google Shape;667;p4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68" name="Google Shape;668;p45"/>
          <p:cNvSpPr txBox="1"/>
          <p:nvPr/>
        </p:nvSpPr>
        <p:spPr>
          <a:xfrm>
            <a:off x="298950" y="619050"/>
            <a:ext cx="8425200" cy="411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                  </a:t>
            </a:r>
            <a:r>
              <a:rPr b="1" lang="es-419" sz="1600">
                <a:solidFill>
                  <a:srgbClr val="700080"/>
                </a:solidFill>
                <a:latin typeface="Roboto Mono"/>
                <a:ea typeface="Roboto Mono"/>
                <a:cs typeface="Roboto Mono"/>
                <a:sym typeface="Roboto Mono"/>
              </a:rPr>
              <a:t>const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INF</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1000000000LL</a:t>
            </a:r>
            <a:r>
              <a:rPr lang="es-419" sz="1600">
                <a:latin typeface="Roboto Mono"/>
                <a:ea typeface="Roboto Mono"/>
                <a:cs typeface="Roboto Mono"/>
                <a:sym typeface="Roboto Mono"/>
              </a:rPr>
              <a:t>;</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struct</a:t>
            </a:r>
            <a:r>
              <a:rPr lang="es-419" sz="1600">
                <a:latin typeface="Roboto Mono"/>
                <a:ea typeface="Roboto Mono"/>
                <a:cs typeface="Roboto Mono"/>
                <a:sym typeface="Roboto Mono"/>
              </a:rPr>
              <a:t> </a:t>
            </a:r>
            <a:r>
              <a:rPr lang="es-419" sz="1600">
                <a:solidFill>
                  <a:srgbClr val="0000F0"/>
                </a:solidFill>
                <a:latin typeface="Roboto Mono"/>
                <a:ea typeface="Roboto Mono"/>
                <a:cs typeface="Roboto Mono"/>
                <a:sym typeface="Roboto Mono"/>
              </a:rPr>
              <a:t>SegTree</a:t>
            </a:r>
            <a:r>
              <a:rPr lang="es-419" sz="1600"/>
              <a:t> </a:t>
            </a:r>
            <a:r>
              <a:rPr lang="es-419" sz="1600">
                <a:latin typeface="Roboto Mono"/>
                <a:ea typeface="Roboto Mono"/>
                <a:cs typeface="Roboto Mono"/>
                <a:sym typeface="Roboto Mono"/>
              </a:rPr>
              <a:t>{</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solidFill>
                  <a:srgbClr val="1AB1CD"/>
                </a:solidFill>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vector</a:t>
            </a:r>
            <a:r>
              <a:rPr b="1" lang="es-419" sz="1600">
                <a:solidFill>
                  <a:srgbClr val="EE11FF"/>
                </a:solidFill>
                <a:latin typeface="Roboto Mono"/>
                <a:ea typeface="Roboto Mono"/>
                <a:cs typeface="Roboto Mono"/>
                <a:sym typeface="Roboto Mono"/>
              </a:rPr>
              <a:t>&lt;</a:t>
            </a:r>
            <a:r>
              <a:rPr lang="es-419" sz="1600">
                <a:solidFill>
                  <a:srgbClr val="1AB1CD"/>
                </a:solidFill>
                <a:latin typeface="Roboto Mono"/>
                <a:ea typeface="Roboto Mono"/>
                <a:cs typeface="Roboto Mono"/>
                <a:sym typeface="Roboto Mono"/>
              </a:rPr>
              <a:t>Minimo</a:t>
            </a:r>
            <a:r>
              <a:rPr b="1" lang="es-419" sz="1600">
                <a:solidFill>
                  <a:srgbClr val="EE11FF"/>
                </a:solidFill>
                <a:latin typeface="Roboto Mono"/>
                <a:ea typeface="Roboto Mono"/>
                <a:cs typeface="Roboto Mono"/>
                <a:sym typeface="Roboto Mono"/>
              </a:rPr>
              <a:t>&gt;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 // PRIMER CAMBIO</a:t>
            </a:r>
            <a:endParaRPr sz="1600"/>
          </a:p>
          <a:p>
            <a:pPr indent="0" lvl="0" marL="0" rtl="0" algn="l">
              <a:lnSpc>
                <a:spcPct val="115000"/>
              </a:lnSpc>
              <a:spcBef>
                <a:spcPts val="0"/>
              </a:spcBef>
              <a:spcAft>
                <a:spcPts val="0"/>
              </a:spcAft>
              <a:buNone/>
            </a:pPr>
            <a:r>
              <a:rPr lang="es-419" sz="1600">
                <a:solidFill>
                  <a:srgbClr val="1AB1CD"/>
                </a:solidFill>
                <a:latin typeface="Roboto Mono"/>
                <a:ea typeface="Roboto Mono"/>
                <a:cs typeface="Roboto Mono"/>
                <a:sym typeface="Roboto Mono"/>
              </a:rPr>
              <a:t>    vector</a:t>
            </a:r>
            <a:r>
              <a:rPr b="1" lang="es-419" sz="1600">
                <a:solidFill>
                  <a:srgbClr val="EE11FF"/>
                </a:solidFill>
                <a:latin typeface="Roboto Mono"/>
                <a:ea typeface="Roboto Mono"/>
                <a:cs typeface="Roboto Mono"/>
                <a:sym typeface="Roboto Mono"/>
              </a:rPr>
              <a:t>&lt;</a:t>
            </a:r>
            <a:r>
              <a:rPr lang="es-419" sz="1600">
                <a:solidFill>
                  <a:srgbClr val="1AB1CD"/>
                </a:solidFill>
                <a:latin typeface="Roboto Mono"/>
                <a:ea typeface="Roboto Mono"/>
                <a:cs typeface="Roboto Mono"/>
                <a:sym typeface="Roboto Mono"/>
              </a:rPr>
              <a:t>ll</a:t>
            </a:r>
            <a:r>
              <a:rPr b="1" lang="es-419" sz="1600">
                <a:solidFill>
                  <a:srgbClr val="EE11FF"/>
                </a:solidFill>
                <a:latin typeface="Roboto Mono"/>
                <a:ea typeface="Roboto Mono"/>
                <a:cs typeface="Roboto Mono"/>
                <a:sym typeface="Roboto Mono"/>
              </a:rPr>
              <a:t>&gt;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Constructor que llama a build</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OP cambia para efectuar la operaci</a:t>
            </a:r>
            <a:r>
              <a:rPr lang="es-419" sz="1600">
                <a:latin typeface="Roboto Mono"/>
                <a:ea typeface="Roboto Mono"/>
                <a:cs typeface="Roboto Mono"/>
                <a:sym typeface="Roboto Mono"/>
              </a:rPr>
              <a:t>ón pedida</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minimo</a:t>
            </a:r>
            <a:r>
              <a:rPr b="1" lang="es-419" sz="1600">
                <a:solidFill>
                  <a:srgbClr val="EE11FF"/>
                </a:solidFill>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b</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ocurrencias</a:t>
            </a:r>
            <a:r>
              <a:rPr b="1" lang="es-419" sz="1600">
                <a:solidFill>
                  <a:srgbClr val="EE11FF"/>
                </a:solidFill>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b</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ocurrencias</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minimo</a:t>
            </a:r>
            <a:r>
              <a:rPr b="1" lang="es-419" sz="1600">
                <a:solidFill>
                  <a:srgbClr val="EE11FF"/>
                </a:solidFill>
                <a:latin typeface="Roboto Mono"/>
                <a:ea typeface="Roboto Mono"/>
                <a:cs typeface="Roboto Mono"/>
                <a:sym typeface="Roboto Mono"/>
              </a:rPr>
              <a:t>&lt;</a:t>
            </a:r>
            <a:r>
              <a:rPr lang="es-419" sz="1600">
                <a:solidFill>
                  <a:srgbClr val="1AB1CD"/>
                </a:solidFill>
                <a:latin typeface="Roboto Mono"/>
                <a:ea typeface="Roboto Mono"/>
                <a:cs typeface="Roboto Mono"/>
                <a:sym typeface="Roboto Mono"/>
              </a:rPr>
              <a:t>b</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a</a:t>
            </a:r>
            <a:r>
              <a:rPr lang="es-419" sz="1600">
                <a:latin typeface="Roboto Mono"/>
                <a:ea typeface="Roboto Mono"/>
                <a:cs typeface="Roboto Mono"/>
                <a:sym typeface="Roboto Mono"/>
              </a:rPr>
              <a:t> : </a:t>
            </a:r>
            <a:r>
              <a:rPr lang="es-419" sz="1600">
                <a:solidFill>
                  <a:srgbClr val="1AB1CD"/>
                </a:solidFill>
                <a:latin typeface="Roboto Mono"/>
                <a:ea typeface="Roboto Mono"/>
                <a:cs typeface="Roboto Mono"/>
                <a:sym typeface="Roboto Mono"/>
              </a:rPr>
              <a:t>b</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a:t>
            </a:r>
            <a:endParaRPr sz="1600">
              <a:latin typeface="Roboto Mono"/>
              <a:ea typeface="Roboto Mono"/>
              <a:cs typeface="Roboto Mono"/>
              <a:sym typeface="Roboto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4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Build</a:t>
            </a:r>
            <a:endParaRPr sz="2000"/>
          </a:p>
        </p:txBody>
      </p:sp>
      <p:sp>
        <p:nvSpPr>
          <p:cNvPr id="674" name="Google Shape;674;p4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75" name="Google Shape;675;p46"/>
          <p:cNvSpPr txBox="1"/>
          <p:nvPr/>
        </p:nvSpPr>
        <p:spPr>
          <a:xfrm>
            <a:off x="298950" y="619050"/>
            <a:ext cx="8425200" cy="439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a:t>
            </a:r>
            <a:r>
              <a:rPr lang="es-419" sz="1600">
                <a:solidFill>
                  <a:srgbClr val="505050"/>
                </a:solidFill>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const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INF</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1000000000LL</a:t>
            </a:r>
            <a:r>
              <a:rPr lang="es-419" sz="1600">
                <a:latin typeface="Roboto Mono"/>
                <a:ea typeface="Roboto Mono"/>
                <a:cs typeface="Roboto Mono"/>
                <a:sym typeface="Roboto Mono"/>
              </a:rPr>
              <a:t>;</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struct</a:t>
            </a:r>
            <a:r>
              <a:rPr lang="es-419" sz="1600">
                <a:latin typeface="Roboto Mono"/>
                <a:ea typeface="Roboto Mono"/>
                <a:cs typeface="Roboto Mono"/>
                <a:sym typeface="Roboto Mono"/>
              </a:rPr>
              <a:t> </a:t>
            </a:r>
            <a:r>
              <a:rPr lang="es-419" sz="1600">
                <a:solidFill>
                  <a:srgbClr val="0000F0"/>
                </a:solidFill>
                <a:latin typeface="Roboto Mono"/>
                <a:ea typeface="Roboto Mono"/>
                <a:cs typeface="Roboto Mono"/>
                <a:sym typeface="Roboto Mono"/>
              </a:rPr>
              <a:t>SegTree</a:t>
            </a:r>
            <a:r>
              <a:rPr lang="es-419" sz="1600"/>
              <a:t> </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008050"/>
                </a:solidFill>
                <a:latin typeface="Roboto Mono"/>
                <a:ea typeface="Roboto Mono"/>
                <a:cs typeface="Roboto Mono"/>
                <a:sym typeface="Roboto Mono"/>
              </a:rPr>
              <a:t>void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build</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 TERCER CAMBIO</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build</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build</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solidFill>
                <a:srgbClr val="00805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a:t>
            </a:r>
            <a:endParaRPr sz="1600">
              <a:latin typeface="Roboto Mono"/>
              <a:ea typeface="Roboto Mono"/>
              <a:cs typeface="Roboto Mono"/>
              <a:sym typeface="Roboto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4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Update</a:t>
            </a:r>
            <a:endParaRPr sz="2000"/>
          </a:p>
        </p:txBody>
      </p:sp>
      <p:sp>
        <p:nvSpPr>
          <p:cNvPr id="681" name="Google Shape;681;p4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82" name="Google Shape;682;p47"/>
          <p:cNvSpPr txBox="1"/>
          <p:nvPr/>
        </p:nvSpPr>
        <p:spPr>
          <a:xfrm>
            <a:off x="298950" y="619050"/>
            <a:ext cx="8425200" cy="467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a:t>
            </a:r>
            <a:r>
              <a:rPr lang="es-419" sz="1600">
                <a:solidFill>
                  <a:srgbClr val="505050"/>
                </a:solidFill>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const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INF</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1000000000LL</a:t>
            </a:r>
            <a:r>
              <a:rPr lang="es-419" sz="1600">
                <a:latin typeface="Roboto Mono"/>
                <a:ea typeface="Roboto Mono"/>
                <a:cs typeface="Roboto Mono"/>
                <a:sym typeface="Roboto Mono"/>
              </a:rPr>
              <a:t>;</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struct</a:t>
            </a:r>
            <a:r>
              <a:rPr lang="es-419" sz="1600">
                <a:latin typeface="Roboto Mono"/>
                <a:ea typeface="Roboto Mono"/>
                <a:cs typeface="Roboto Mono"/>
                <a:sym typeface="Roboto Mono"/>
              </a:rPr>
              <a:t> </a:t>
            </a:r>
            <a:r>
              <a:rPr lang="es-419" sz="1600">
                <a:solidFill>
                  <a:srgbClr val="0000F0"/>
                </a:solidFill>
                <a:latin typeface="Roboto Mono"/>
                <a:ea typeface="Roboto Mono"/>
                <a:cs typeface="Roboto Mono"/>
                <a:sym typeface="Roboto Mono"/>
              </a:rPr>
              <a:t>SegTree</a:t>
            </a:r>
            <a:r>
              <a:rPr lang="es-419" sz="1600"/>
              <a:t> </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008050"/>
                </a:solidFill>
                <a:latin typeface="Roboto Mono"/>
                <a:ea typeface="Roboto Mono"/>
                <a:cs typeface="Roboto Mono"/>
                <a:sym typeface="Roboto Mono"/>
              </a:rPr>
              <a:t>void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0</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size</a:t>
            </a:r>
            <a:r>
              <a:rPr lang="es-419" sz="1600">
                <a:latin typeface="Roboto Mono"/>
                <a:ea typeface="Roboto Mono"/>
                <a:cs typeface="Roboto Mono"/>
                <a:sym typeface="Roboto Mono"/>
              </a:rPr>
              <a:t>()</a:t>
            </a:r>
            <a:r>
              <a:rPr b="1" lang="es-419" sz="1600">
                <a:solidFill>
                  <a:srgbClr val="EE11FF"/>
                </a:solidFill>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solidFill>
                  <a:srgbClr val="008050"/>
                </a:solidFill>
                <a:latin typeface="Roboto Mono"/>
                <a:ea typeface="Roboto Mono"/>
                <a:cs typeface="Roboto Mono"/>
                <a:sym typeface="Roboto Mono"/>
              </a:rPr>
              <a:t>    void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solidFill>
                  <a:srgbClr val="1AB1CD"/>
                </a:solidFill>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latin typeface="Roboto Mono"/>
                <a:ea typeface="Roboto Mono"/>
                <a:cs typeface="Roboto Mono"/>
                <a:sym typeface="Roboto Mono"/>
              </a:rPr>
              <a:t>; // CUARTO CAMBIO</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else</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update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idx</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val</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endParaRPr sz="1600"/>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a:t>
            </a:r>
            <a:endParaRPr sz="1600">
              <a:latin typeface="Roboto Mono"/>
              <a:ea typeface="Roboto Mono"/>
              <a:cs typeface="Roboto Mono"/>
              <a:sym typeface="Roboto Mon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Query</a:t>
            </a:r>
            <a:endParaRPr sz="2000"/>
          </a:p>
        </p:txBody>
      </p:sp>
      <p:sp>
        <p:nvSpPr>
          <p:cNvPr id="688" name="Google Shape;688;p4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89" name="Google Shape;689;p48"/>
          <p:cNvSpPr txBox="1"/>
          <p:nvPr/>
        </p:nvSpPr>
        <p:spPr>
          <a:xfrm>
            <a:off x="298950" y="619050"/>
            <a:ext cx="8425200" cy="467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600">
                <a:solidFill>
                  <a:srgbClr val="505050"/>
                </a:solidFill>
                <a:latin typeface="Roboto Mono"/>
                <a:ea typeface="Roboto Mono"/>
                <a:cs typeface="Roboto Mono"/>
                <a:sym typeface="Roboto Mono"/>
              </a:rPr>
              <a:t>#define ll long long</a:t>
            </a:r>
            <a:r>
              <a:rPr lang="es-419" sz="1600">
                <a:solidFill>
                  <a:srgbClr val="505050"/>
                </a:solidFill>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const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INF</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1000000000LL</a:t>
            </a:r>
            <a:r>
              <a:rPr lang="es-419" sz="1600">
                <a:latin typeface="Roboto Mono"/>
                <a:ea typeface="Roboto Mono"/>
                <a:cs typeface="Roboto Mono"/>
                <a:sym typeface="Roboto Mono"/>
              </a:rPr>
              <a:t>;</a:t>
            </a:r>
            <a:endParaRPr sz="1600">
              <a:solidFill>
                <a:srgbClr val="50505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600">
                <a:solidFill>
                  <a:srgbClr val="700080"/>
                </a:solidFill>
                <a:latin typeface="Roboto Mono"/>
                <a:ea typeface="Roboto Mono"/>
                <a:cs typeface="Roboto Mono"/>
                <a:sym typeface="Roboto Mono"/>
              </a:rPr>
              <a:t>struct</a:t>
            </a:r>
            <a:r>
              <a:rPr lang="es-419" sz="1600">
                <a:latin typeface="Roboto Mono"/>
                <a:ea typeface="Roboto Mono"/>
                <a:cs typeface="Roboto Mono"/>
                <a:sym typeface="Roboto Mono"/>
              </a:rPr>
              <a:t> </a:t>
            </a:r>
            <a:r>
              <a:rPr lang="es-419" sz="1600">
                <a:solidFill>
                  <a:srgbClr val="0000F0"/>
                </a:solidFill>
                <a:latin typeface="Roboto Mono"/>
                <a:ea typeface="Roboto Mono"/>
                <a:cs typeface="Roboto Mono"/>
                <a:sym typeface="Roboto Mono"/>
              </a:rPr>
              <a:t>SegTree</a:t>
            </a:r>
            <a:r>
              <a:rPr lang="es-419" sz="1600"/>
              <a:t> </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 . .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query</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0</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arr</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size</a:t>
            </a:r>
            <a:r>
              <a:rPr lang="es-419" sz="1600">
                <a:latin typeface="Roboto Mono"/>
                <a:ea typeface="Roboto Mono"/>
                <a:cs typeface="Roboto Mono"/>
                <a:sym typeface="Roboto Mono"/>
              </a:rPr>
              <a:t>()</a:t>
            </a:r>
            <a:r>
              <a:rPr b="1" lang="es-419" sz="1600">
                <a:solidFill>
                  <a:srgbClr val="EE11FF"/>
                </a:solidFill>
                <a:latin typeface="Roboto Mono"/>
                <a:ea typeface="Roboto Mono"/>
                <a:cs typeface="Roboto Mono"/>
                <a:sym typeface="Roboto Mono"/>
              </a:rPr>
              <a:t>-</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 5TO CAMBIO</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if</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&amp;&amp;</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&lt;=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tree</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left</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 6TO</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Minimo</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right</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get</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node</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2</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mid</a:t>
            </a:r>
            <a:r>
              <a:rPr lang="es-419" sz="1600">
                <a:latin typeface="Roboto Mono"/>
                <a:ea typeface="Roboto Mono"/>
                <a:cs typeface="Roboto Mono"/>
                <a:sym typeface="Roboto Mono"/>
              </a:rPr>
              <a:t> </a:t>
            </a:r>
            <a:r>
              <a:rPr b="1" lang="es-419" sz="1600">
                <a:solidFill>
                  <a:srgbClr val="EE11FF"/>
                </a:solidFill>
                <a:latin typeface="Roboto Mono"/>
                <a:ea typeface="Roboto Mono"/>
                <a:cs typeface="Roboto Mono"/>
                <a:sym typeface="Roboto Mono"/>
              </a:rPr>
              <a:t>+</a:t>
            </a:r>
            <a:r>
              <a:rPr lang="es-419" sz="1600">
                <a:latin typeface="Roboto Mono"/>
                <a:ea typeface="Roboto Mono"/>
                <a:cs typeface="Roboto Mono"/>
                <a:sym typeface="Roboto Mono"/>
              </a:rPr>
              <a:t> </a:t>
            </a:r>
            <a:r>
              <a:rPr lang="es-419" sz="1600">
                <a:solidFill>
                  <a:srgbClr val="106040"/>
                </a:solidFill>
                <a:latin typeface="Roboto Mono"/>
                <a:ea typeface="Roboto Mono"/>
                <a:cs typeface="Roboto Mono"/>
                <a:sym typeface="Roboto Mono"/>
              </a:rPr>
              <a:t>1</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sr</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l</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a:t>
            </a:r>
            <a:r>
              <a:rPr lang="es-419" sz="1600">
                <a:latin typeface="Roboto Mono"/>
                <a:ea typeface="Roboto Mono"/>
                <a:cs typeface="Roboto Mono"/>
                <a:sym typeface="Roboto Mono"/>
              </a:rPr>
              <a:t>); //7MO</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r>
              <a:rPr b="1" lang="es-419" sz="1600">
                <a:solidFill>
                  <a:srgbClr val="700080"/>
                </a:solidFill>
                <a:latin typeface="Roboto Mono"/>
                <a:ea typeface="Roboto Mono"/>
                <a:cs typeface="Roboto Mono"/>
                <a:sym typeface="Roboto Mono"/>
              </a:rPr>
              <a:t>return</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op</a:t>
            </a:r>
            <a:r>
              <a:rPr lang="es-419" sz="1600">
                <a:latin typeface="Roboto Mono"/>
                <a:ea typeface="Roboto Mono"/>
                <a:cs typeface="Roboto Mono"/>
                <a:sym typeface="Roboto Mono"/>
              </a:rPr>
              <a:t>(</a:t>
            </a:r>
            <a:r>
              <a:rPr lang="es-419" sz="1600">
                <a:solidFill>
                  <a:srgbClr val="1AB1CD"/>
                </a:solidFill>
                <a:latin typeface="Roboto Mono"/>
                <a:ea typeface="Roboto Mono"/>
                <a:cs typeface="Roboto Mono"/>
                <a:sym typeface="Roboto Mono"/>
              </a:rPr>
              <a:t>left</a:t>
            </a:r>
            <a:r>
              <a:rPr lang="es-419" sz="1600">
                <a:latin typeface="Roboto Mono"/>
                <a:ea typeface="Roboto Mono"/>
                <a:cs typeface="Roboto Mono"/>
                <a:sym typeface="Roboto Mono"/>
              </a:rPr>
              <a:t>, </a:t>
            </a:r>
            <a:r>
              <a:rPr lang="es-419" sz="1600">
                <a:solidFill>
                  <a:srgbClr val="1AB1CD"/>
                </a:solidFill>
                <a:latin typeface="Roboto Mono"/>
                <a:ea typeface="Roboto Mono"/>
                <a:cs typeface="Roboto Mono"/>
                <a:sym typeface="Roboto Mono"/>
              </a:rPr>
              <a:t>right</a:t>
            </a:r>
            <a:r>
              <a:rPr lang="es-419"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    }</a:t>
            </a:r>
            <a:endParaRPr sz="1600">
              <a:solidFill>
                <a:srgbClr val="1AB1CD"/>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600">
                <a:latin typeface="Roboto Mono"/>
                <a:ea typeface="Roboto Mono"/>
                <a:cs typeface="Roboto Mono"/>
                <a:sym typeface="Roboto Mono"/>
              </a:rPr>
              <a:t>}</a:t>
            </a:r>
            <a:endParaRPr sz="1600">
              <a:latin typeface="Roboto Mono"/>
              <a:ea typeface="Roboto Mono"/>
              <a:cs typeface="Roboto Mono"/>
              <a:sym typeface="Roboto Mon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4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sz="2000"/>
              <a:t>Código C++ → Programa Principal</a:t>
            </a:r>
            <a:endParaRPr sz="2000"/>
          </a:p>
        </p:txBody>
      </p:sp>
      <p:sp>
        <p:nvSpPr>
          <p:cNvPr id="695" name="Google Shape;695;p4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96" name="Google Shape;696;p49"/>
          <p:cNvSpPr txBox="1"/>
          <p:nvPr/>
        </p:nvSpPr>
        <p:spPr>
          <a:xfrm>
            <a:off x="298950" y="684025"/>
            <a:ext cx="8425200" cy="440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200">
                <a:solidFill>
                  <a:srgbClr val="008050"/>
                </a:solidFill>
                <a:latin typeface="Roboto Mono"/>
                <a:ea typeface="Roboto Mono"/>
                <a:cs typeface="Roboto Mono"/>
                <a:sym typeface="Roboto Mono"/>
              </a:rPr>
              <a:t>int</a:t>
            </a:r>
            <a:r>
              <a:rPr lang="es-419" sz="1200">
                <a:latin typeface="Roboto Mono"/>
                <a:ea typeface="Roboto Mono"/>
                <a:cs typeface="Roboto Mono"/>
                <a:sym typeface="Roboto Mono"/>
              </a:rPr>
              <a:t> </a:t>
            </a:r>
            <a:r>
              <a:rPr lang="es-419" sz="1200">
                <a:solidFill>
                  <a:srgbClr val="0000F0"/>
                </a:solidFill>
                <a:latin typeface="Roboto Mono"/>
                <a:ea typeface="Roboto Mono"/>
                <a:cs typeface="Roboto Mono"/>
                <a:sym typeface="Roboto Mono"/>
              </a:rPr>
              <a:t>main</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FASTIO</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ll</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cin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vector</a:t>
            </a:r>
            <a:r>
              <a:rPr b="1" lang="es-419" sz="1200">
                <a:solidFill>
                  <a:srgbClr val="EE11FF"/>
                </a:solidFill>
                <a:latin typeface="Roboto Mono"/>
                <a:ea typeface="Roboto Mono"/>
                <a:cs typeface="Roboto Mono"/>
                <a:sym typeface="Roboto Mono"/>
              </a:rPr>
              <a:t>&lt;</a:t>
            </a:r>
            <a:r>
              <a:rPr lang="es-419" sz="1200">
                <a:solidFill>
                  <a:srgbClr val="1AB1CD"/>
                </a:solidFill>
                <a:latin typeface="Roboto Mono"/>
                <a:ea typeface="Roboto Mono"/>
                <a:cs typeface="Roboto Mono"/>
                <a:sym typeface="Roboto Mono"/>
              </a:rPr>
              <a:t>ll</a:t>
            </a:r>
            <a:r>
              <a:rPr b="1" lang="es-419" sz="1200">
                <a:solidFill>
                  <a:srgbClr val="EE11FF"/>
                </a:solidFill>
                <a:latin typeface="Roboto Mono"/>
                <a:ea typeface="Roboto Mono"/>
                <a:cs typeface="Roboto Mono"/>
                <a:sym typeface="Roboto Mono"/>
              </a:rPr>
              <a: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a</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for</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ll</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i</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 </a:t>
            </a:r>
            <a:r>
              <a:rPr lang="es-419" sz="1200">
                <a:solidFill>
                  <a:srgbClr val="106040"/>
                </a:solidFill>
                <a:latin typeface="Roboto Mono"/>
                <a:ea typeface="Roboto Mono"/>
                <a:cs typeface="Roboto Mono"/>
                <a:sym typeface="Roboto Mono"/>
              </a:rPr>
              <a:t>0</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i</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n</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i</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cin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a</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i</a:t>
            </a: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SegTree</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a</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ll</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comando</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lang="es-419" sz="1200">
                <a:latin typeface="Roboto Mono"/>
                <a:ea typeface="Roboto Mono"/>
                <a:cs typeface="Roboto Mono"/>
                <a:sym typeface="Roboto Mono"/>
              </a:rPr>
              <a:t>; </a:t>
            </a:r>
            <a:r>
              <a:rPr i="1" lang="es-419" sz="1200">
                <a:solidFill>
                  <a:srgbClr val="A05000"/>
                </a:solidFill>
                <a:latin typeface="Roboto Mono"/>
                <a:ea typeface="Roboto Mono"/>
                <a:cs typeface="Roboto Mono"/>
                <a:sym typeface="Roboto Mono"/>
              </a:rPr>
              <a:t>// p1= idx o l; p2= val o r</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while</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m</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cin</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comando</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&gt;&gt;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if</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comando</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 </a:t>
            </a:r>
            <a:r>
              <a:rPr lang="es-419" sz="1200">
                <a:solidFill>
                  <a:srgbClr val="106040"/>
                </a:solidFill>
                <a:latin typeface="Roboto Mono"/>
                <a:ea typeface="Roboto Mono"/>
                <a:cs typeface="Roboto Mono"/>
                <a:sym typeface="Roboto Mono"/>
              </a:rPr>
              <a:t>1</a:t>
            </a: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set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else</a:t>
            </a:r>
            <a:r>
              <a:rPr lang="es-419"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latin typeface="Roboto Mono"/>
                <a:ea typeface="Roboto Mono"/>
                <a:cs typeface="Roboto Mono"/>
                <a:sym typeface="Roboto Mono"/>
              </a:rPr>
              <a:t>            // 8VO CAMBIO</a:t>
            </a:r>
            <a:endParaRPr sz="12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Minimo</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st</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query</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p1</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p2</a:t>
            </a:r>
            <a:r>
              <a:rPr b="1" lang="es-419" sz="1200">
                <a:solidFill>
                  <a:srgbClr val="EE11FF"/>
                </a:solidFill>
                <a:latin typeface="Roboto Mono"/>
                <a:ea typeface="Roboto Mono"/>
                <a:cs typeface="Roboto Mono"/>
                <a:sym typeface="Roboto Mono"/>
              </a:rPr>
              <a:t>-</a:t>
            </a:r>
            <a:r>
              <a:rPr lang="es-419" sz="1200">
                <a:solidFill>
                  <a:srgbClr val="106040"/>
                </a:solidFill>
                <a:latin typeface="Roboto Mono"/>
                <a:ea typeface="Roboto Mono"/>
                <a:cs typeface="Roboto Mono"/>
                <a:sym typeface="Roboto Mono"/>
              </a:rPr>
              <a:t>1</a:t>
            </a:r>
            <a:r>
              <a:rPr lang="es-419"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cout</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&lt;&lt;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minimo</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&lt;&lt;</a:t>
            </a:r>
            <a:r>
              <a:rPr lang="es-419" sz="1200">
                <a:latin typeface="Roboto Mono"/>
                <a:ea typeface="Roboto Mono"/>
                <a:cs typeface="Roboto Mono"/>
                <a:sym typeface="Roboto Mono"/>
              </a:rPr>
              <a:t> </a:t>
            </a:r>
            <a:r>
              <a:rPr lang="es-419" sz="1200">
                <a:solidFill>
                  <a:srgbClr val="A01010"/>
                </a:solidFill>
                <a:latin typeface="Roboto Mono"/>
                <a:ea typeface="Roboto Mono"/>
                <a:cs typeface="Roboto Mono"/>
                <a:sym typeface="Roboto Mono"/>
              </a:rPr>
              <a:t>' '</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&lt;&lt;</a:t>
            </a:r>
            <a:r>
              <a:rPr lang="es-419" sz="1200">
                <a:latin typeface="Roboto Mono"/>
                <a:ea typeface="Roboto Mono"/>
                <a:cs typeface="Roboto Mono"/>
                <a:sym typeface="Roboto Mono"/>
              </a:rPr>
              <a:t> </a:t>
            </a:r>
            <a:r>
              <a:rPr lang="es-419" sz="1200">
                <a:solidFill>
                  <a:srgbClr val="1AB1CD"/>
                </a:solidFill>
                <a:latin typeface="Roboto Mono"/>
                <a:ea typeface="Roboto Mono"/>
                <a:cs typeface="Roboto Mono"/>
                <a:sym typeface="Roboto Mono"/>
              </a:rPr>
              <a:t>m</a:t>
            </a:r>
            <a:r>
              <a:rPr lang="es-419" sz="1200">
                <a:latin typeface="Roboto Mono"/>
                <a:ea typeface="Roboto Mono"/>
                <a:cs typeface="Roboto Mono"/>
                <a:sym typeface="Roboto Mono"/>
              </a:rPr>
              <a:t>.</a:t>
            </a:r>
            <a:r>
              <a:rPr lang="es-419" sz="1200">
                <a:solidFill>
                  <a:srgbClr val="1AB1CD"/>
                </a:solidFill>
                <a:latin typeface="Roboto Mono"/>
                <a:ea typeface="Roboto Mono"/>
                <a:cs typeface="Roboto Mono"/>
                <a:sym typeface="Roboto Mono"/>
              </a:rPr>
              <a:t>ocurrencias</a:t>
            </a:r>
            <a:r>
              <a:rPr lang="es-419" sz="1200">
                <a:latin typeface="Roboto Mono"/>
                <a:ea typeface="Roboto Mono"/>
                <a:cs typeface="Roboto Mono"/>
                <a:sym typeface="Roboto Mono"/>
              </a:rPr>
              <a:t> </a:t>
            </a:r>
            <a:r>
              <a:rPr b="1" lang="es-419" sz="1200">
                <a:solidFill>
                  <a:srgbClr val="EE11FF"/>
                </a:solidFill>
                <a:latin typeface="Roboto Mono"/>
                <a:ea typeface="Roboto Mono"/>
                <a:cs typeface="Roboto Mono"/>
                <a:sym typeface="Roboto Mono"/>
              </a:rPr>
              <a:t>&lt;&lt;</a:t>
            </a:r>
            <a:r>
              <a:rPr lang="es-419" sz="1200">
                <a:latin typeface="Roboto Mono"/>
                <a:ea typeface="Roboto Mono"/>
                <a:cs typeface="Roboto Mono"/>
                <a:sym typeface="Roboto Mono"/>
              </a:rPr>
              <a:t> </a:t>
            </a:r>
            <a:r>
              <a:rPr lang="es-419" sz="1200">
                <a:solidFill>
                  <a:srgbClr val="A01010"/>
                </a:solidFill>
                <a:latin typeface="Roboto Mono"/>
                <a:ea typeface="Roboto Mono"/>
                <a:cs typeface="Roboto Mono"/>
                <a:sym typeface="Roboto Mono"/>
              </a:rPr>
              <a:t>'\n'</a:t>
            </a:r>
            <a:r>
              <a:rPr lang="es-419" sz="1200">
                <a:latin typeface="Roboto Mono"/>
                <a:ea typeface="Roboto Mono"/>
                <a:cs typeface="Roboto Mono"/>
                <a:sym typeface="Roboto Mono"/>
              </a:rPr>
              <a:t>;</a:t>
            </a:r>
            <a:endParaRPr sz="1200">
              <a:solidFill>
                <a:srgbClr val="1AB1CD"/>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    </a:t>
            </a:r>
            <a:r>
              <a:rPr b="1" lang="es-419" sz="1200">
                <a:solidFill>
                  <a:srgbClr val="700080"/>
                </a:solidFill>
                <a:latin typeface="Roboto Mono"/>
                <a:ea typeface="Roboto Mono"/>
                <a:cs typeface="Roboto Mono"/>
                <a:sym typeface="Roboto Mono"/>
              </a:rPr>
              <a:t>return</a:t>
            </a:r>
            <a:r>
              <a:rPr lang="es-419" sz="1200">
                <a:latin typeface="Roboto Mono"/>
                <a:ea typeface="Roboto Mono"/>
                <a:cs typeface="Roboto Mono"/>
                <a:sym typeface="Roboto Mono"/>
              </a:rPr>
              <a:t> </a:t>
            </a:r>
            <a:r>
              <a:rPr lang="es-419" sz="1200">
                <a:solidFill>
                  <a:srgbClr val="106040"/>
                </a:solidFill>
                <a:latin typeface="Roboto Mono"/>
                <a:ea typeface="Roboto Mono"/>
                <a:cs typeface="Roboto Mono"/>
                <a:sym typeface="Roboto Mono"/>
              </a:rPr>
              <a:t>0</a:t>
            </a:r>
            <a:r>
              <a:rPr lang="es-419" sz="1200">
                <a:latin typeface="Roboto Mono"/>
                <a:ea typeface="Roboto Mono"/>
                <a:cs typeface="Roboto Mono"/>
                <a:sym typeface="Roboto Mono"/>
              </a:rPr>
              <a:t>;</a:t>
            </a:r>
            <a:endParaRPr sz="1200"/>
          </a:p>
          <a:p>
            <a:pPr indent="0" lvl="0" marL="0" rtl="0" algn="l">
              <a:lnSpc>
                <a:spcPct val="115000"/>
              </a:lnSpc>
              <a:spcBef>
                <a:spcPts val="0"/>
              </a:spcBef>
              <a:spcAft>
                <a:spcPts val="0"/>
              </a:spcAft>
              <a:buNone/>
            </a:pPr>
            <a:r>
              <a:rPr lang="es-419" sz="1200">
                <a:latin typeface="Roboto Mono"/>
                <a:ea typeface="Roboto Mono"/>
                <a:cs typeface="Roboto Mono"/>
                <a:sym typeface="Roboto Mono"/>
              </a:rPr>
              <a:t>}</a:t>
            </a:r>
            <a:endParaRPr sz="1700">
              <a:solidFill>
                <a:srgbClr val="505050"/>
              </a:solidFill>
              <a:latin typeface="Roboto Mono"/>
              <a:ea typeface="Roboto Mono"/>
              <a:cs typeface="Roboto Mono"/>
              <a:sym typeface="Roboto Mono"/>
            </a:endParaRPr>
          </a:p>
        </p:txBody>
      </p:sp>
      <p:pic>
        <p:nvPicPr>
          <p:cNvPr id="697" name="Google Shape;697;p49" title="submit_cant_min_segtree.png"/>
          <p:cNvPicPr preferRelativeResize="0"/>
          <p:nvPr/>
        </p:nvPicPr>
        <p:blipFill>
          <a:blip r:embed="rId3">
            <a:alphaModFix/>
          </a:blip>
          <a:stretch>
            <a:fillRect/>
          </a:stretch>
        </p:blipFill>
        <p:spPr>
          <a:xfrm>
            <a:off x="3226925" y="684025"/>
            <a:ext cx="5845323" cy="9828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0"/>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sz="2600"/>
              <a:t>Extensi</a:t>
            </a:r>
            <a:r>
              <a:rPr lang="es-419" sz="2600"/>
              <a:t>ón y Mejoras</a:t>
            </a:r>
            <a:endParaRPr sz="2600"/>
          </a:p>
        </p:txBody>
      </p:sp>
      <p:sp>
        <p:nvSpPr>
          <p:cNvPr id="703" name="Google Shape;703;p5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04" name="Google Shape;704;p50"/>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400"/>
              <a:t>Como todas las estructuras, existen mejoras que permiten expandir el horizonte de problemas.</a:t>
            </a:r>
            <a:endParaRPr sz="1400"/>
          </a:p>
        </p:txBody>
      </p:sp>
      <p:sp>
        <p:nvSpPr>
          <p:cNvPr id="705" name="Google Shape;705;p50"/>
          <p:cNvSpPr txBox="1"/>
          <p:nvPr/>
        </p:nvSpPr>
        <p:spPr>
          <a:xfrm>
            <a:off x="3841075" y="839400"/>
            <a:ext cx="4928100" cy="3464700"/>
          </a:xfrm>
          <a:prstGeom prst="rect">
            <a:avLst/>
          </a:prstGeom>
          <a:noFill/>
          <a:ln>
            <a:noFill/>
          </a:ln>
        </p:spPr>
        <p:txBody>
          <a:bodyPr anchorCtr="0" anchor="t" bIns="91425" lIns="91425" spcFirstLastPara="1" rIns="91425" wrap="square" tIns="91425">
            <a:spAutoFit/>
          </a:bodyPr>
          <a:lstStyle/>
          <a:p>
            <a:pPr indent="-342900" lvl="0" marL="457200" rtl="0" algn="l">
              <a:lnSpc>
                <a:spcPct val="200000"/>
              </a:lnSpc>
              <a:spcBef>
                <a:spcPts val="0"/>
              </a:spcBef>
              <a:spcAft>
                <a:spcPts val="0"/>
              </a:spcAft>
              <a:buClr>
                <a:schemeClr val="lt2"/>
              </a:buClr>
              <a:buSzPts val="1800"/>
              <a:buFont typeface="Roboto"/>
              <a:buChar char="➔"/>
            </a:pPr>
            <a:r>
              <a:rPr lang="es-419" sz="1800">
                <a:solidFill>
                  <a:schemeClr val="lt2"/>
                </a:solidFill>
                <a:latin typeface="Roboto"/>
                <a:ea typeface="Roboto"/>
                <a:cs typeface="Roboto"/>
                <a:sym typeface="Roboto"/>
              </a:rPr>
              <a:t>Actualización</a:t>
            </a:r>
            <a:r>
              <a:rPr lang="es-419" sz="1800">
                <a:solidFill>
                  <a:schemeClr val="lt2"/>
                </a:solidFill>
                <a:latin typeface="Roboto"/>
                <a:ea typeface="Roboto"/>
                <a:cs typeface="Roboto"/>
                <a:sym typeface="Roboto"/>
              </a:rPr>
              <a:t> eficiente en rango</a:t>
            </a:r>
            <a:endParaRPr sz="1800">
              <a:solidFill>
                <a:schemeClr val="lt2"/>
              </a:solidFill>
              <a:latin typeface="Roboto"/>
              <a:ea typeface="Roboto"/>
              <a:cs typeface="Roboto"/>
              <a:sym typeface="Roboto"/>
            </a:endParaRPr>
          </a:p>
          <a:p>
            <a:pPr indent="0" lvl="0" marL="457200" rtl="0" algn="l">
              <a:lnSpc>
                <a:spcPct val="200000"/>
              </a:lnSpc>
              <a:spcBef>
                <a:spcPts val="1000"/>
              </a:spcBef>
              <a:spcAft>
                <a:spcPts val="0"/>
              </a:spcAft>
              <a:buNone/>
            </a:pPr>
            <a:r>
              <a:rPr i="1" lang="es-419" sz="1800">
                <a:solidFill>
                  <a:schemeClr val="lt2"/>
                </a:solidFill>
                <a:latin typeface="Roboto"/>
                <a:ea typeface="Roboto"/>
                <a:cs typeface="Roboto"/>
                <a:sym typeface="Roboto"/>
              </a:rPr>
              <a:t>De N log(N) → log(N)</a:t>
            </a:r>
            <a:endParaRPr i="1" sz="1800">
              <a:solidFill>
                <a:schemeClr val="lt2"/>
              </a:solidFill>
              <a:latin typeface="Roboto"/>
              <a:ea typeface="Roboto"/>
              <a:cs typeface="Roboto"/>
              <a:sym typeface="Roboto"/>
            </a:endParaRPr>
          </a:p>
          <a:p>
            <a:pPr indent="-342900" lvl="0" marL="457200" rtl="0" algn="l">
              <a:lnSpc>
                <a:spcPct val="200000"/>
              </a:lnSpc>
              <a:spcBef>
                <a:spcPts val="1000"/>
              </a:spcBef>
              <a:spcAft>
                <a:spcPts val="0"/>
              </a:spcAft>
              <a:buClr>
                <a:schemeClr val="lt2"/>
              </a:buClr>
              <a:buSzPts val="1800"/>
              <a:buFont typeface="Roboto"/>
              <a:buChar char="➔"/>
            </a:pPr>
            <a:r>
              <a:rPr lang="es-419" sz="1800">
                <a:solidFill>
                  <a:schemeClr val="lt2"/>
                </a:solidFill>
                <a:latin typeface="Roboto"/>
                <a:ea typeface="Roboto"/>
                <a:cs typeface="Roboto"/>
                <a:sym typeface="Roboto"/>
              </a:rPr>
              <a:t>Actualización diferida (Lazy Propagation)</a:t>
            </a:r>
            <a:endParaRPr sz="1800">
              <a:solidFill>
                <a:schemeClr val="lt2"/>
              </a:solidFill>
              <a:latin typeface="Roboto"/>
              <a:ea typeface="Roboto"/>
              <a:cs typeface="Roboto"/>
              <a:sym typeface="Roboto"/>
            </a:endParaRPr>
          </a:p>
          <a:p>
            <a:pPr indent="0" lvl="0" marL="457200" rtl="0" algn="l">
              <a:lnSpc>
                <a:spcPct val="115000"/>
              </a:lnSpc>
              <a:spcBef>
                <a:spcPts val="1000"/>
              </a:spcBef>
              <a:spcAft>
                <a:spcPts val="1000"/>
              </a:spcAft>
              <a:buNone/>
            </a:pPr>
            <a:r>
              <a:rPr i="1" lang="es-419" sz="1800">
                <a:solidFill>
                  <a:schemeClr val="lt2"/>
                </a:solidFill>
                <a:latin typeface="Roboto"/>
                <a:ea typeface="Roboto"/>
                <a:cs typeface="Roboto"/>
                <a:sym typeface="Roboto"/>
              </a:rPr>
              <a:t>Se registra la </a:t>
            </a:r>
            <a:r>
              <a:rPr b="1" i="1" lang="es-419" sz="1800">
                <a:solidFill>
                  <a:schemeClr val="lt2"/>
                </a:solidFill>
                <a:latin typeface="Roboto"/>
                <a:ea typeface="Roboto"/>
                <a:cs typeface="Roboto"/>
                <a:sym typeface="Roboto"/>
              </a:rPr>
              <a:t>actualización pendiente</a:t>
            </a:r>
            <a:r>
              <a:rPr i="1" lang="es-419" sz="1800">
                <a:solidFill>
                  <a:schemeClr val="lt2"/>
                </a:solidFill>
                <a:latin typeface="Roboto"/>
                <a:ea typeface="Roboto"/>
                <a:cs typeface="Roboto"/>
                <a:sym typeface="Roboto"/>
              </a:rPr>
              <a:t> y solo se </a:t>
            </a:r>
            <a:r>
              <a:rPr i="1" lang="es-419" sz="1800">
                <a:solidFill>
                  <a:schemeClr val="lt2"/>
                </a:solidFill>
                <a:latin typeface="Roboto"/>
                <a:ea typeface="Roboto"/>
                <a:cs typeface="Roboto"/>
                <a:sym typeface="Roboto"/>
              </a:rPr>
              <a:t>efectúa</a:t>
            </a:r>
            <a:r>
              <a:rPr i="1" lang="es-419" sz="1800">
                <a:solidFill>
                  <a:schemeClr val="lt2"/>
                </a:solidFill>
                <a:latin typeface="Roboto"/>
                <a:ea typeface="Roboto"/>
                <a:cs typeface="Roboto"/>
                <a:sym typeface="Roboto"/>
              </a:rPr>
              <a:t> si se consulta o actualiza </a:t>
            </a:r>
            <a:r>
              <a:rPr i="1" lang="es-419" sz="1800">
                <a:solidFill>
                  <a:schemeClr val="lt2"/>
                </a:solidFill>
                <a:latin typeface="Roboto"/>
                <a:ea typeface="Roboto"/>
                <a:cs typeface="Roboto"/>
                <a:sym typeface="Roboto"/>
              </a:rPr>
              <a:t>nuevamente</a:t>
            </a:r>
            <a:r>
              <a:rPr i="1" lang="es-419" sz="1800">
                <a:solidFill>
                  <a:schemeClr val="lt2"/>
                </a:solidFill>
                <a:latin typeface="Roboto"/>
                <a:ea typeface="Roboto"/>
                <a:cs typeface="Roboto"/>
                <a:sym typeface="Roboto"/>
              </a:rPr>
              <a:t> el rango. </a:t>
            </a:r>
            <a:r>
              <a:rPr b="1" i="1" lang="es-419" sz="1800">
                <a:solidFill>
                  <a:schemeClr val="lt2"/>
                </a:solidFill>
                <a:latin typeface="Roboto"/>
                <a:ea typeface="Roboto"/>
                <a:cs typeface="Roboto"/>
                <a:sym typeface="Roboto"/>
              </a:rPr>
              <a:t>Ahorra recursos en actualizaciones que </a:t>
            </a:r>
            <a:r>
              <a:rPr b="1" i="1" lang="es-419" sz="1800">
                <a:solidFill>
                  <a:schemeClr val="lt2"/>
                </a:solidFill>
                <a:latin typeface="Roboto"/>
                <a:ea typeface="Roboto"/>
                <a:cs typeface="Roboto"/>
                <a:sym typeface="Roboto"/>
              </a:rPr>
              <a:t>quizás</a:t>
            </a:r>
            <a:r>
              <a:rPr b="1" i="1" lang="es-419" sz="1800">
                <a:solidFill>
                  <a:schemeClr val="lt2"/>
                </a:solidFill>
                <a:latin typeface="Roboto"/>
                <a:ea typeface="Roboto"/>
                <a:cs typeface="Roboto"/>
                <a:sym typeface="Roboto"/>
              </a:rPr>
              <a:t> nunca se usen.</a:t>
            </a:r>
            <a:endParaRPr b="1" i="1" sz="1800">
              <a:solidFill>
                <a:schemeClr val="lt2"/>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1"/>
          <p:cNvSpPr txBox="1"/>
          <p:nvPr>
            <p:ph type="title"/>
          </p:nvPr>
        </p:nvSpPr>
        <p:spPr>
          <a:xfrm>
            <a:off x="471900" y="414125"/>
            <a:ext cx="8222100" cy="109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419" sz="3080"/>
              <a:t>Aplicaciones m</a:t>
            </a:r>
            <a:r>
              <a:rPr lang="es-419" sz="3080"/>
              <a:t>ás allá de la Programación Competitiva</a:t>
            </a:r>
            <a:endParaRPr sz="3080"/>
          </a:p>
        </p:txBody>
      </p:sp>
      <p:sp>
        <p:nvSpPr>
          <p:cNvPr id="711" name="Google Shape;711;p51"/>
          <p:cNvSpPr txBox="1"/>
          <p:nvPr>
            <p:ph idx="1" type="body"/>
          </p:nvPr>
        </p:nvSpPr>
        <p:spPr>
          <a:xfrm>
            <a:off x="925800" y="2205250"/>
            <a:ext cx="7292400" cy="1822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s-419" sz="1600"/>
              <a:t>Renderizado de gr</a:t>
            </a:r>
            <a:r>
              <a:rPr b="1" lang="es-419" sz="1600"/>
              <a:t>áficos</a:t>
            </a:r>
            <a:r>
              <a:rPr lang="es-419" sz="1600"/>
              <a:t> → algoritmos de trazado de rayos.</a:t>
            </a:r>
            <a:endParaRPr sz="1600"/>
          </a:p>
          <a:p>
            <a:pPr indent="-330200" lvl="0" marL="457200" rtl="0" algn="l">
              <a:spcBef>
                <a:spcPts val="1000"/>
              </a:spcBef>
              <a:spcAft>
                <a:spcPts val="0"/>
              </a:spcAft>
              <a:buSzPts val="1600"/>
              <a:buChar char="➔"/>
            </a:pPr>
            <a:r>
              <a:rPr b="1" lang="es-419" sz="1600"/>
              <a:t>Occlusion culling</a:t>
            </a:r>
            <a:r>
              <a:rPr lang="es-419" sz="1600"/>
              <a:t> → algoritmos para evitar renderizar objetos que no son visibles.</a:t>
            </a:r>
            <a:endParaRPr sz="1600"/>
          </a:p>
          <a:p>
            <a:pPr indent="-330200" lvl="0" marL="457200" rtl="0" algn="l">
              <a:spcBef>
                <a:spcPts val="1000"/>
              </a:spcBef>
              <a:spcAft>
                <a:spcPts val="1000"/>
              </a:spcAft>
              <a:buSzPts val="1600"/>
              <a:buChar char="➔"/>
            </a:pPr>
            <a:r>
              <a:rPr b="1" lang="es-419" sz="1600"/>
              <a:t>Geometría</a:t>
            </a:r>
            <a:r>
              <a:rPr b="1" lang="es-419" sz="1600"/>
              <a:t> computacional y GIS</a:t>
            </a:r>
            <a:r>
              <a:rPr lang="es-419" sz="1600"/>
              <a:t> → problema de la ventana para un conjunto de </a:t>
            </a:r>
            <a:r>
              <a:rPr lang="es-419" sz="1600"/>
              <a:t>líneas</a:t>
            </a:r>
            <a:endParaRPr sz="1600"/>
          </a:p>
        </p:txBody>
      </p:sp>
      <p:sp>
        <p:nvSpPr>
          <p:cNvPr id="712" name="Google Shape;712;p5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Conclusi</a:t>
            </a:r>
            <a:r>
              <a:rPr lang="es-419"/>
              <a:t>ón</a:t>
            </a:r>
            <a:endParaRPr/>
          </a:p>
        </p:txBody>
      </p:sp>
      <p:sp>
        <p:nvSpPr>
          <p:cNvPr id="718" name="Google Shape;718;p52"/>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s-419"/>
              <a:t>Fundamentos </a:t>
            </a:r>
            <a:r>
              <a:rPr lang="es-419"/>
              <a:t>matemáticos sólidos</a:t>
            </a:r>
            <a:endParaRPr/>
          </a:p>
          <a:p>
            <a:pPr indent="-342900" lvl="0" marL="457200" rtl="0" algn="l">
              <a:spcBef>
                <a:spcPts val="1000"/>
              </a:spcBef>
              <a:spcAft>
                <a:spcPts val="0"/>
              </a:spcAft>
              <a:buSzPts val="1800"/>
              <a:buChar char="●"/>
            </a:pPr>
            <a:r>
              <a:rPr lang="es-419"/>
              <a:t>Código base altamente reutilizable</a:t>
            </a:r>
            <a:endParaRPr/>
          </a:p>
          <a:p>
            <a:pPr indent="-342900" lvl="0" marL="457200" rtl="0" algn="l">
              <a:spcBef>
                <a:spcPts val="1000"/>
              </a:spcBef>
              <a:spcAft>
                <a:spcPts val="1000"/>
              </a:spcAft>
              <a:buSzPts val="1800"/>
              <a:buChar char="●"/>
            </a:pPr>
            <a:r>
              <a:rPr lang="es-419"/>
              <a:t>Versatilidad en operaciones soportadas</a:t>
            </a:r>
            <a:endParaRPr/>
          </a:p>
        </p:txBody>
      </p:sp>
      <p:sp>
        <p:nvSpPr>
          <p:cNvPr id="719" name="Google Shape;719;p5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solidFill>
                  <a:schemeClr val="lt1"/>
                </a:solidFill>
              </a:rPr>
              <a:t>‹#›</a:t>
            </a:fld>
            <a:endParaRPr>
              <a:solidFill>
                <a:schemeClr val="lt1"/>
              </a:solidFill>
            </a:endParaRPr>
          </a:p>
        </p:txBody>
      </p:sp>
      <p:sp>
        <p:nvSpPr>
          <p:cNvPr id="720" name="Google Shape;720;p52"/>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s-419"/>
              <a:t>S</a:t>
            </a:r>
            <a:r>
              <a:rPr lang="es-419"/>
              <a:t>i bien es la “navaja suiza de los problemas de rango dinámico”, hay que saber elegir cuándo y dónde utilizarlo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53"/>
          <p:cNvSpPr txBox="1"/>
          <p:nvPr>
            <p:ph type="title"/>
          </p:nvPr>
        </p:nvSpPr>
        <p:spPr>
          <a:xfrm>
            <a:off x="1458450" y="526350"/>
            <a:ext cx="62271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Muchas Gracias</a:t>
            </a:r>
            <a:endParaRPr/>
          </a:p>
          <a:p>
            <a:pPr indent="0" lvl="0" marL="0" rtl="0" algn="ctr">
              <a:spcBef>
                <a:spcPts val="0"/>
              </a:spcBef>
              <a:spcAft>
                <a:spcPts val="0"/>
              </a:spcAft>
              <a:buNone/>
            </a:pPr>
            <a:r>
              <a:rPr lang="es-419"/>
              <a:t>¿Preguntas?</a:t>
            </a:r>
            <a:endParaRPr/>
          </a:p>
        </p:txBody>
      </p:sp>
      <p:sp>
        <p:nvSpPr>
          <p:cNvPr id="726" name="Google Shape;726;p5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